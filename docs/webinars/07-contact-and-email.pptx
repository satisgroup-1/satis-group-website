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is about every route a message can take from the website to the team: the two forms (which now deliver by email), the email links all over the site, the enquiries inbox they all land in, the daily habits, and the newsletter signups that are rolling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channels, one inbox: form submissions arrive by email, and every email link is pre-addressed to the same place. The session's goal is that everyone knows which inbox to watch and how to reply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topics matter for routing once forms are wired: they are the future sorting labels. Today, the email address shown beside the form is the reliable path —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form landed in the same release wave as this training, and like the contact form it delivers by email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takeaway: form submissions and email-link messages land in the same inbox, and both are answered the same way — hit Reply. The failure mode is honest by design: no key or a provider outage means the visitor is told to email info@satisgroup.co.uk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Enquiry mail is delivered into the noreply.ai@satisgroup.co.uk mailbox — make sure everyone knows that is the inbox to watch. Form submissions land in the same place, so there is exactly one inbox to run. (If the team ever wants the visible on-page address changed, it is a one-sentence Claude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 rows are the clever ones: an investor asking about one task in one monthly report sends an email whose subject already names it — no 'which report do you mean?' round-trip. Treat subjects as routing signals in the inbox.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 names/rotas to how the team actually assigns ownership. The monthly self-test catches silent failures — a changed mailbox password, a forwarding rule gone stale — before an investor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Live-check this during the webinar: open /admin/newsletter on screen. If the subscriber section is there, demonstrate it and ignore step 3; if not, step 3 is the operative guidance. Update this slide when the rollout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Submissions are throttled per connection to blunt scripted spam, field lengths are capped, and everything travels as plain text. If forms start reporting failures, the first check is the Resend key in Vercel — same pattern as the repository token in webinar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takeaways, answer questions, and point everyone at the written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tmp/claude-0/-home-user-satis-group-website/ff8ab6f4-f9c2-556a-89f3-8bea05ba205c/build/assets/cover-email.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Shape 1"/>
          <p:cNvSpPr/>
          <p:nvPr/>
        </p:nvSpPr>
        <p:spPr>
          <a:xfrm>
            <a:off x="566928" y="566928"/>
            <a:ext cx="11057839" cy="0"/>
          </a:xfrm>
          <a:prstGeom prst="line">
            <a:avLst/>
          </a:prstGeom>
          <a:noFill/>
          <a:ln w="9525">
            <a:solidFill>
              <a:srgbClr val="FFFFFF"/>
            </a:solidFill>
            <a:prstDash val="solid"/>
          </a:ln>
        </p:spPr>
      </p:sp>
      <p:sp>
        <p:nvSpPr>
          <p:cNvPr id="5" name="Text 2"/>
          <p:cNvSpPr/>
          <p:nvPr/>
        </p:nvSpPr>
        <p:spPr>
          <a:xfrm>
            <a:off x="566928" y="713232"/>
            <a:ext cx="11057839" cy="274320"/>
          </a:xfrm>
          <a:prstGeom prst="rect">
            <a:avLst/>
          </a:prstGeom>
          <a:noFill/>
          <a:ln/>
        </p:spPr>
        <p:txBody>
          <a:bodyPr wrap="square" lIns="0" tIns="0" rIns="0" bIns="0" rtlCol="0" anchor="ctr"/>
          <a:lstStyle/>
          <a:p>
            <a:pPr indent="0" marL="0">
              <a:buNone/>
            </a:pPr>
            <a:r>
              <a:rPr lang="en-US" sz="950" spc="300" kern="0" dirty="0">
                <a:solidFill>
                  <a:srgbClr val="FFFFFF"/>
                </a:solidFill>
                <a:latin typeface="Work Sans" pitchFamily="34" charset="0"/>
                <a:ea typeface="Work Sans" pitchFamily="34" charset="-122"/>
                <a:cs typeface="Work Sans" pitchFamily="34" charset="-120"/>
              </a:rPr>
              <a:t>SATIS GROUP — BACKEND WEBINAR SERIES</a:t>
            </a:r>
            <a:endParaRPr lang="en-US" sz="950" dirty="0"/>
          </a:p>
        </p:txBody>
      </p:sp>
      <p:sp>
        <p:nvSpPr>
          <p:cNvPr id="6" name="Text 3"/>
          <p:cNvSpPr/>
          <p:nvPr/>
        </p:nvSpPr>
        <p:spPr>
          <a:xfrm>
            <a:off x="0" y="2304288"/>
            <a:ext cx="12191695" cy="777240"/>
          </a:xfrm>
          <a:prstGeom prst="rect">
            <a:avLst/>
          </a:prstGeom>
          <a:noFill/>
          <a:ln/>
        </p:spPr>
        <p:txBody>
          <a:bodyPr wrap="square" lIns="0" tIns="0" rIns="0" bIns="0" rtlCol="0" anchor="ctr"/>
          <a:lstStyle/>
          <a:p>
            <a:pPr algn="ctr" indent="0" marL="0">
              <a:buNone/>
            </a:pPr>
            <a:r>
              <a:rPr lang="en-US" sz="4000" spc="3000" kern="0" dirty="0">
                <a:solidFill>
                  <a:srgbClr val="FFFFFF"/>
                </a:solidFill>
                <a:latin typeface="Work Sans" pitchFamily="34" charset="0"/>
                <a:ea typeface="Work Sans" pitchFamily="34" charset="-122"/>
                <a:cs typeface="Work Sans" pitchFamily="34" charset="-120"/>
              </a:rPr>
              <a:t>SATIS</a:t>
            </a:r>
            <a:endParaRPr lang="en-US" sz="4000" dirty="0"/>
          </a:p>
        </p:txBody>
      </p:sp>
      <p:sp>
        <p:nvSpPr>
          <p:cNvPr id="7" name="Text 4"/>
          <p:cNvSpPr/>
          <p:nvPr/>
        </p:nvSpPr>
        <p:spPr>
          <a:xfrm>
            <a:off x="0" y="3090672"/>
            <a:ext cx="12191695" cy="274320"/>
          </a:xfrm>
          <a:prstGeom prst="rect">
            <a:avLst/>
          </a:prstGeom>
          <a:noFill/>
          <a:ln/>
        </p:spPr>
        <p:txBody>
          <a:bodyPr wrap="square" lIns="0" tIns="0" rIns="0" bIns="0" rtlCol="0" anchor="ctr"/>
          <a:lstStyle/>
          <a:p>
            <a:pPr algn="ctr" indent="0" marL="0">
              <a:buNone/>
            </a:pPr>
            <a:r>
              <a:rPr lang="en-US" sz="1250" spc="1100" kern="0" dirty="0">
                <a:solidFill>
                  <a:srgbClr val="FFFFFF"/>
                </a:solidFill>
                <a:latin typeface="Work Sans" pitchFamily="34" charset="0"/>
                <a:ea typeface="Work Sans" pitchFamily="34" charset="-122"/>
                <a:cs typeface="Work Sans" pitchFamily="34" charset="-120"/>
              </a:rPr>
              <a:t>GROUP</a:t>
            </a:r>
            <a:endParaRPr lang="en-US" sz="1250" dirty="0"/>
          </a:p>
        </p:txBody>
      </p:sp>
      <p:sp>
        <p:nvSpPr>
          <p:cNvPr id="8" name="Text 5"/>
          <p:cNvSpPr/>
          <p:nvPr/>
        </p:nvSpPr>
        <p:spPr>
          <a:xfrm>
            <a:off x="1371600" y="3913632"/>
            <a:ext cx="9448495" cy="640080"/>
          </a:xfrm>
          <a:prstGeom prst="rect">
            <a:avLst/>
          </a:prstGeom>
          <a:noFill/>
          <a:ln/>
        </p:spPr>
        <p:txBody>
          <a:bodyPr wrap="square" lIns="0" tIns="0" rIns="0" bIns="0" rtlCol="0" anchor="ctr"/>
          <a:lstStyle/>
          <a:p>
            <a:pPr algn="ctr" indent="0" marL="0">
              <a:buNone/>
            </a:pPr>
            <a:r>
              <a:rPr lang="en-US" sz="2700" dirty="0">
                <a:solidFill>
                  <a:srgbClr val="FFFFFF"/>
                </a:solidFill>
                <a:latin typeface="Work Sans" pitchFamily="34" charset="0"/>
                <a:ea typeface="Work Sans" pitchFamily="34" charset="-122"/>
                <a:cs typeface="Work Sans" pitchFamily="34" charset="-120"/>
              </a:rPr>
              <a:t>Contact &amp; email.</a:t>
            </a:r>
            <a:endParaRPr lang="en-US" sz="2700" dirty="0"/>
          </a:p>
        </p:txBody>
      </p:sp>
      <p:sp>
        <p:nvSpPr>
          <p:cNvPr id="9" name="Text 6"/>
          <p:cNvSpPr/>
          <p:nvPr/>
        </p:nvSpPr>
        <p:spPr>
          <a:xfrm>
            <a:off x="2194560" y="4590288"/>
            <a:ext cx="7802575" cy="566928"/>
          </a:xfrm>
          <a:prstGeom prst="rect">
            <a:avLst/>
          </a:prstGeom>
          <a:noFill/>
          <a:ln/>
        </p:spPr>
        <p:txBody>
          <a:bodyPr wrap="square" lIns="0" tIns="0" rIns="0" bIns="0" rtlCol="0" anchor="ctr"/>
          <a:lstStyle/>
          <a:p>
            <a:pPr algn="ctr" indent="0" marL="0">
              <a:lnSpc>
                <a:spcPts val="1700"/>
              </a:lnSpc>
              <a:buNone/>
            </a:pPr>
            <a:r>
              <a:rPr lang="en-US" sz="1200" dirty="0">
                <a:solidFill>
                  <a:srgbClr val="E8EAEA"/>
                </a:solidFill>
                <a:latin typeface="Work Sans" pitchFamily="34" charset="0"/>
                <a:ea typeface="Work Sans" pitchFamily="34" charset="-122"/>
                <a:cs typeface="Work Sans" pitchFamily="34" charset="-120"/>
              </a:rPr>
              <a:t>How enquiries reach the team today — the forms, the email links, the enquiries inbox, and what is changing next.</a:t>
            </a:r>
            <a:endParaRPr lang="en-US" sz="1200" dirty="0"/>
          </a:p>
        </p:txBody>
      </p:sp>
      <p:sp>
        <p:nvSpPr>
          <p:cNvPr id="10" name="Text 7"/>
          <p:cNvSpPr/>
          <p:nvPr/>
        </p:nvSpPr>
        <p:spPr>
          <a:xfrm>
            <a:off x="566928" y="6327648"/>
            <a:ext cx="11057839" cy="237744"/>
          </a:xfrm>
          <a:prstGeom prst="rect">
            <a:avLst/>
          </a:prstGeom>
          <a:noFill/>
          <a:ln/>
        </p:spPr>
        <p:txBody>
          <a:bodyPr wrap="square" lIns="0" tIns="0" rIns="0" bIns="0" rtlCol="0" anchor="ctr"/>
          <a:lstStyle/>
          <a:p>
            <a:pPr algn="ctr" indent="0" marL="0">
              <a:buNone/>
            </a:pPr>
            <a:r>
              <a:rPr lang="en-US" sz="850" spc="300" kern="0" dirty="0">
                <a:solidFill>
                  <a:srgbClr val="D8DADA"/>
                </a:solidFill>
                <a:latin typeface="Work Sans" pitchFamily="34" charset="0"/>
                <a:ea typeface="Work Sans" pitchFamily="34" charset="-122"/>
                <a:cs typeface="Work Sans" pitchFamily="34" charset="-120"/>
              </a:rPr>
              <a:t>BACKEND WEBINAR 07 OF 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IN THIS WEBINAR</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02</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this session covers.</a:t>
            </a:r>
            <a:endParaRPr lang="en-US" sz="2500" dirty="0"/>
          </a:p>
        </p:txBody>
      </p:sp>
      <p:sp>
        <p:nvSpPr>
          <p:cNvPr id="9" name="Text 7"/>
          <p:cNvSpPr/>
          <p:nvPr/>
        </p:nvSpPr>
        <p:spPr>
          <a:xfrm>
            <a:off x="566928" y="1499616"/>
            <a:ext cx="87782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Every route from a visitor's screen to a Satis inbox — how each one delivers, and the habits that turn enquiries into replies.</a:t>
            </a:r>
            <a:endParaRPr lang="en-US" sz="1150" dirty="0"/>
          </a:p>
        </p:txBody>
      </p:sp>
      <p:sp>
        <p:nvSpPr>
          <p:cNvPr id="10" name="Text 8"/>
          <p:cNvSpPr/>
          <p:nvPr/>
        </p:nvSpPr>
        <p:spPr>
          <a:xfrm>
            <a:off x="566928"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01</a:t>
            </a:r>
            <a:endParaRPr lang="en-US" sz="1100" dirty="0"/>
          </a:p>
        </p:txBody>
      </p:sp>
      <p:sp>
        <p:nvSpPr>
          <p:cNvPr id="11" name="Text 9"/>
          <p:cNvSpPr/>
          <p:nvPr/>
        </p:nvSpPr>
        <p:spPr>
          <a:xfrm>
            <a:off x="1069848" y="2212848"/>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two forms</a:t>
            </a:r>
            <a:endParaRPr lang="en-US" sz="1250" dirty="0"/>
          </a:p>
        </p:txBody>
      </p:sp>
      <p:sp>
        <p:nvSpPr>
          <p:cNvPr id="12" name="Text 10"/>
          <p:cNvSpPr/>
          <p:nvPr/>
        </p:nvSpPr>
        <p:spPr>
          <a:xfrm>
            <a:off x="1069848" y="2487168"/>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 contact page, and the investor enquiry form.</a:t>
            </a:r>
            <a:endParaRPr lang="en-US" sz="950" dirty="0"/>
          </a:p>
        </p:txBody>
      </p:sp>
      <p:sp>
        <p:nvSpPr>
          <p:cNvPr id="13" name="Text 11"/>
          <p:cNvSpPr/>
          <p:nvPr/>
        </p:nvSpPr>
        <p:spPr>
          <a:xfrm>
            <a:off x="566928"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02</a:t>
            </a:r>
            <a:endParaRPr lang="en-US" sz="1100" dirty="0"/>
          </a:p>
        </p:txBody>
      </p:sp>
      <p:sp>
        <p:nvSpPr>
          <p:cNvPr id="14" name="Text 12"/>
          <p:cNvSpPr/>
          <p:nvPr/>
        </p:nvSpPr>
        <p:spPr>
          <a:xfrm>
            <a:off x="1069848" y="3054096"/>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How submissions deliver</a:t>
            </a:r>
            <a:endParaRPr lang="en-US" sz="1250" dirty="0"/>
          </a:p>
        </p:txBody>
      </p:sp>
      <p:sp>
        <p:nvSpPr>
          <p:cNvPr id="15" name="Text 13"/>
          <p:cNvSpPr/>
          <p:nvPr/>
        </p:nvSpPr>
        <p:spPr>
          <a:xfrm>
            <a:off x="1069848" y="3328416"/>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Straight to the enquiries inbox, reply-ready.</a:t>
            </a:r>
            <a:endParaRPr lang="en-US" sz="950" dirty="0"/>
          </a:p>
        </p:txBody>
      </p:sp>
      <p:sp>
        <p:nvSpPr>
          <p:cNvPr id="16" name="Text 14"/>
          <p:cNvSpPr/>
          <p:nvPr/>
        </p:nvSpPr>
        <p:spPr>
          <a:xfrm>
            <a:off x="566928"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03</a:t>
            </a:r>
            <a:endParaRPr lang="en-US" sz="1100" dirty="0"/>
          </a:p>
        </p:txBody>
      </p:sp>
      <p:sp>
        <p:nvSpPr>
          <p:cNvPr id="17" name="Text 15"/>
          <p:cNvSpPr/>
          <p:nvPr/>
        </p:nvSpPr>
        <p:spPr>
          <a:xfrm>
            <a:off x="1069848" y="3895344"/>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email links</a:t>
            </a:r>
            <a:endParaRPr lang="en-US" sz="1250" dirty="0"/>
          </a:p>
        </p:txBody>
      </p:sp>
      <p:sp>
        <p:nvSpPr>
          <p:cNvPr id="18" name="Text 16"/>
          <p:cNvSpPr/>
          <p:nvPr/>
        </p:nvSpPr>
        <p:spPr>
          <a:xfrm>
            <a:off x="1069848" y="4169664"/>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One click to a pre-addressed email, everywhere.</a:t>
            </a:r>
            <a:endParaRPr lang="en-US" sz="950" dirty="0"/>
          </a:p>
        </p:txBody>
      </p:sp>
      <p:sp>
        <p:nvSpPr>
          <p:cNvPr id="19" name="Text 17"/>
          <p:cNvSpPr/>
          <p:nvPr/>
        </p:nvSpPr>
        <p:spPr>
          <a:xfrm>
            <a:off x="6347308" y="2231136"/>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04</a:t>
            </a:r>
            <a:endParaRPr lang="en-US" sz="1100" dirty="0"/>
          </a:p>
        </p:txBody>
      </p:sp>
      <p:sp>
        <p:nvSpPr>
          <p:cNvPr id="20" name="Text 18"/>
          <p:cNvSpPr/>
          <p:nvPr/>
        </p:nvSpPr>
        <p:spPr>
          <a:xfrm>
            <a:off x="6850228" y="2212848"/>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The clever links</a:t>
            </a:r>
            <a:endParaRPr lang="en-US" sz="1250" dirty="0"/>
          </a:p>
        </p:txBody>
      </p:sp>
      <p:sp>
        <p:nvSpPr>
          <p:cNvPr id="21" name="Text 19"/>
          <p:cNvSpPr/>
          <p:nvPr/>
        </p:nvSpPr>
        <p:spPr>
          <a:xfrm>
            <a:off x="6850228" y="2487168"/>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Pre-filled enquiries all over the investor portal.</a:t>
            </a:r>
            <a:endParaRPr lang="en-US" sz="950" dirty="0"/>
          </a:p>
        </p:txBody>
      </p:sp>
      <p:sp>
        <p:nvSpPr>
          <p:cNvPr id="22" name="Text 20"/>
          <p:cNvSpPr/>
          <p:nvPr/>
        </p:nvSpPr>
        <p:spPr>
          <a:xfrm>
            <a:off x="6347308" y="3072384"/>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05</a:t>
            </a:r>
            <a:endParaRPr lang="en-US" sz="1100" dirty="0"/>
          </a:p>
        </p:txBody>
      </p:sp>
      <p:sp>
        <p:nvSpPr>
          <p:cNvPr id="23" name="Text 21"/>
          <p:cNvSpPr/>
          <p:nvPr/>
        </p:nvSpPr>
        <p:spPr>
          <a:xfrm>
            <a:off x="6850228" y="3054096"/>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Daily habits</a:t>
            </a:r>
            <a:endParaRPr lang="en-US" sz="1250" dirty="0"/>
          </a:p>
        </p:txBody>
      </p:sp>
      <p:sp>
        <p:nvSpPr>
          <p:cNvPr id="24" name="Text 22"/>
          <p:cNvSpPr/>
          <p:nvPr/>
        </p:nvSpPr>
        <p:spPr>
          <a:xfrm>
            <a:off x="6850228" y="3328416"/>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Monitoring the inbox and answering well.</a:t>
            </a:r>
            <a:endParaRPr lang="en-US" sz="950" dirty="0"/>
          </a:p>
        </p:txBody>
      </p:sp>
      <p:sp>
        <p:nvSpPr>
          <p:cNvPr id="25" name="Text 23"/>
          <p:cNvSpPr/>
          <p:nvPr/>
        </p:nvSpPr>
        <p:spPr>
          <a:xfrm>
            <a:off x="6347308" y="3913632"/>
            <a:ext cx="457200" cy="274320"/>
          </a:xfrm>
          <a:prstGeom prst="rect">
            <a:avLst/>
          </a:prstGeom>
          <a:noFill/>
          <a:ln/>
        </p:spPr>
        <p:txBody>
          <a:bodyPr wrap="square" lIns="0" tIns="0" rIns="0" bIns="0" rtlCol="0" anchor="ctr"/>
          <a:lstStyle/>
          <a:p>
            <a:pPr indent="0" marL="0">
              <a:buNone/>
            </a:pPr>
            <a:r>
              <a:rPr lang="en-US" sz="1100" spc="150" kern="0" dirty="0">
                <a:solidFill>
                  <a:srgbClr val="5C6366"/>
                </a:solidFill>
                <a:latin typeface="Work Sans" pitchFamily="34" charset="0"/>
                <a:ea typeface="Work Sans" pitchFamily="34" charset="-122"/>
                <a:cs typeface="Work Sans" pitchFamily="34" charset="-120"/>
              </a:rPr>
              <a:t>06</a:t>
            </a:r>
            <a:endParaRPr lang="en-US" sz="1100" dirty="0"/>
          </a:p>
        </p:txBody>
      </p:sp>
      <p:sp>
        <p:nvSpPr>
          <p:cNvPr id="26" name="Text 24"/>
          <p:cNvSpPr/>
          <p:nvPr/>
        </p:nvSpPr>
        <p:spPr>
          <a:xfrm>
            <a:off x="6850228" y="3895344"/>
            <a:ext cx="4774540" cy="274320"/>
          </a:xfrm>
          <a:prstGeom prst="rect">
            <a:avLst/>
          </a:prstGeom>
          <a:noFill/>
          <a:ln/>
        </p:spPr>
        <p:txBody>
          <a:bodyPr wrap="square" lIns="0" tIns="0" rIns="0" bIns="0" rtlCol="0" anchor="ctr"/>
          <a:lstStyle/>
          <a:p>
            <a:pPr indent="0" marL="0">
              <a:buNone/>
            </a:pPr>
            <a:r>
              <a:rPr lang="en-US" sz="1250" b="1" dirty="0">
                <a:solidFill>
                  <a:srgbClr val="000000"/>
                </a:solidFill>
                <a:latin typeface="Work Sans" pitchFamily="34" charset="0"/>
                <a:ea typeface="Work Sans" pitchFamily="34" charset="-122"/>
                <a:cs typeface="Work Sans" pitchFamily="34" charset="-120"/>
              </a:rPr>
              <a:t>What's next</a:t>
            </a:r>
            <a:endParaRPr lang="en-US" sz="1250" dirty="0"/>
          </a:p>
        </p:txBody>
      </p:sp>
      <p:sp>
        <p:nvSpPr>
          <p:cNvPr id="27" name="Text 25"/>
          <p:cNvSpPr/>
          <p:nvPr/>
        </p:nvSpPr>
        <p:spPr>
          <a:xfrm>
            <a:off x="6850228" y="4169664"/>
            <a:ext cx="4774540" cy="384048"/>
          </a:xfrm>
          <a:prstGeom prst="rect">
            <a:avLst/>
          </a:prstGeom>
          <a:noFill/>
          <a:ln/>
        </p:spPr>
        <p:txBody>
          <a:bodyPr wrap="square" lIns="0" tIns="0" rIns="0" bIns="0" rtlCol="0" anchor="ctr"/>
          <a:lstStyle/>
          <a:p>
            <a:pPr indent="0" marL="0">
              <a:lnSpc>
                <a:spcPts val="1300"/>
              </a:lnSpc>
              <a:buNone/>
            </a:pPr>
            <a:r>
              <a:rPr lang="en-US" sz="950" dirty="0">
                <a:solidFill>
                  <a:srgbClr val="5C6366"/>
                </a:solidFill>
                <a:latin typeface="Work Sans" pitchFamily="34" charset="0"/>
                <a:ea typeface="Work Sans" pitchFamily="34" charset="-122"/>
                <a:cs typeface="Work Sans" pitchFamily="34" charset="-120"/>
              </a:rPr>
              <a:t>The subscriber list, and how the sending works.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FORMS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03</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The contact page: three topics, four boxes.</a:t>
            </a:r>
            <a:endParaRPr lang="en-US" sz="2500" dirty="0"/>
          </a:p>
        </p:txBody>
      </p:sp>
      <p:sp>
        <p:nvSpPr>
          <p:cNvPr id="9" name="Text 7"/>
          <p:cNvSpPr/>
          <p:nvPr/>
        </p:nvSpPr>
        <p:spPr>
          <a:xfrm>
            <a:off x="566928" y="1618488"/>
            <a:ext cx="3931920" cy="4297680"/>
          </a:xfrm>
          <a:prstGeom prst="rect">
            <a:avLst/>
          </a:prstGeom>
          <a:noFill/>
          <a:ln/>
        </p:spPr>
        <p:txBody>
          <a:bodyPr wrap="square" lIns="0" tIns="0" rIns="0" bIns="0" rtlCol="0" anchor="t"/>
          <a:lstStyle/>
          <a:p>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The public contact page carries a form with a topic selector — General enquiry, Property enquiry, or Investment — plus name, email and message.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Choosing Investment offers a link across to the investor enquiry form, so prospective investors land in the right flow.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The page also shows the team's email address directly, for people who prefer their own mail app.
</a:t>
            </a:r>
            <a:endParaRPr lang="en-US" sz="1100" dirty="0"/>
          </a:p>
        </p:txBody>
      </p:sp>
      <p:pic>
        <p:nvPicPr>
          <p:cNvPr id="10" name="Image 0" descr="/tmp/claude-0/-home-user-satis-group-website/ff8ab6f4-f9c2-556a-89f3-8bea05ba205c/build/assets/contact-form.png">    </p:cNvPr>
          <p:cNvPicPr>
            <a:picLocks noChangeAspect="1"/>
          </p:cNvPicPr>
          <p:nvPr/>
        </p:nvPicPr>
        <p:blipFill>
          <a:blip r:embed="rId1"/>
          <a:stretch>
            <a:fillRect/>
          </a:stretch>
        </p:blipFill>
        <p:spPr>
          <a:xfrm>
            <a:off x="4910328" y="1957815"/>
            <a:ext cx="6714439" cy="3929922"/>
          </a:xfrm>
          <a:prstGeom prst="rect">
            <a:avLst/>
          </a:prstGeom>
        </p:spPr>
      </p:pic>
      <p:sp>
        <p:nvSpPr>
          <p:cNvPr id="11" name="Shape 8"/>
          <p:cNvSpPr/>
          <p:nvPr/>
        </p:nvSpPr>
        <p:spPr>
          <a:xfrm>
            <a:off x="4910328" y="1957815"/>
            <a:ext cx="6714439" cy="3929922"/>
          </a:xfrm>
          <a:prstGeom prst="rect">
            <a:avLst/>
          </a:prstGeom>
          <a:ln w="12700">
            <a:solidFill>
              <a:srgbClr val="CED1D2"/>
            </a:solidFill>
            <a:prstDash val="solid"/>
          </a:ln>
        </p:spPr>
      </p:sp>
      <p:sp>
        <p:nvSpPr>
          <p:cNvPr id="12" name="Text 9"/>
          <p:cNvSpPr/>
          <p:nvPr/>
        </p:nvSpPr>
        <p:spPr>
          <a:xfrm>
            <a:off x="4910328" y="5951745"/>
            <a:ext cx="6714439" cy="256032"/>
          </a:xfrm>
          <a:prstGeom prst="rect">
            <a:avLst/>
          </a:prstGeom>
          <a:noFill/>
          <a:ln/>
        </p:spPr>
        <p:txBody>
          <a:bodyPr wrap="square" lIns="0" tIns="0" rIns="0" bIns="0" rtlCol="0" anchor="ctr"/>
          <a:lstStyle/>
          <a:p>
            <a:pPr indent="0" marL="0">
              <a:lnSpc>
                <a:spcPts val="1100"/>
              </a:lnSpc>
              <a:buNone/>
            </a:pPr>
            <a:r>
              <a:rPr lang="en-US" sz="850" dirty="0">
                <a:solidFill>
                  <a:srgbClr val="5C6366"/>
                </a:solidFill>
                <a:latin typeface="Work Sans" pitchFamily="34" charset="0"/>
                <a:ea typeface="Work Sans" pitchFamily="34" charset="-122"/>
                <a:cs typeface="Work Sans" pitchFamily="34" charset="-120"/>
              </a:rPr>
              <a:t>The form on /contact — name, email, topic, message.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FORMS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04</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The investor enquiry form: /investors/enquire.</a:t>
            </a:r>
            <a:endParaRPr lang="en-US" sz="2500" dirty="0"/>
          </a:p>
        </p:txBody>
      </p:sp>
      <p:sp>
        <p:nvSpPr>
          <p:cNvPr id="9" name="Text 7"/>
          <p:cNvSpPr/>
          <p:nvPr/>
        </p:nvSpPr>
        <p:spPr>
          <a:xfrm>
            <a:off x="566928" y="1618488"/>
            <a:ext cx="3931920" cy="4297680"/>
          </a:xfrm>
          <a:prstGeom prst="rect">
            <a:avLst/>
          </a:prstGeom>
          <a:noFill/>
          <a:ln/>
        </p:spPr>
        <p:txBody>
          <a:bodyPr wrap="square" lIns="0" tIns="0" rIns="0" bIns="0" rtlCol="0" anchor="t"/>
          <a:lstStyle/>
          <a:p>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New: prospective investors get their own short form — name, email, company, and an optional note — styled like the investor platform they have just been reading.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Every “Become an investor” button on the investor pages points here.
</a:t>
            </a:r>
            <a:pPr indent="0" marL="0">
              <a:lnSpc>
                <a:spcPts val="1600"/>
              </a:lnSpc>
              <a:spcAft>
                <a:spcPts val="1000"/>
              </a:spcAft>
              <a:buNone/>
            </a:pPr>
            <a:r>
              <a:rPr lang="en-US" sz="1100" dirty="0">
                <a:solidFill>
                  <a:srgbClr val="5C6366"/>
                </a:solidFill>
                <a:latin typeface="Work Sans" pitchFamily="34" charset="0"/>
                <a:ea typeface="Work Sans" pitchFamily="34" charset="-122"/>
                <a:cs typeface="Work Sans" pitchFamily="34" charset="-120"/>
              </a:rPr>
              <a:t>It asks for who they represent — the question the general form never asked.
</a:t>
            </a:r>
            <a:endParaRPr lang="en-US" sz="1100" dirty="0"/>
          </a:p>
        </p:txBody>
      </p:sp>
      <p:pic>
        <p:nvPicPr>
          <p:cNvPr id="10" name="Image 0" descr="/tmp/claude-0/-home-user-satis-group-website/ff8ab6f4-f9c2-556a-89f3-8bea05ba205c/build/assets/investor-enquire.png">    </p:cNvPr>
          <p:cNvPicPr>
            <a:picLocks noChangeAspect="1"/>
          </p:cNvPicPr>
          <p:nvPr/>
        </p:nvPicPr>
        <p:blipFill>
          <a:blip r:embed="rId1"/>
          <a:stretch>
            <a:fillRect/>
          </a:stretch>
        </p:blipFill>
        <p:spPr>
          <a:xfrm>
            <a:off x="4910328" y="1701087"/>
            <a:ext cx="6714439" cy="4443379"/>
          </a:xfrm>
          <a:prstGeom prst="rect">
            <a:avLst/>
          </a:prstGeom>
        </p:spPr>
      </p:pic>
      <p:sp>
        <p:nvSpPr>
          <p:cNvPr id="11" name="Shape 8"/>
          <p:cNvSpPr/>
          <p:nvPr/>
        </p:nvSpPr>
        <p:spPr>
          <a:xfrm>
            <a:off x="4910328" y="1701087"/>
            <a:ext cx="6714439" cy="4443379"/>
          </a:xfrm>
          <a:prstGeom prst="rect">
            <a:avLst/>
          </a:prstGeom>
          <a:ln w="12700">
            <a:solidFill>
              <a:srgbClr val="CED1D2"/>
            </a:solidFill>
            <a:prstDash val="solid"/>
          </a:ln>
        </p:spPr>
      </p:sp>
      <p:sp>
        <p:nvSpPr>
          <p:cNvPr id="12" name="Text 9"/>
          <p:cNvSpPr/>
          <p:nvPr/>
        </p:nvSpPr>
        <p:spPr>
          <a:xfrm>
            <a:off x="4910328" y="6208473"/>
            <a:ext cx="6714439" cy="256032"/>
          </a:xfrm>
          <a:prstGeom prst="rect">
            <a:avLst/>
          </a:prstGeom>
          <a:noFill/>
          <a:ln/>
        </p:spPr>
        <p:txBody>
          <a:bodyPr wrap="square" lIns="0" tIns="0" rIns="0" bIns="0" rtlCol="0" anchor="ctr"/>
          <a:lstStyle/>
          <a:p>
            <a:pPr indent="0" marL="0">
              <a:lnSpc>
                <a:spcPts val="1100"/>
              </a:lnSpc>
              <a:buNone/>
            </a:pPr>
            <a:r>
              <a:rPr lang="en-US" sz="850" dirty="0">
                <a:solidFill>
                  <a:srgbClr val="5C6366"/>
                </a:solidFill>
                <a:latin typeface="Work Sans" pitchFamily="34" charset="0"/>
                <a:ea typeface="Work Sans" pitchFamily="34" charset="-122"/>
                <a:cs typeface="Work Sans" pitchFamily="34" charset="-120"/>
              </a:rPr>
              <a:t>“Become an investor” now leads here — matching the platform's black and gold.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B9BDBE"/>
                </a:solidFill>
                <a:latin typeface="Work Sans" pitchFamily="34" charset="0"/>
                <a:ea typeface="Work Sans" pitchFamily="34" charset="-122"/>
                <a:cs typeface="Work Sans" pitchFamily="34" charset="-120"/>
              </a:rPr>
              <a:t>HOW SUBMISSIONS DELIVER</a:t>
            </a:r>
            <a:endParaRPr lang="en-US" sz="950" dirty="0"/>
          </a:p>
        </p:txBody>
      </p:sp>
      <p:sp>
        <p:nvSpPr>
          <p:cNvPr id="3" name="Shape 1"/>
          <p:cNvSpPr/>
          <p:nvPr/>
        </p:nvSpPr>
        <p:spPr>
          <a:xfrm>
            <a:off x="566928" y="694944"/>
            <a:ext cx="11057839" cy="0"/>
          </a:xfrm>
          <a:prstGeom prst="line">
            <a:avLst/>
          </a:prstGeom>
          <a:noFill/>
          <a:ln w="9525">
            <a:solidFill>
              <a:srgbClr val="3A3A3A"/>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FFFFFF"/>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B9BDBE"/>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B9BDBE"/>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B9BDBE"/>
                </a:solidFill>
                <a:latin typeface="Work Sans" pitchFamily="34" charset="0"/>
                <a:ea typeface="Work Sans" pitchFamily="34" charset="-122"/>
                <a:cs typeface="Work Sans" pitchFamily="34" charset="-120"/>
              </a:rPr>
              <a:t>05</a:t>
            </a:r>
            <a:endParaRPr lang="en-US" sz="800" dirty="0"/>
          </a:p>
        </p:txBody>
      </p:sp>
      <p:sp>
        <p:nvSpPr>
          <p:cNvPr id="8" name="Text 6"/>
          <p:cNvSpPr/>
          <p:nvPr/>
        </p:nvSpPr>
        <p:spPr>
          <a:xfrm>
            <a:off x="566928" y="2377440"/>
            <a:ext cx="10143439" cy="1463040"/>
          </a:xfrm>
          <a:prstGeom prst="rect">
            <a:avLst/>
          </a:prstGeom>
          <a:noFill/>
          <a:ln/>
        </p:spPr>
        <p:txBody>
          <a:bodyPr wrap="square" lIns="0" tIns="0" rIns="0" bIns="0" rtlCol="0" anchor="ctr"/>
          <a:lstStyle/>
          <a:p>
            <a:pPr indent="0" marL="0">
              <a:lnSpc>
                <a:spcPts val="3250"/>
              </a:lnSpc>
              <a:buNone/>
            </a:pPr>
            <a:r>
              <a:rPr lang="en-US" sz="2600" dirty="0">
                <a:solidFill>
                  <a:srgbClr val="FFFFFF"/>
                </a:solidFill>
                <a:latin typeface="Work Sans" pitchFamily="34" charset="0"/>
                <a:ea typeface="Work Sans" pitchFamily="34" charset="-122"/>
                <a:cs typeface="Work Sans" pitchFamily="34" charset="-120"/>
              </a:rPr>
              <a:t>Form submissions arrive as email — reply-ready.</a:t>
            </a:r>
            <a:endParaRPr lang="en-US" sz="2600" dirty="0"/>
          </a:p>
        </p:txBody>
      </p:sp>
      <p:sp>
        <p:nvSpPr>
          <p:cNvPr id="9" name="Text 7"/>
          <p:cNvSpPr/>
          <p:nvPr/>
        </p:nvSpPr>
        <p:spPr>
          <a:xfrm>
            <a:off x="566928" y="3977640"/>
            <a:ext cx="9692640" cy="1371600"/>
          </a:xfrm>
          <a:prstGeom prst="rect">
            <a:avLst/>
          </a:prstGeom>
          <a:noFill/>
          <a:ln/>
        </p:spPr>
        <p:txBody>
          <a:bodyPr wrap="square" lIns="0" tIns="0" rIns="0" bIns="0" rtlCol="0" anchor="ctr"/>
          <a:lstStyle/>
          <a:p>
            <a:pPr indent="0" marL="0">
              <a:lnSpc>
                <a:spcPts val="1900"/>
              </a:lnSpc>
              <a:buNone/>
            </a:pPr>
            <a:r>
              <a:rPr lang="en-US" sz="1250" dirty="0">
                <a:solidFill>
                  <a:srgbClr val="B9BDBE"/>
                </a:solidFill>
                <a:latin typeface="Work Sans" pitchFamily="34" charset="0"/>
                <a:ea typeface="Work Sans" pitchFamily="34" charset="-122"/>
                <a:cs typeface="Work Sans" pitchFamily="34" charset="-120"/>
              </a:rPr>
              <a:t>Both forms email the enquiry to the enquiries inbox the moment the visitor presses send: the topic rides in the subject line, and the sender's address is set as Reply-To, so answering is one click of Reply. If sending ever fails, the visitor is shown the team's email address and asked to write directly — an enquiry is never dropped silently.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EMAIL LINKS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06</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Email links: click → mail app → the enquiries inbox.</a:t>
            </a:r>
            <a:endParaRPr lang="en-US" sz="2500" dirty="0"/>
          </a:p>
        </p:txBody>
      </p:sp>
      <p:sp>
        <p:nvSpPr>
          <p:cNvPr id="9" name="Text 7"/>
          <p:cNvSpPr/>
          <p:nvPr/>
        </p:nvSpPr>
        <p:spPr>
          <a:xfrm>
            <a:off x="566928" y="1517904"/>
            <a:ext cx="969264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Alongside the forms, everywhere the site says “email us” the link opens the visitor's own mail app with the address — and often the subject — already filled in:</a:t>
            </a:r>
            <a:endParaRPr lang="en-US" sz="1150" dirty="0"/>
          </a:p>
        </p:txBody>
      </p:sp>
      <p:sp>
        <p:nvSpPr>
          <p:cNvPr id="10" name="Shape 8"/>
          <p:cNvSpPr/>
          <p:nvPr/>
        </p:nvSpPr>
        <p:spPr>
          <a:xfrm>
            <a:off x="795528" y="3017520"/>
            <a:ext cx="2606040" cy="1005840"/>
          </a:xfrm>
          <a:prstGeom prst="rect">
            <a:avLst/>
          </a:prstGeom>
          <a:solidFill>
            <a:srgbClr val="FFFFFF"/>
          </a:solidFill>
          <a:ln w="12700">
            <a:solidFill>
              <a:srgbClr val="000000"/>
            </a:solidFill>
            <a:prstDash val="solid"/>
          </a:ln>
        </p:spPr>
      </p:sp>
      <p:sp>
        <p:nvSpPr>
          <p:cNvPr id="11" name="Text 9"/>
          <p:cNvSpPr/>
          <p:nvPr/>
        </p:nvSpPr>
        <p:spPr>
          <a:xfrm>
            <a:off x="868680" y="3017520"/>
            <a:ext cx="2459736" cy="100584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Visitor clicks an email link</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footer, contact page, portal buttons</a:t>
            </a:r>
            <a:endParaRPr lang="en-US" sz="1100" dirty="0"/>
          </a:p>
        </p:txBody>
      </p:sp>
      <p:sp>
        <p:nvSpPr>
          <p:cNvPr id="12" name="Shape 10"/>
          <p:cNvSpPr/>
          <p:nvPr/>
        </p:nvSpPr>
        <p:spPr>
          <a:xfrm>
            <a:off x="4059936" y="3017520"/>
            <a:ext cx="2606040" cy="1005840"/>
          </a:xfrm>
          <a:prstGeom prst="rect">
            <a:avLst/>
          </a:prstGeom>
          <a:solidFill>
            <a:srgbClr val="FFFFFF"/>
          </a:solidFill>
          <a:ln w="12700">
            <a:solidFill>
              <a:srgbClr val="000000"/>
            </a:solidFill>
            <a:prstDash val="solid"/>
          </a:ln>
        </p:spPr>
      </p:sp>
      <p:sp>
        <p:nvSpPr>
          <p:cNvPr id="13" name="Text 11"/>
          <p:cNvSpPr/>
          <p:nvPr/>
        </p:nvSpPr>
        <p:spPr>
          <a:xfrm>
            <a:off x="4133088" y="3017520"/>
            <a:ext cx="2459736" cy="1005840"/>
          </a:xfrm>
          <a:prstGeom prst="rect">
            <a:avLst/>
          </a:prstGeom>
          <a:noFill/>
          <a:ln/>
        </p:spPr>
        <p:txBody>
          <a:bodyPr wrap="square" lIns="0" tIns="0" rIns="0" bIns="0" rtlCol="0" anchor="ctr"/>
          <a:lstStyle/>
          <a:p>
            <a:pPr algn="ctr" indent="0" marL="0">
              <a:lnSpc>
                <a:spcPts val="1300"/>
              </a:lnSpc>
              <a:buNone/>
            </a:pPr>
            <a:r>
              <a:rPr lang="en-US" sz="1100" b="1" dirty="0">
                <a:solidFill>
                  <a:srgbClr val="000000"/>
                </a:solidFill>
                <a:latin typeface="Work Sans" pitchFamily="34" charset="0"/>
                <a:ea typeface="Work Sans" pitchFamily="34" charset="-122"/>
                <a:cs typeface="Work Sans" pitchFamily="34" charset="-120"/>
              </a:rPr>
              <a:t>Their own mail app opens</a:t>
            </a:r>
            <a:pPr algn="ctr" indent="0" marL="0">
              <a:lnSpc>
                <a:spcPts val="1300"/>
              </a:lnSpc>
              <a:buNone/>
            </a:pPr>
            <a:endParaRPr lang="en-US" sz="1100" dirty="0"/>
          </a:p>
          <a:p>
            <a:pPr algn="ctr" indent="0" marL="0">
              <a:lnSpc>
                <a:spcPts val="1300"/>
              </a:lnSpc>
              <a:buNone/>
            </a:pPr>
            <a:r>
              <a:rPr lang="en-US" sz="850" dirty="0">
                <a:solidFill>
                  <a:srgbClr val="5C6366"/>
                </a:solidFill>
                <a:latin typeface="Work Sans" pitchFamily="34" charset="0"/>
                <a:ea typeface="Work Sans" pitchFamily="34" charset="-122"/>
                <a:cs typeface="Work Sans" pitchFamily="34" charset="-120"/>
              </a:rPr>
              <a:t>pre-addressed, subject pre-filled</a:t>
            </a:r>
            <a:endParaRPr lang="en-US" sz="1100" dirty="0"/>
          </a:p>
        </p:txBody>
      </p:sp>
      <p:sp>
        <p:nvSpPr>
          <p:cNvPr id="14" name="Shape 12"/>
          <p:cNvSpPr/>
          <p:nvPr/>
        </p:nvSpPr>
        <p:spPr>
          <a:xfrm>
            <a:off x="7324344" y="3017520"/>
            <a:ext cx="2606040" cy="1005840"/>
          </a:xfrm>
          <a:prstGeom prst="rect">
            <a:avLst/>
          </a:prstGeom>
          <a:solidFill>
            <a:srgbClr val="000000"/>
          </a:solidFill>
          <a:ln w="12700">
            <a:solidFill>
              <a:srgbClr val="000000"/>
            </a:solidFill>
            <a:prstDash val="solid"/>
          </a:ln>
        </p:spPr>
      </p:sp>
      <p:sp>
        <p:nvSpPr>
          <p:cNvPr id="15" name="Text 13"/>
          <p:cNvSpPr/>
          <p:nvPr/>
        </p:nvSpPr>
        <p:spPr>
          <a:xfrm>
            <a:off x="7397496" y="3017520"/>
            <a:ext cx="2459736" cy="1005840"/>
          </a:xfrm>
          <a:prstGeom prst="rect">
            <a:avLst/>
          </a:prstGeom>
          <a:noFill/>
          <a:ln/>
        </p:spPr>
        <p:txBody>
          <a:bodyPr wrap="square" lIns="0" tIns="0" rIns="0" bIns="0" rtlCol="0" anchor="ctr"/>
          <a:lstStyle/>
          <a:p>
            <a:pPr algn="ctr" indent="0" marL="0">
              <a:lnSpc>
                <a:spcPts val="1300"/>
              </a:lnSpc>
              <a:buNone/>
            </a:pPr>
            <a:r>
              <a:rPr lang="en-US" sz="1100" b="1" dirty="0">
                <a:solidFill>
                  <a:srgbClr val="FFFFFF"/>
                </a:solidFill>
                <a:latin typeface="Work Sans" pitchFamily="34" charset="0"/>
                <a:ea typeface="Work Sans" pitchFamily="34" charset="-122"/>
                <a:cs typeface="Work Sans" pitchFamily="34" charset="-120"/>
              </a:rPr>
              <a:t>Lands in the enquiries inbox</a:t>
            </a:r>
            <a:pPr algn="ctr" indent="0" marL="0">
              <a:lnSpc>
                <a:spcPts val="1300"/>
              </a:lnSpc>
              <a:buNone/>
            </a:pPr>
            <a:endParaRPr lang="en-US" sz="1100" dirty="0"/>
          </a:p>
          <a:p>
            <a:pPr algn="ctr" indent="0" marL="0">
              <a:lnSpc>
                <a:spcPts val="1300"/>
              </a:lnSpc>
              <a:buNone/>
            </a:pPr>
            <a:r>
              <a:rPr lang="en-US" sz="850" dirty="0">
                <a:solidFill>
                  <a:srgbClr val="B9BDBE"/>
                </a:solidFill>
                <a:latin typeface="Work Sans" pitchFamily="34" charset="0"/>
                <a:ea typeface="Work Sans" pitchFamily="34" charset="-122"/>
                <a:cs typeface="Work Sans" pitchFamily="34" charset="-120"/>
              </a:rPr>
              <a:t>noreply.ai@satisgroup.co.uk</a:t>
            </a:r>
            <a:endParaRPr lang="en-US" sz="1100" dirty="0"/>
          </a:p>
        </p:txBody>
      </p:sp>
      <p:sp>
        <p:nvSpPr>
          <p:cNvPr id="16" name="Shape 14"/>
          <p:cNvSpPr/>
          <p:nvPr/>
        </p:nvSpPr>
        <p:spPr>
          <a:xfrm>
            <a:off x="3401568" y="3520440"/>
            <a:ext cx="658368" cy="0"/>
          </a:xfrm>
          <a:prstGeom prst="line">
            <a:avLst/>
          </a:prstGeom>
          <a:noFill/>
          <a:ln w="15240">
            <a:solidFill>
              <a:srgbClr val="000000"/>
            </a:solidFill>
            <a:prstDash val="solid"/>
            <a:tailEnd type="triangle"/>
          </a:ln>
        </p:spPr>
      </p:sp>
      <p:sp>
        <p:nvSpPr>
          <p:cNvPr id="17" name="Shape 15"/>
          <p:cNvSpPr/>
          <p:nvPr/>
        </p:nvSpPr>
        <p:spPr>
          <a:xfrm>
            <a:off x="6665976" y="3520440"/>
            <a:ext cx="658368" cy="0"/>
          </a:xfrm>
          <a:prstGeom prst="line">
            <a:avLst/>
          </a:prstGeom>
          <a:noFill/>
          <a:ln w="15240">
            <a:solidFill>
              <a:srgbClr val="000000"/>
            </a:solidFill>
            <a:prstDash val="solid"/>
            <a:tailEnd type="triangle"/>
          </a:ln>
        </p:spPr>
      </p:sp>
      <p:sp>
        <p:nvSpPr>
          <p:cNvPr id="18" name="Text 16"/>
          <p:cNvSpPr/>
          <p:nvPr/>
        </p:nvSpPr>
        <p:spPr>
          <a:xfrm>
            <a:off x="566928" y="4754880"/>
            <a:ext cx="10326319" cy="685800"/>
          </a:xfrm>
          <a:prstGeom prst="rect">
            <a:avLst/>
          </a:prstGeom>
          <a:noFill/>
          <a:ln/>
        </p:spPr>
        <p:txBody>
          <a:bodyPr wrap="square" lIns="0" tIns="0" rIns="0" bIns="0" rtlCol="0" anchor="ctr"/>
          <a:lstStyle/>
          <a:p>
            <a:pPr indent="0" marL="0">
              <a:lnSpc>
                <a:spcPts val="1700"/>
              </a:lnSpc>
              <a:buNone/>
            </a:pPr>
            <a:r>
              <a:rPr lang="en-US" sz="1150" b="1" dirty="0">
                <a:solidFill>
                  <a:srgbClr val="000000"/>
                </a:solidFill>
                <a:latin typeface="Work Sans" pitchFamily="34" charset="0"/>
                <a:ea typeface="Work Sans" pitchFamily="34" charset="-122"/>
                <a:cs typeface="Work Sans" pitchFamily="34" charset="-120"/>
              </a:rPr>
              <a:t>Why this is dependable: </a:t>
            </a:r>
            <a:pPr indent="0" marL="0">
              <a:lnSpc>
                <a:spcPts val="1700"/>
              </a:lnSpc>
              <a:buNone/>
            </a:pPr>
            <a:r>
              <a:rPr lang="en-US" sz="1150" dirty="0">
                <a:solidFill>
                  <a:srgbClr val="5C6366"/>
                </a:solidFill>
                <a:latin typeface="Work Sans" pitchFamily="34" charset="0"/>
                <a:ea typeface="Work Sans" pitchFamily="34" charset="-122"/>
                <a:cs typeface="Work Sans" pitchFamily="34" charset="-120"/>
              </a:rPr>
              <a:t>it is ordinary email, end to end. Nothing on the website has to run, store or forward anything — the message travels from the visitor's own mail account to the Satis mailbox at 123 Reg.</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THE WORKING CHANNEL</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07</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Where the email links live.</a:t>
            </a:r>
            <a:endParaRPr lang="en-US" sz="2500" dirty="0"/>
          </a:p>
        </p:txBody>
      </p:sp>
      <p:sp>
        <p:nvSpPr>
          <p:cNvPr id="9" name="Text 7"/>
          <p:cNvSpPr/>
          <p:nvPr/>
        </p:nvSpPr>
        <p:spPr>
          <a:xfrm>
            <a:off x="566928" y="1517904"/>
            <a:ext cx="950976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A visitor is never more than one click from a pre-addressed email:</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3291840"/>
                <a:gridCol w="4206240"/>
                <a:gridCol w="3566160"/>
              </a:tblGrid>
              <a:tr h="0">
                <a:tc>
                  <a:txBody>
                    <a:bodyPr/>
                    <a:lstStyle/>
                    <a:p>
                      <a:pPr indent="0" marL="0">
                        <a:buNone/>
                      </a:pPr>
                      <a:r>
                        <a:rPr lang="en-US" sz="850" spc="180" kern="0" dirty="0">
                          <a:solidFill>
                            <a:srgbClr val="5C6366"/>
                          </a:solidFill>
                          <a:latin typeface="Work Sans" pitchFamily="34" charset="0"/>
                          <a:ea typeface="Work Sans" pitchFamily="34" charset="-122"/>
                          <a:cs typeface="Work Sans" pitchFamily="34" charset="-120"/>
                        </a:rPr>
                        <a:t>WHERE</a:t>
                      </a:r>
                      <a:endParaRPr lang="en-US" sz="850" dirty="0">
                        <a:latin typeface="Work Sans" charset="0"/>
                        <a:ea typeface="Work Sans" charset="0"/>
                        <a:cs typeface="Work Sans" charset="0"/>
                      </a:endParaRPr>
                    </a:p>
                  </a:txBody>
                  <a:tcPr marL="36576" marR="36576" marT="54864" marB="73152">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850" spc="180" kern="0" dirty="0">
                          <a:solidFill>
                            <a:srgbClr val="5C6366"/>
                          </a:solidFill>
                          <a:latin typeface="Work Sans" pitchFamily="34" charset="0"/>
                          <a:ea typeface="Work Sans" pitchFamily="34" charset="-122"/>
                          <a:cs typeface="Work Sans" pitchFamily="34" charset="-120"/>
                        </a:rPr>
                        <a:t>THE LINK</a:t>
                      </a:r>
                      <a:endParaRPr lang="en-US" sz="850" dirty="0">
                        <a:latin typeface="Work Sans" charset="0"/>
                        <a:ea typeface="Work Sans" charset="0"/>
                        <a:cs typeface="Work Sans" charset="0"/>
                      </a:endParaRPr>
                    </a:p>
                  </a:txBody>
                  <a:tcPr marL="36576" marR="36576" marT="54864" marB="73152">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850" spc="180" kern="0" dirty="0">
                          <a:solidFill>
                            <a:srgbClr val="5C6366"/>
                          </a:solidFill>
                          <a:latin typeface="Work Sans" pitchFamily="34" charset="0"/>
                          <a:ea typeface="Work Sans" pitchFamily="34" charset="-122"/>
                          <a:cs typeface="Work Sans" pitchFamily="34" charset="-120"/>
                        </a:rPr>
                        <a:t>PRE-FILLED SUBJECT</a:t>
                      </a:r>
                      <a:endParaRPr lang="en-US" sz="850" dirty="0">
                        <a:latin typeface="Work Sans" charset="0"/>
                        <a:ea typeface="Work Sans" charset="0"/>
                        <a:cs typeface="Work Sans" charset="0"/>
                      </a:endParaRPr>
                    </a:p>
                  </a:txBody>
                  <a:tcPr marL="36576" marR="36576" marT="54864" marB="73152">
                    <a:lnL w="0" cap="flat" cmpd="sng" algn="ctr">
                      <a:noFill/>
                    </a:lnL>
                    <a:lnR w="0" cap="flat" cmpd="sng" algn="ctr">
                      <a:noFill/>
                    </a:lnR>
                    <a:lnT w="0" cap="flat" cmpd="sng" algn="ctr">
                      <a:noFill/>
                    </a:lnT>
                    <a:lnB w="12700" cap="flat" cmpd="sng" algn="ctr">
                      <a:solidFill>
                        <a:srgbClr val="00000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000000"/>
                          </a:solidFill>
                          <a:latin typeface="Work Sans" pitchFamily="34" charset="0"/>
                          <a:ea typeface="Work Sans" pitchFamily="34" charset="-122"/>
                          <a:cs typeface="Work Sans" pitchFamily="34" charset="-120"/>
                        </a:rPr>
                        <a:t>Footer — every page</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The contact email address</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r>
              <a:tr h="0">
                <a:tc>
                  <a:txBody>
                    <a:bodyPr/>
                    <a:lstStyle/>
                    <a:p>
                      <a:pPr indent="0" marL="0">
                        <a:buNone/>
                      </a:pPr>
                      <a:r>
                        <a:rPr lang="en-US" sz="1000" b="1" dirty="0">
                          <a:solidFill>
                            <a:srgbClr val="000000"/>
                          </a:solidFill>
                          <a:latin typeface="Work Sans" pitchFamily="34" charset="0"/>
                          <a:ea typeface="Work Sans" pitchFamily="34" charset="-122"/>
                          <a:cs typeface="Work Sans" pitchFamily="34" charset="-120"/>
                        </a:rPr>
                        <a:t>Contact page</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The address beside the form</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r>
              <a:tr h="0">
                <a:tc>
                  <a:txBody>
                    <a:bodyPr/>
                    <a:lstStyle/>
                    <a:p>
                      <a:pPr indent="0" marL="0">
                        <a:buNone/>
                      </a:pPr>
                      <a:r>
                        <a:rPr lang="en-US" sz="1000" b="1" dirty="0">
                          <a:solidFill>
                            <a:srgbClr val="000000"/>
                          </a:solidFill>
                          <a:latin typeface="Work Sans" pitchFamily="34" charset="0"/>
                          <a:ea typeface="Work Sans" pitchFamily="34" charset="-122"/>
                          <a:cs typeface="Work Sans" pitchFamily="34" charset="-120"/>
                        </a:rPr>
                        <a:t>Property pages</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“Register interest” actions</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The development's name</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r>
              <a:tr h="0">
                <a:tc>
                  <a:txBody>
                    <a:bodyPr/>
                    <a:lstStyle/>
                    <a:p>
                      <a:pPr indent="0" marL="0">
                        <a:buNone/>
                      </a:pPr>
                      <a:r>
                        <a:rPr lang="en-US" sz="1000" b="1" dirty="0">
                          <a:solidFill>
                            <a:srgbClr val="000000"/>
                          </a:solidFill>
                          <a:latin typeface="Work Sans" pitchFamily="34" charset="0"/>
                          <a:ea typeface="Work Sans" pitchFamily="34" charset="-122"/>
                          <a:cs typeface="Work Sans" pitchFamily="34" charset="-120"/>
                        </a:rPr>
                        <a:t>Investor sign-in</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“Need help?”</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Sign-in help</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r>
              <a:tr h="0">
                <a:tc>
                  <a:txBody>
                    <a:bodyPr/>
                    <a:lstStyle/>
                    <a:p>
                      <a:pPr indent="0" marL="0">
                        <a:buNone/>
                      </a:pPr>
                      <a:r>
                        <a:rPr lang="en-US" sz="1000" b="1" dirty="0">
                          <a:solidFill>
                            <a:srgbClr val="000000"/>
                          </a:solidFill>
                          <a:latin typeface="Work Sans" pitchFamily="34" charset="0"/>
                          <a:ea typeface="Work Sans" pitchFamily="34" charset="-122"/>
                          <a:cs typeface="Work Sans" pitchFamily="34" charset="-120"/>
                        </a:rPr>
                        <a:t>Portal — opportunities</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“Register interest” on a raise</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Investor interest: deal, location</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r>
              <a:tr h="0">
                <a:tc>
                  <a:txBody>
                    <a:bodyPr/>
                    <a:lstStyle/>
                    <a:p>
                      <a:pPr indent="0" marL="0">
                        <a:buNone/>
                      </a:pPr>
                      <a:r>
                        <a:rPr lang="en-US" sz="1000" b="1" dirty="0">
                          <a:solidFill>
                            <a:srgbClr val="000000"/>
                          </a:solidFill>
                          <a:latin typeface="Work Sans" pitchFamily="34" charset="0"/>
                          <a:ea typeface="Work Sans" pitchFamily="34" charset="-122"/>
                          <a:cs typeface="Work Sans" pitchFamily="34" charset="-120"/>
                        </a:rPr>
                        <a:t>Portal — insights</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“Discuss with the team”</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Insight discussion: article title</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r>
              <a:tr h="0">
                <a:tc>
                  <a:txBody>
                    <a:bodyPr/>
                    <a:lstStyle/>
                    <a:p>
                      <a:pPr indent="0" marL="0">
                        <a:buNone/>
                      </a:pPr>
                      <a:r>
                        <a:rPr lang="en-US" sz="1000" b="1" dirty="0">
                          <a:solidFill>
                            <a:srgbClr val="000000"/>
                          </a:solidFill>
                          <a:latin typeface="Work Sans" pitchFamily="34" charset="0"/>
                          <a:ea typeface="Work Sans" pitchFamily="34" charset="-122"/>
                          <a:cs typeface="Work Sans" pitchFamily="34" charset="-120"/>
                        </a:rPr>
                        <a:t>Portal — report tasks</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Ask about a specific task</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c>
                  <a:txBody>
                    <a:bodyPr/>
                    <a:lstStyle/>
                    <a:p>
                      <a:pPr indent="0" marL="0">
                        <a:buNone/>
                      </a:pPr>
                      <a:r>
                        <a:rPr lang="en-US" sz="1000" dirty="0">
                          <a:solidFill>
                            <a:srgbClr val="5C6366"/>
                          </a:solidFill>
                          <a:latin typeface="Work Sans" pitchFamily="34" charset="0"/>
                          <a:ea typeface="Work Sans" pitchFamily="34" charset="-122"/>
                          <a:cs typeface="Work Sans" pitchFamily="34" charset="-120"/>
                        </a:rPr>
                        <a:t>The report and task in question</a:t>
                      </a:r>
                      <a:endParaRPr lang="en-US" sz="1000" dirty="0">
                        <a:latin typeface="Work Sans" charset="0"/>
                        <a:ea typeface="Work Sans" charset="0"/>
                        <a:cs typeface="Work Sans" charset="0"/>
                      </a:endParaRPr>
                    </a:p>
                  </a:txBody>
                  <a:tcPr marL="36576" marR="36576" marT="82296" marB="82296" anchor="t">
                    <a:lnL w="0" cap="flat" cmpd="sng" algn="ctr">
                      <a:noFill/>
                    </a:lnL>
                    <a:lnR w="0" cap="flat" cmpd="sng" algn="ctr">
                      <a:noFill/>
                    </a:lnR>
                    <a:lnT w="0" cap="flat" cmpd="sng" algn="ctr">
                      <a:noFill/>
                    </a:lnT>
                    <a:lnB w="6350" cap="flat" cmpd="sng" algn="ctr">
                      <a:solidFill>
                        <a:srgbClr val="CED1D2"/>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DAILY HABITS</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08</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Running the enquiries inbox well.</a:t>
            </a:r>
            <a:endParaRPr lang="en-US" sz="2500" dirty="0"/>
          </a:p>
        </p:txBody>
      </p:sp>
      <p:sp>
        <p:nvSpPr>
          <p:cNvPr id="9" name="Shape 7"/>
          <p:cNvSpPr/>
          <p:nvPr/>
        </p:nvSpPr>
        <p:spPr>
          <a:xfrm>
            <a:off x="566928" y="1586484"/>
            <a:ext cx="246888" cy="246888"/>
          </a:xfrm>
          <a:prstGeom prst="ellipse">
            <a:avLst/>
          </a:prstGeom>
          <a:solidFill>
            <a:srgbClr val="B3400C"/>
          </a:solidFill>
          <a:ln/>
        </p:spPr>
      </p:sp>
      <p:sp>
        <p:nvSpPr>
          <p:cNvPr id="10" name="Text 8"/>
          <p:cNvSpPr/>
          <p:nvPr/>
        </p:nvSpPr>
        <p:spPr>
          <a:xfrm>
            <a:off x="521208" y="1560881"/>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1" name="Text 9"/>
          <p:cNvSpPr/>
          <p:nvPr/>
        </p:nvSpPr>
        <p:spPr>
          <a:xfrm>
            <a:off x="987552" y="1572768"/>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Watch noreply.ai@satisgroup.co.uk</a:t>
            </a:r>
            <a:endParaRPr lang="en-US" sz="1200" dirty="0"/>
          </a:p>
        </p:txBody>
      </p:sp>
      <p:sp>
        <p:nvSpPr>
          <p:cNvPr id="12" name="Text 10"/>
          <p:cNvSpPr/>
          <p:nvPr/>
        </p:nvSpPr>
        <p:spPr>
          <a:xfrm>
            <a:off x="987552" y="1847088"/>
            <a:ext cx="6803136" cy="604647"/>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That is where form submissions and the site's email links deliver. Put it on whoever owns enquiries that week — phones included, since investor questions deserve same-day replies.</a:t>
            </a:r>
            <a:endParaRPr lang="en-US" sz="1050" dirty="0"/>
          </a:p>
        </p:txBody>
      </p:sp>
      <p:sp>
        <p:nvSpPr>
          <p:cNvPr id="13" name="Shape 11"/>
          <p:cNvSpPr/>
          <p:nvPr/>
        </p:nvSpPr>
        <p:spPr>
          <a:xfrm>
            <a:off x="566928" y="2611755"/>
            <a:ext cx="246888" cy="246888"/>
          </a:xfrm>
          <a:prstGeom prst="ellipse">
            <a:avLst/>
          </a:prstGeom>
          <a:solidFill>
            <a:srgbClr val="B3400C"/>
          </a:solidFill>
          <a:ln/>
        </p:spPr>
      </p:sp>
      <p:sp>
        <p:nvSpPr>
          <p:cNvPr id="14" name="Text 12"/>
          <p:cNvSpPr/>
          <p:nvPr/>
        </p:nvSpPr>
        <p:spPr>
          <a:xfrm>
            <a:off x="521208" y="2586152"/>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5" name="Text 13"/>
          <p:cNvSpPr/>
          <p:nvPr/>
        </p:nvSpPr>
        <p:spPr>
          <a:xfrm>
            <a:off x="987552" y="2598039"/>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Reply from a named colleague</a:t>
            </a:r>
            <a:endParaRPr lang="en-US" sz="1200" dirty="0"/>
          </a:p>
        </p:txBody>
      </p:sp>
      <p:sp>
        <p:nvSpPr>
          <p:cNvPr id="16" name="Text 14"/>
          <p:cNvSpPr/>
          <p:nvPr/>
        </p:nvSpPr>
        <p:spPr>
          <a:xfrm>
            <a:off x="987552" y="2872359"/>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Answers should come from a person, not a no-reply address — move the thread to your own mailbox with the enquiry quoted.</a:t>
            </a:r>
            <a:endParaRPr lang="en-US" sz="1050" dirty="0"/>
          </a:p>
        </p:txBody>
      </p:sp>
      <p:sp>
        <p:nvSpPr>
          <p:cNvPr id="17" name="Shape 15"/>
          <p:cNvSpPr/>
          <p:nvPr/>
        </p:nvSpPr>
        <p:spPr>
          <a:xfrm>
            <a:off x="566928" y="3447669"/>
            <a:ext cx="246888" cy="246888"/>
          </a:xfrm>
          <a:prstGeom prst="ellipse">
            <a:avLst/>
          </a:prstGeom>
          <a:solidFill>
            <a:srgbClr val="B3400C"/>
          </a:solidFill>
          <a:ln/>
        </p:spPr>
      </p:sp>
      <p:sp>
        <p:nvSpPr>
          <p:cNvPr id="18" name="Text 16"/>
          <p:cNvSpPr/>
          <p:nvPr/>
        </p:nvSpPr>
        <p:spPr>
          <a:xfrm>
            <a:off x="521208" y="3422066"/>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19" name="Text 17"/>
          <p:cNvSpPr/>
          <p:nvPr/>
        </p:nvSpPr>
        <p:spPr>
          <a:xfrm>
            <a:off x="987552" y="3433953"/>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Let the pre-filled subjects route</a:t>
            </a:r>
            <a:endParaRPr lang="en-US" sz="1200" dirty="0"/>
          </a:p>
        </p:txBody>
      </p:sp>
      <p:sp>
        <p:nvSpPr>
          <p:cNvPr id="20" name="Text 18"/>
          <p:cNvSpPr/>
          <p:nvPr/>
        </p:nvSpPr>
        <p:spPr>
          <a:xfrm>
            <a:off x="987552" y="3708273"/>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“Investor interest: QUBE, Stockport” goes to whoever runs the raise; report-task questions go to the project lead. The subject already tells you.</a:t>
            </a:r>
            <a:endParaRPr lang="en-US" sz="1050" dirty="0"/>
          </a:p>
        </p:txBody>
      </p:sp>
      <p:sp>
        <p:nvSpPr>
          <p:cNvPr id="21" name="Shape 19"/>
          <p:cNvSpPr/>
          <p:nvPr/>
        </p:nvSpPr>
        <p:spPr>
          <a:xfrm>
            <a:off x="566928" y="4283583"/>
            <a:ext cx="246888" cy="246888"/>
          </a:xfrm>
          <a:prstGeom prst="ellipse">
            <a:avLst/>
          </a:prstGeom>
          <a:solidFill>
            <a:srgbClr val="B3400C"/>
          </a:solidFill>
          <a:ln/>
        </p:spPr>
      </p:sp>
      <p:sp>
        <p:nvSpPr>
          <p:cNvPr id="22" name="Text 20"/>
          <p:cNvSpPr/>
          <p:nvPr/>
        </p:nvSpPr>
        <p:spPr>
          <a:xfrm>
            <a:off x="521208" y="4257980"/>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4</a:t>
            </a:r>
            <a:endParaRPr lang="en-US" sz="1050" dirty="0"/>
          </a:p>
        </p:txBody>
      </p:sp>
      <p:sp>
        <p:nvSpPr>
          <p:cNvPr id="23" name="Text 21"/>
          <p:cNvSpPr/>
          <p:nvPr/>
        </p:nvSpPr>
        <p:spPr>
          <a:xfrm>
            <a:off x="987552" y="4269867"/>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Log investment enquiries</a:t>
            </a:r>
            <a:endParaRPr lang="en-US" sz="1200" dirty="0"/>
          </a:p>
        </p:txBody>
      </p:sp>
      <p:sp>
        <p:nvSpPr>
          <p:cNvPr id="24" name="Text 22"/>
          <p:cNvSpPr/>
          <p:nvPr/>
        </p:nvSpPr>
        <p:spPr>
          <a:xfrm>
            <a:off x="987552" y="4544187"/>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Anything that could become a cheque deserves a row in the pipeline sheet the same day — enquiries that only live in an inbox get lost.</a:t>
            </a:r>
            <a:endParaRPr lang="en-US" sz="1050" dirty="0"/>
          </a:p>
        </p:txBody>
      </p:sp>
      <p:sp>
        <p:nvSpPr>
          <p:cNvPr id="25" name="Shape 23"/>
          <p:cNvSpPr/>
          <p:nvPr/>
        </p:nvSpPr>
        <p:spPr>
          <a:xfrm>
            <a:off x="8247888" y="1618488"/>
            <a:ext cx="3376879" cy="1920240"/>
          </a:xfrm>
          <a:prstGeom prst="rect">
            <a:avLst/>
          </a:prstGeom>
          <a:solidFill>
            <a:srgbClr val="ECEEEE"/>
          </a:solidFill>
          <a:ln/>
        </p:spPr>
      </p:sp>
      <p:sp>
        <p:nvSpPr>
          <p:cNvPr id="26" name="Text 24"/>
          <p:cNvSpPr/>
          <p:nvPr/>
        </p:nvSpPr>
        <p:spPr>
          <a:xfrm>
            <a:off x="8467344" y="1764792"/>
            <a:ext cx="293796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7" name="Text 25"/>
          <p:cNvSpPr/>
          <p:nvPr/>
        </p:nvSpPr>
        <p:spPr>
          <a:xfrm>
            <a:off x="8467344" y="1984248"/>
            <a:ext cx="2937967" cy="141732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 useful test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Once a month, click the site's own links and email in a test enquiry. If it reaches the inbox and gets answered within a day, the channel works.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WHAT'S NEXT</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09</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Newsletter signups and the live subscriber list.</a:t>
            </a:r>
            <a:endParaRPr lang="en-US" sz="2500" dirty="0"/>
          </a:p>
        </p:txBody>
      </p:sp>
      <p:sp>
        <p:nvSpPr>
          <p:cNvPr id="9" name="Text 7"/>
          <p:cNvSpPr/>
          <p:nvPr/>
        </p:nvSpPr>
        <p:spPr>
          <a:xfrm>
            <a:off x="566928" y="1517904"/>
            <a:ext cx="704088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The News page's Subscribe box completes the picture:</a:t>
            </a:r>
            <a:endParaRPr lang="en-US" sz="1150" dirty="0"/>
          </a:p>
        </p:txBody>
      </p:sp>
      <p:sp>
        <p:nvSpPr>
          <p:cNvPr id="10" name="Shape 8"/>
          <p:cNvSpPr/>
          <p:nvPr/>
        </p:nvSpPr>
        <p:spPr>
          <a:xfrm>
            <a:off x="566928" y="2116836"/>
            <a:ext cx="246888" cy="246888"/>
          </a:xfrm>
          <a:prstGeom prst="ellipse">
            <a:avLst/>
          </a:prstGeom>
          <a:solidFill>
            <a:srgbClr val="B3400C"/>
          </a:solidFill>
          <a:ln/>
        </p:spPr>
      </p:sp>
      <p:sp>
        <p:nvSpPr>
          <p:cNvPr id="11" name="Text 9"/>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103120"/>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Visitors leave an email on /news</a:t>
            </a:r>
            <a:endParaRPr lang="en-US" sz="1200" dirty="0"/>
          </a:p>
        </p:txBody>
      </p:sp>
      <p:sp>
        <p:nvSpPr>
          <p:cNvPr id="13" name="Text 11"/>
          <p:cNvSpPr/>
          <p:nvPr/>
        </p:nvSpPr>
        <p:spPr>
          <a:xfrm>
            <a:off x="987552" y="2377440"/>
            <a:ext cx="6803136" cy="225933"/>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One box, instant confirmation.</a:t>
            </a:r>
            <a:endParaRPr lang="en-US" sz="1050" dirty="0"/>
          </a:p>
        </p:txBody>
      </p:sp>
      <p:sp>
        <p:nvSpPr>
          <p:cNvPr id="14" name="Shape 12"/>
          <p:cNvSpPr/>
          <p:nvPr/>
        </p:nvSpPr>
        <p:spPr>
          <a:xfrm>
            <a:off x="566928" y="2763393"/>
            <a:ext cx="246888" cy="246888"/>
          </a:xfrm>
          <a:prstGeom prst="ellipse">
            <a:avLst/>
          </a:prstGeom>
          <a:solidFill>
            <a:srgbClr val="B3400C"/>
          </a:solidFill>
          <a:ln/>
        </p:spPr>
      </p:sp>
      <p:sp>
        <p:nvSpPr>
          <p:cNvPr id="15" name="Text 13"/>
          <p:cNvSpPr/>
          <p:nvPr/>
        </p:nvSpPr>
        <p:spPr>
          <a:xfrm>
            <a:off x="521208" y="2737790"/>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749677"/>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A live subscriber list is rolling out in the admin</a:t>
            </a:r>
            <a:endParaRPr lang="en-US" sz="1200" dirty="0"/>
          </a:p>
        </p:txBody>
      </p:sp>
      <p:sp>
        <p:nvSpPr>
          <p:cNvPr id="17" name="Text 15"/>
          <p:cNvSpPr/>
          <p:nvPr/>
        </p:nvSpPr>
        <p:spPr>
          <a:xfrm>
            <a:off x="987552" y="3023997"/>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A section on the admin newsletter page showing signups as a list you can review and mail — being deployed as these materials are written.</a:t>
            </a:r>
            <a:endParaRPr lang="en-US" sz="1050" dirty="0"/>
          </a:p>
        </p:txBody>
      </p:sp>
      <p:sp>
        <p:nvSpPr>
          <p:cNvPr id="18" name="Shape 16"/>
          <p:cNvSpPr/>
          <p:nvPr/>
        </p:nvSpPr>
        <p:spPr>
          <a:xfrm>
            <a:off x="566928" y="3599307"/>
            <a:ext cx="246888" cy="246888"/>
          </a:xfrm>
          <a:prstGeom prst="ellipse">
            <a:avLst/>
          </a:prstGeom>
          <a:solidFill>
            <a:srgbClr val="B3400C"/>
          </a:solidFill>
          <a:ln/>
        </p:spPr>
      </p:sp>
      <p:sp>
        <p:nvSpPr>
          <p:cNvPr id="19" name="Text 17"/>
          <p:cNvSpPr/>
          <p:nvPr/>
        </p:nvSpPr>
        <p:spPr>
          <a:xfrm>
            <a:off x="521208" y="3573704"/>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585591"/>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Until it is live in your admin</a:t>
            </a:r>
            <a:endParaRPr lang="en-US" sz="1200" dirty="0"/>
          </a:p>
        </p:txBody>
      </p:sp>
      <p:sp>
        <p:nvSpPr>
          <p:cNvPr id="21" name="Text 19"/>
          <p:cNvSpPr/>
          <p:nvPr/>
        </p:nvSpPr>
        <p:spPr>
          <a:xfrm>
            <a:off x="987552" y="3859911"/>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Signups are not stored — treat the box as decorative and gather addresses another way. Check /admin/newsletter to see whether the section has arrived.</a:t>
            </a:r>
            <a:endParaRPr lang="en-US" sz="1050" dirty="0"/>
          </a:p>
        </p:txBody>
      </p:sp>
      <p:sp>
        <p:nvSpPr>
          <p:cNvPr id="22" name="Shape 20"/>
          <p:cNvSpPr/>
          <p:nvPr/>
        </p:nvSpPr>
        <p:spPr>
          <a:xfrm>
            <a:off x="8247888" y="1618488"/>
            <a:ext cx="3376879" cy="1874520"/>
          </a:xfrm>
          <a:prstGeom prst="rect">
            <a:avLst/>
          </a:prstGeom>
          <a:solidFill>
            <a:srgbClr val="FFFFFF"/>
          </a:solidFill>
          <a:ln w="9525">
            <a:solidFill>
              <a:srgbClr val="000000"/>
            </a:solidFill>
            <a:prstDash val="solid"/>
          </a:ln>
        </p:spPr>
      </p:sp>
      <p:sp>
        <p:nvSpPr>
          <p:cNvPr id="23" name="Text 21"/>
          <p:cNvSpPr/>
          <p:nvPr/>
        </p:nvSpPr>
        <p:spPr>
          <a:xfrm>
            <a:off x="8467344" y="1764792"/>
            <a:ext cx="293796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WHAT YOU SHOULD SEE</a:t>
            </a:r>
            <a:endParaRPr lang="en-US" sz="750" dirty="0"/>
          </a:p>
        </p:txBody>
      </p:sp>
      <p:sp>
        <p:nvSpPr>
          <p:cNvPr id="24" name="Text 22"/>
          <p:cNvSpPr/>
          <p:nvPr/>
        </p:nvSpPr>
        <p:spPr>
          <a:xfrm>
            <a:off x="8467344" y="1984248"/>
            <a:ext cx="2937967" cy="137160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How you'll know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Open /admin/newsletter: a subscribers section beside the composer means the rollout has reached you. Webinar 02 covers using it alongside publishing.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5C6366"/>
                </a:solidFill>
                <a:latin typeface="Work Sans" pitchFamily="34" charset="0"/>
                <a:ea typeface="Work Sans" pitchFamily="34" charset="-122"/>
                <a:cs typeface="Work Sans" pitchFamily="34" charset="-120"/>
              </a:rPr>
              <a:t>UNDER THE BONNET</a:t>
            </a:r>
            <a:endParaRPr lang="en-US" sz="950" dirty="0"/>
          </a:p>
        </p:txBody>
      </p:sp>
      <p:sp>
        <p:nvSpPr>
          <p:cNvPr id="3" name="Shape 1"/>
          <p:cNvSpPr/>
          <p:nvPr/>
        </p:nvSpPr>
        <p:spPr>
          <a:xfrm>
            <a:off x="566928" y="694944"/>
            <a:ext cx="11057839" cy="0"/>
          </a:xfrm>
          <a:prstGeom prst="line">
            <a:avLst/>
          </a:prstGeom>
          <a:noFill/>
          <a:ln w="9525">
            <a:solidFill>
              <a:srgbClr val="000000"/>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000000"/>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5C6366"/>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9AA0A2"/>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9AA0A2"/>
                </a:solidFill>
                <a:latin typeface="Work Sans" pitchFamily="34" charset="0"/>
                <a:ea typeface="Work Sans" pitchFamily="34" charset="-122"/>
                <a:cs typeface="Work Sans" pitchFamily="34" charset="-120"/>
              </a:rPr>
              <a:t>10</a:t>
            </a:r>
            <a:endParaRPr lang="en-US" sz="800" dirty="0"/>
          </a:p>
        </p:txBody>
      </p:sp>
      <p:sp>
        <p:nvSpPr>
          <p:cNvPr id="8" name="Text 6"/>
          <p:cNvSpPr/>
          <p:nvPr/>
        </p:nvSpPr>
        <p:spPr>
          <a:xfrm>
            <a:off x="566928" y="932688"/>
            <a:ext cx="11057839" cy="566928"/>
          </a:xfrm>
          <a:prstGeom prst="rect">
            <a:avLst/>
          </a:prstGeom>
          <a:noFill/>
          <a:ln/>
        </p:spPr>
        <p:txBody>
          <a:bodyPr wrap="square" lIns="0" tIns="0" rIns="0" bIns="0" rtlCol="0" anchor="ctr"/>
          <a:lstStyle/>
          <a:p>
            <a:pPr algn="l" indent="0" marL="0">
              <a:buNone/>
            </a:pPr>
            <a:r>
              <a:rPr lang="en-US" sz="2500" dirty="0">
                <a:solidFill>
                  <a:srgbClr val="000000"/>
                </a:solidFill>
                <a:latin typeface="Work Sans" pitchFamily="34" charset="0"/>
                <a:ea typeface="Work Sans" pitchFamily="34" charset="-122"/>
                <a:cs typeface="Work Sans" pitchFamily="34" charset="-120"/>
              </a:rPr>
              <a:t>What powers the form email — and its one setting.</a:t>
            </a:r>
            <a:endParaRPr lang="en-US" sz="2500" dirty="0"/>
          </a:p>
        </p:txBody>
      </p:sp>
      <p:sp>
        <p:nvSpPr>
          <p:cNvPr id="9" name="Text 7"/>
          <p:cNvSpPr/>
          <p:nvPr/>
        </p:nvSpPr>
        <p:spPr>
          <a:xfrm>
            <a:off x="566928" y="1517904"/>
            <a:ext cx="7040880" cy="475488"/>
          </a:xfrm>
          <a:prstGeom prst="rect">
            <a:avLst/>
          </a:prstGeom>
          <a:noFill/>
          <a:ln/>
        </p:spPr>
        <p:txBody>
          <a:bodyPr wrap="square" lIns="0" tIns="0" rIns="0" bIns="0" rtlCol="0" anchor="ctr"/>
          <a:lstStyle/>
          <a:p>
            <a:pPr indent="0" marL="0">
              <a:lnSpc>
                <a:spcPts val="1600"/>
              </a:lnSpc>
              <a:buNone/>
            </a:pPr>
            <a:r>
              <a:rPr lang="en-US" sz="1150" dirty="0">
                <a:solidFill>
                  <a:srgbClr val="5C6366"/>
                </a:solidFill>
                <a:latin typeface="Work Sans" pitchFamily="34" charset="0"/>
                <a:ea typeface="Work Sans" pitchFamily="34" charset="-122"/>
                <a:cs typeface="Work Sans" pitchFamily="34" charset="-120"/>
              </a:rPr>
              <a:t>For the curious, and for whoever holds the Vercel keys:</a:t>
            </a:r>
            <a:endParaRPr lang="en-US" sz="1150" dirty="0"/>
          </a:p>
        </p:txBody>
      </p:sp>
      <p:sp>
        <p:nvSpPr>
          <p:cNvPr id="10" name="Shape 8"/>
          <p:cNvSpPr/>
          <p:nvPr/>
        </p:nvSpPr>
        <p:spPr>
          <a:xfrm>
            <a:off x="566928" y="2116836"/>
            <a:ext cx="246888" cy="246888"/>
          </a:xfrm>
          <a:prstGeom prst="ellipse">
            <a:avLst/>
          </a:prstGeom>
          <a:solidFill>
            <a:srgbClr val="B3400C"/>
          </a:solidFill>
          <a:ln/>
        </p:spPr>
      </p:sp>
      <p:sp>
        <p:nvSpPr>
          <p:cNvPr id="11" name="Text 9"/>
          <p:cNvSpPr/>
          <p:nvPr/>
        </p:nvSpPr>
        <p:spPr>
          <a:xfrm>
            <a:off x="521208" y="2091233"/>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1</a:t>
            </a:r>
            <a:endParaRPr lang="en-US" sz="1050" dirty="0"/>
          </a:p>
        </p:txBody>
      </p:sp>
      <p:sp>
        <p:nvSpPr>
          <p:cNvPr id="12" name="Text 10"/>
          <p:cNvSpPr/>
          <p:nvPr/>
        </p:nvSpPr>
        <p:spPr>
          <a:xfrm>
            <a:off x="987552" y="2103120"/>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Resend does the sending</a:t>
            </a:r>
            <a:endParaRPr lang="en-US" sz="1200" dirty="0"/>
          </a:p>
        </p:txBody>
      </p:sp>
      <p:sp>
        <p:nvSpPr>
          <p:cNvPr id="13" name="Text 11"/>
          <p:cNvSpPr/>
          <p:nvPr/>
        </p:nvSpPr>
        <p:spPr>
          <a:xfrm>
            <a:off x="987552" y="2377440"/>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The site hands each submission to Resend, an email-delivery service, as plain text — nothing a visitor types is ever rendered as a web page or stored on the site.</a:t>
            </a:r>
            <a:endParaRPr lang="en-US" sz="1050" dirty="0"/>
          </a:p>
        </p:txBody>
      </p:sp>
      <p:sp>
        <p:nvSpPr>
          <p:cNvPr id="14" name="Shape 12"/>
          <p:cNvSpPr/>
          <p:nvPr/>
        </p:nvSpPr>
        <p:spPr>
          <a:xfrm>
            <a:off x="566928" y="2952750"/>
            <a:ext cx="246888" cy="246888"/>
          </a:xfrm>
          <a:prstGeom prst="ellipse">
            <a:avLst/>
          </a:prstGeom>
          <a:solidFill>
            <a:srgbClr val="B3400C"/>
          </a:solidFill>
          <a:ln/>
        </p:spPr>
      </p:sp>
      <p:sp>
        <p:nvSpPr>
          <p:cNvPr id="15" name="Text 13"/>
          <p:cNvSpPr/>
          <p:nvPr/>
        </p:nvSpPr>
        <p:spPr>
          <a:xfrm>
            <a:off x="521208" y="2927147"/>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2</a:t>
            </a:r>
            <a:endParaRPr lang="en-US" sz="1050" dirty="0"/>
          </a:p>
        </p:txBody>
      </p:sp>
      <p:sp>
        <p:nvSpPr>
          <p:cNvPr id="16" name="Text 14"/>
          <p:cNvSpPr/>
          <p:nvPr/>
        </p:nvSpPr>
        <p:spPr>
          <a:xfrm>
            <a:off x="987552" y="2939034"/>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One key turns it on</a:t>
            </a:r>
            <a:endParaRPr lang="en-US" sz="1200" dirty="0"/>
          </a:p>
        </p:txBody>
      </p:sp>
      <p:sp>
        <p:nvSpPr>
          <p:cNvPr id="17" name="Text 15"/>
          <p:cNvSpPr/>
          <p:nvPr/>
        </p:nvSpPr>
        <p:spPr>
          <a:xfrm>
            <a:off x="987552" y="3213354"/>
            <a:ext cx="6803136" cy="604647"/>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SATIS_RESEND_API_KEY in Vercel's environment settings. Missing or expired, forms show the visitor the team's address instead of pretending to send — and the fix is the usual settings-plus-redeploy routine from webinar 06.</a:t>
            </a:r>
            <a:endParaRPr lang="en-US" sz="1050" dirty="0"/>
          </a:p>
        </p:txBody>
      </p:sp>
      <p:sp>
        <p:nvSpPr>
          <p:cNvPr id="18" name="Shape 16"/>
          <p:cNvSpPr/>
          <p:nvPr/>
        </p:nvSpPr>
        <p:spPr>
          <a:xfrm>
            <a:off x="566928" y="3978021"/>
            <a:ext cx="246888" cy="246888"/>
          </a:xfrm>
          <a:prstGeom prst="ellipse">
            <a:avLst/>
          </a:prstGeom>
          <a:solidFill>
            <a:srgbClr val="B3400C"/>
          </a:solidFill>
          <a:ln/>
        </p:spPr>
      </p:sp>
      <p:sp>
        <p:nvSpPr>
          <p:cNvPr id="19" name="Text 17"/>
          <p:cNvSpPr/>
          <p:nvPr/>
        </p:nvSpPr>
        <p:spPr>
          <a:xfrm>
            <a:off x="521208" y="3952418"/>
            <a:ext cx="338328"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Work Sans" pitchFamily="34" charset="0"/>
                <a:ea typeface="Work Sans" pitchFamily="34" charset="-122"/>
                <a:cs typeface="Work Sans" pitchFamily="34" charset="-120"/>
              </a:rPr>
              <a:t>3</a:t>
            </a:r>
            <a:endParaRPr lang="en-US" sz="1050" dirty="0"/>
          </a:p>
        </p:txBody>
      </p:sp>
      <p:sp>
        <p:nvSpPr>
          <p:cNvPr id="20" name="Text 18"/>
          <p:cNvSpPr/>
          <p:nvPr/>
        </p:nvSpPr>
        <p:spPr>
          <a:xfrm>
            <a:off x="987552" y="3964305"/>
            <a:ext cx="6803136" cy="274320"/>
          </a:xfrm>
          <a:prstGeom prst="rect">
            <a:avLst/>
          </a:prstGeom>
          <a:noFill/>
          <a:ln/>
        </p:spPr>
        <p:txBody>
          <a:bodyPr wrap="square" lIns="0" tIns="0" rIns="0" bIns="0" rtlCol="0" anchor="ctr"/>
          <a:lstStyle/>
          <a:p>
            <a:pPr indent="0" marL="0">
              <a:buNone/>
            </a:pPr>
            <a:r>
              <a:rPr lang="en-US" sz="1200" b="1" dirty="0">
                <a:solidFill>
                  <a:srgbClr val="000000"/>
                </a:solidFill>
                <a:latin typeface="Work Sans" pitchFamily="34" charset="0"/>
                <a:ea typeface="Work Sans" pitchFamily="34" charset="-122"/>
                <a:cs typeface="Work Sans" pitchFamily="34" charset="-120"/>
              </a:rPr>
              <a:t>Destinations are settings too</a:t>
            </a:r>
            <a:endParaRPr lang="en-US" sz="1200" dirty="0"/>
          </a:p>
        </p:txBody>
      </p:sp>
      <p:sp>
        <p:nvSpPr>
          <p:cNvPr id="21" name="Text 19"/>
          <p:cNvSpPr/>
          <p:nvPr/>
        </p:nvSpPr>
        <p:spPr>
          <a:xfrm>
            <a:off x="987552" y="4238625"/>
            <a:ext cx="6803136" cy="415290"/>
          </a:xfrm>
          <a:prstGeom prst="rect">
            <a:avLst/>
          </a:prstGeom>
          <a:noFill/>
          <a:ln/>
        </p:spPr>
        <p:txBody>
          <a:bodyPr wrap="square" lIns="0" tIns="0" rIns="0" bIns="0" rtlCol="0" anchor="ctr"/>
          <a:lstStyle/>
          <a:p>
            <a:pPr indent="0" marL="0">
              <a:lnSpc>
                <a:spcPts val="1491"/>
              </a:lnSpc>
              <a:buNone/>
            </a:pPr>
            <a:r>
              <a:rPr lang="en-US" sz="1050" dirty="0">
                <a:solidFill>
                  <a:srgbClr val="5C6366"/>
                </a:solidFill>
                <a:latin typeface="Work Sans" pitchFamily="34" charset="0"/>
                <a:ea typeface="Work Sans" pitchFamily="34" charset="-122"/>
                <a:cs typeface="Work Sans" pitchFamily="34" charset="-120"/>
              </a:rPr>
              <a:t>SATIS_ENQUIRY_TO directs where enquiries land (with SATIS_CONTACT_TO available to split contact-form traffic into a separate inbox if the volume ever justifies it).</a:t>
            </a:r>
            <a:endParaRPr lang="en-US" sz="1050" dirty="0"/>
          </a:p>
        </p:txBody>
      </p:sp>
      <p:sp>
        <p:nvSpPr>
          <p:cNvPr id="22" name="Shape 20"/>
          <p:cNvSpPr/>
          <p:nvPr/>
        </p:nvSpPr>
        <p:spPr>
          <a:xfrm>
            <a:off x="8247888" y="1618488"/>
            <a:ext cx="3376879" cy="1691640"/>
          </a:xfrm>
          <a:prstGeom prst="rect">
            <a:avLst/>
          </a:prstGeom>
          <a:solidFill>
            <a:srgbClr val="ECEEEE"/>
          </a:solidFill>
          <a:ln/>
        </p:spPr>
      </p:sp>
      <p:sp>
        <p:nvSpPr>
          <p:cNvPr id="23" name="Text 21"/>
          <p:cNvSpPr/>
          <p:nvPr/>
        </p:nvSpPr>
        <p:spPr>
          <a:xfrm>
            <a:off x="8467344" y="1764792"/>
            <a:ext cx="2937967" cy="182880"/>
          </a:xfrm>
          <a:prstGeom prst="rect">
            <a:avLst/>
          </a:prstGeom>
          <a:noFill/>
          <a:ln/>
        </p:spPr>
        <p:txBody>
          <a:bodyPr wrap="square" lIns="0" tIns="0" rIns="0" bIns="0" rtlCol="0" anchor="ctr"/>
          <a:lstStyle/>
          <a:p>
            <a:pPr indent="0" marL="0">
              <a:buNone/>
            </a:pPr>
            <a:r>
              <a:rPr lang="en-US" sz="750" spc="200" kern="0" dirty="0">
                <a:solidFill>
                  <a:srgbClr val="5C6366"/>
                </a:solidFill>
                <a:latin typeface="Work Sans" pitchFamily="34" charset="0"/>
                <a:ea typeface="Work Sans" pitchFamily="34" charset="-122"/>
                <a:cs typeface="Work Sans" pitchFamily="34" charset="-120"/>
              </a:rPr>
              <a:t>GOOD TO KNOW</a:t>
            </a:r>
            <a:endParaRPr lang="en-US" sz="750" dirty="0"/>
          </a:p>
        </p:txBody>
      </p:sp>
      <p:sp>
        <p:nvSpPr>
          <p:cNvPr id="24" name="Text 22"/>
          <p:cNvSpPr/>
          <p:nvPr/>
        </p:nvSpPr>
        <p:spPr>
          <a:xfrm>
            <a:off x="8467344" y="1984248"/>
            <a:ext cx="2937967" cy="1188720"/>
          </a:xfrm>
          <a:prstGeom prst="rect">
            <a:avLst/>
          </a:prstGeom>
          <a:noFill/>
          <a:ln/>
        </p:spPr>
        <p:txBody>
          <a:bodyPr wrap="square" lIns="0" tIns="0" rIns="0" bIns="0" rtlCol="0" anchor="t"/>
          <a:lstStyle/>
          <a:p>
            <a:pPr indent="0" marL="0">
              <a:lnSpc>
                <a:spcPts val="1380"/>
              </a:lnSpc>
              <a:spcAft>
                <a:spcPts val="200"/>
              </a:spcAft>
              <a:buNone/>
            </a:pPr>
            <a:r>
              <a:rPr lang="en-US" sz="1100" b="1" dirty="0">
                <a:solidFill>
                  <a:srgbClr val="000000"/>
                </a:solidFill>
                <a:latin typeface="Work Sans" pitchFamily="34" charset="0"/>
                <a:ea typeface="Work Sans" pitchFamily="34" charset="-122"/>
                <a:cs typeface="Work Sans" pitchFamily="34" charset="-120"/>
              </a:rPr>
              <a:t>Also unlocked
</a:t>
            </a:r>
            <a:pPr indent="0" marL="0">
              <a:lnSpc>
                <a:spcPts val="1380"/>
              </a:lnSpc>
              <a:spcAft>
                <a:spcPts val="500"/>
              </a:spcAft>
              <a:buNone/>
            </a:pPr>
            <a:r>
              <a:rPr lang="en-US" sz="1000" dirty="0">
                <a:solidFill>
                  <a:srgbClr val="5C6366"/>
                </a:solidFill>
                <a:latin typeface="Work Sans" pitchFamily="34" charset="0"/>
                <a:ea typeface="Work Sans" pitchFamily="34" charset="-122"/>
                <a:cs typeface="Work Sans" pitchFamily="34" charset="-120"/>
              </a:rPr>
              <a:t>The same Resend account can later send the newsletter to the subscriber list — the sending rail is already in place.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66928" y="310896"/>
            <a:ext cx="9777679" cy="256032"/>
          </a:xfrm>
          <a:prstGeom prst="rect">
            <a:avLst/>
          </a:prstGeom>
          <a:noFill/>
          <a:ln/>
        </p:spPr>
        <p:txBody>
          <a:bodyPr wrap="square" lIns="0" tIns="0" rIns="0" bIns="0" rtlCol="0" anchor="ctr"/>
          <a:lstStyle/>
          <a:p>
            <a:pPr algn="l" indent="0" marL="0">
              <a:buNone/>
            </a:pPr>
            <a:r>
              <a:rPr lang="en-US" sz="950" spc="260" kern="0" dirty="0">
                <a:solidFill>
                  <a:srgbClr val="B9BDBE"/>
                </a:solidFill>
                <a:latin typeface="Work Sans" pitchFamily="34" charset="0"/>
                <a:ea typeface="Work Sans" pitchFamily="34" charset="-122"/>
                <a:cs typeface="Work Sans" pitchFamily="34" charset="-120"/>
              </a:rPr>
              <a:t>RECAP</a:t>
            </a:r>
            <a:endParaRPr lang="en-US" sz="950" dirty="0"/>
          </a:p>
        </p:txBody>
      </p:sp>
      <p:sp>
        <p:nvSpPr>
          <p:cNvPr id="3" name="Shape 1"/>
          <p:cNvSpPr/>
          <p:nvPr/>
        </p:nvSpPr>
        <p:spPr>
          <a:xfrm>
            <a:off x="566928" y="694944"/>
            <a:ext cx="11057839" cy="0"/>
          </a:xfrm>
          <a:prstGeom prst="line">
            <a:avLst/>
          </a:prstGeom>
          <a:noFill/>
          <a:ln w="9525">
            <a:solidFill>
              <a:srgbClr val="3A3A3A"/>
            </a:solidFill>
            <a:prstDash val="solid"/>
          </a:ln>
        </p:spPr>
      </p:sp>
      <p:sp>
        <p:nvSpPr>
          <p:cNvPr id="4" name="Text 2"/>
          <p:cNvSpPr/>
          <p:nvPr/>
        </p:nvSpPr>
        <p:spPr>
          <a:xfrm>
            <a:off x="10344607" y="246888"/>
            <a:ext cx="1280160" cy="219456"/>
          </a:xfrm>
          <a:prstGeom prst="rect">
            <a:avLst/>
          </a:prstGeom>
          <a:noFill/>
          <a:ln/>
        </p:spPr>
        <p:txBody>
          <a:bodyPr wrap="square" lIns="0" tIns="0" rIns="0" bIns="0" rtlCol="0" anchor="ctr"/>
          <a:lstStyle/>
          <a:p>
            <a:pPr algn="r" indent="0" marL="0">
              <a:buNone/>
            </a:pPr>
            <a:r>
              <a:rPr lang="en-US" sz="1100" spc="500" kern="0" dirty="0">
                <a:solidFill>
                  <a:srgbClr val="FFFFFF"/>
                </a:solidFill>
                <a:latin typeface="Work Sans" pitchFamily="34" charset="0"/>
                <a:ea typeface="Work Sans" pitchFamily="34" charset="-122"/>
                <a:cs typeface="Work Sans" pitchFamily="34" charset="-120"/>
              </a:rPr>
              <a:t>SATIS</a:t>
            </a:r>
            <a:endParaRPr lang="en-US" sz="1100" dirty="0"/>
          </a:p>
        </p:txBody>
      </p:sp>
      <p:sp>
        <p:nvSpPr>
          <p:cNvPr id="5" name="Text 3"/>
          <p:cNvSpPr/>
          <p:nvPr/>
        </p:nvSpPr>
        <p:spPr>
          <a:xfrm>
            <a:off x="10344607" y="457200"/>
            <a:ext cx="1280160" cy="146304"/>
          </a:xfrm>
          <a:prstGeom prst="rect">
            <a:avLst/>
          </a:prstGeom>
          <a:noFill/>
          <a:ln/>
        </p:spPr>
        <p:txBody>
          <a:bodyPr wrap="square" lIns="0" tIns="0" rIns="0" bIns="0" rtlCol="0" anchor="ctr"/>
          <a:lstStyle/>
          <a:p>
            <a:pPr algn="r" indent="0" marL="0">
              <a:buNone/>
            </a:pPr>
            <a:r>
              <a:rPr lang="en-US" sz="550" spc="340" kern="0" dirty="0">
                <a:solidFill>
                  <a:srgbClr val="B9BDBE"/>
                </a:solidFill>
                <a:latin typeface="Work Sans" pitchFamily="34" charset="0"/>
                <a:ea typeface="Work Sans" pitchFamily="34" charset="-122"/>
                <a:cs typeface="Work Sans" pitchFamily="34" charset="-120"/>
              </a:rPr>
              <a:t>GROUP</a:t>
            </a:r>
            <a:endParaRPr lang="en-US" sz="550" dirty="0"/>
          </a:p>
        </p:txBody>
      </p:sp>
      <p:sp>
        <p:nvSpPr>
          <p:cNvPr id="6" name="Text 4"/>
          <p:cNvSpPr/>
          <p:nvPr/>
        </p:nvSpPr>
        <p:spPr>
          <a:xfrm>
            <a:off x="566928" y="6473952"/>
            <a:ext cx="6400800" cy="201168"/>
          </a:xfrm>
          <a:prstGeom prst="rect">
            <a:avLst/>
          </a:prstGeom>
          <a:noFill/>
          <a:ln/>
        </p:spPr>
        <p:txBody>
          <a:bodyPr wrap="square" lIns="0" tIns="0" rIns="0" bIns="0" rtlCol="0" anchor="ctr"/>
          <a:lstStyle/>
          <a:p>
            <a:pPr indent="0" marL="0">
              <a:buNone/>
            </a:pPr>
            <a:r>
              <a:rPr lang="en-US" sz="700" spc="200" kern="0" dirty="0">
                <a:solidFill>
                  <a:srgbClr val="B9BDBE"/>
                </a:solidFill>
                <a:latin typeface="Work Sans" pitchFamily="34" charset="0"/>
                <a:ea typeface="Work Sans" pitchFamily="34" charset="-122"/>
                <a:cs typeface="Work Sans" pitchFamily="34" charset="-120"/>
              </a:rPr>
              <a:t>SATIS GROUP — CONTACT &amp; EMAIL</a:t>
            </a:r>
            <a:endParaRPr lang="en-US" sz="700" dirty="0"/>
          </a:p>
        </p:txBody>
      </p:sp>
      <p:sp>
        <p:nvSpPr>
          <p:cNvPr id="7" name="Text 5"/>
          <p:cNvSpPr/>
          <p:nvPr/>
        </p:nvSpPr>
        <p:spPr>
          <a:xfrm>
            <a:off x="10710367" y="6473952"/>
            <a:ext cx="914400" cy="201168"/>
          </a:xfrm>
          <a:prstGeom prst="rect">
            <a:avLst/>
          </a:prstGeom>
          <a:noFill/>
          <a:ln/>
        </p:spPr>
        <p:txBody>
          <a:bodyPr wrap="square" lIns="0" tIns="0" rIns="0" bIns="0" rtlCol="0" anchor="ctr"/>
          <a:lstStyle/>
          <a:p>
            <a:pPr algn="r" indent="0" marL="0">
              <a:buNone/>
            </a:pPr>
            <a:r>
              <a:rPr lang="en-US" sz="800" spc="100" kern="0" dirty="0">
                <a:solidFill>
                  <a:srgbClr val="B9BDBE"/>
                </a:solidFill>
                <a:latin typeface="Work Sans" pitchFamily="34" charset="0"/>
                <a:ea typeface="Work Sans" pitchFamily="34" charset="-122"/>
                <a:cs typeface="Work Sans" pitchFamily="34" charset="-120"/>
              </a:rPr>
              <a:t>11</a:t>
            </a:r>
            <a:endParaRPr lang="en-US" sz="800" dirty="0"/>
          </a:p>
        </p:txBody>
      </p:sp>
      <p:sp>
        <p:nvSpPr>
          <p:cNvPr id="8" name="Text 6"/>
          <p:cNvSpPr/>
          <p:nvPr/>
        </p:nvSpPr>
        <p:spPr>
          <a:xfrm>
            <a:off x="566928" y="969264"/>
            <a:ext cx="11057839" cy="548640"/>
          </a:xfrm>
          <a:prstGeom prst="rect">
            <a:avLst/>
          </a:prstGeom>
          <a:noFill/>
          <a:ln/>
        </p:spPr>
        <p:txBody>
          <a:bodyPr wrap="square" lIns="0" tIns="0" rIns="0" bIns="0" rtlCol="0" anchor="ctr"/>
          <a:lstStyle/>
          <a:p>
            <a:pPr indent="0" marL="0">
              <a:buNone/>
            </a:pPr>
            <a:r>
              <a:rPr lang="en-US" sz="2400" dirty="0">
                <a:solidFill>
                  <a:srgbClr val="FFFFFF"/>
                </a:solidFill>
                <a:latin typeface="Work Sans" pitchFamily="34" charset="0"/>
                <a:ea typeface="Work Sans" pitchFamily="34" charset="-122"/>
                <a:cs typeface="Work Sans" pitchFamily="34" charset="-120"/>
              </a:rPr>
              <a:t>What to remember.</a:t>
            </a:r>
            <a:endParaRPr lang="en-US" sz="2400" dirty="0"/>
          </a:p>
        </p:txBody>
      </p:sp>
      <p:sp>
        <p:nvSpPr>
          <p:cNvPr id="9" name="Text 7"/>
          <p:cNvSpPr/>
          <p:nvPr/>
        </p:nvSpPr>
        <p:spPr>
          <a:xfrm>
            <a:off x="612648" y="1783080"/>
            <a:ext cx="6675120" cy="4023360"/>
          </a:xfrm>
          <a:prstGeom prst="rect">
            <a:avLst/>
          </a:prstGeom>
          <a:noFill/>
          <a:ln/>
        </p:spPr>
        <p:txBody>
          <a:bodyPr wrap="square" lIns="0" tIns="0" rIns="0" bIns="0" rtlCol="0" anchor="t"/>
          <a:lstStyle/>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Two routes, one inbox: form submissions arrive as email, and every email link is pre-addressed.</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Replies are one click — the sender rides on Reply-To of every form submission.</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Portal links pre-fill the subject — let them route the inbox.</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Watch the enquiries mailbox daily; log investment enquiries the same day.</a:t>
            </a:r>
            <a:endParaRPr lang="en-US" sz="1250" dirty="0"/>
          </a:p>
          <a:p>
            <a:pPr marL="177800" indent="-177800">
              <a:lnSpc>
                <a:spcPts val="1800"/>
              </a:lnSpc>
              <a:spcAft>
                <a:spcPts val="1200"/>
              </a:spcAft>
              <a:buSzPct val="100000"/>
              <a:buChar char="•"/>
            </a:pPr>
            <a:r>
              <a:rPr lang="en-US" sz="1250" dirty="0">
                <a:solidFill>
                  <a:srgbClr val="FFFFFF"/>
                </a:solidFill>
                <a:latin typeface="Work Sans" pitchFamily="34" charset="0"/>
                <a:ea typeface="Work Sans" pitchFamily="34" charset="-122"/>
                <a:cs typeface="Work Sans" pitchFamily="34" charset="-120"/>
              </a:rPr>
              <a:t>Sending fails loud, never silent — the visitor is shown the team's address if it ever can't send.</a:t>
            </a:r>
            <a:endParaRPr lang="en-US" sz="1250" dirty="0"/>
          </a:p>
        </p:txBody>
      </p:sp>
      <p:sp>
        <p:nvSpPr>
          <p:cNvPr id="10" name="Shape 8"/>
          <p:cNvSpPr/>
          <p:nvPr/>
        </p:nvSpPr>
        <p:spPr>
          <a:xfrm>
            <a:off x="7818120" y="1828800"/>
            <a:ext cx="0" cy="3291840"/>
          </a:xfrm>
          <a:prstGeom prst="line">
            <a:avLst/>
          </a:prstGeom>
          <a:noFill/>
          <a:ln w="9525">
            <a:solidFill>
              <a:srgbClr val="3A3A3A"/>
            </a:solidFill>
            <a:prstDash val="solid"/>
          </a:ln>
        </p:spPr>
      </p:sp>
      <p:sp>
        <p:nvSpPr>
          <p:cNvPr id="11" name="Text 9"/>
          <p:cNvSpPr/>
          <p:nvPr/>
        </p:nvSpPr>
        <p:spPr>
          <a:xfrm>
            <a:off x="8183880" y="1828800"/>
            <a:ext cx="3383280" cy="219456"/>
          </a:xfrm>
          <a:prstGeom prst="rect">
            <a:avLst/>
          </a:prstGeom>
          <a:noFill/>
          <a:ln/>
        </p:spPr>
        <p:txBody>
          <a:bodyPr wrap="square" lIns="0" tIns="0" rIns="0" bIns="0" rtlCol="0" anchor="ctr"/>
          <a:lstStyle/>
          <a:p>
            <a:pPr indent="0" marL="0">
              <a:buNone/>
            </a:pPr>
            <a:r>
              <a:rPr lang="en-US" sz="850" spc="240" kern="0" dirty="0">
                <a:solidFill>
                  <a:srgbClr val="B9BDBE"/>
                </a:solidFill>
                <a:latin typeface="Work Sans" pitchFamily="34" charset="0"/>
                <a:ea typeface="Work Sans" pitchFamily="34" charset="-122"/>
                <a:cs typeface="Work Sans" pitchFamily="34" charset="-120"/>
              </a:rPr>
              <a:t>WHERE TO GET HELP</a:t>
            </a:r>
            <a:endParaRPr lang="en-US" sz="850" dirty="0"/>
          </a:p>
        </p:txBody>
      </p:sp>
      <p:sp>
        <p:nvSpPr>
          <p:cNvPr id="12" name="Text 10"/>
          <p:cNvSpPr/>
          <p:nvPr/>
        </p:nvSpPr>
        <p:spPr>
          <a:xfrm>
            <a:off x="8183880" y="2194560"/>
            <a:ext cx="3429000" cy="3108960"/>
          </a:xfrm>
          <a:prstGeom prst="rect">
            <a:avLst/>
          </a:prstGeom>
          <a:noFill/>
          <a:ln/>
        </p:spPr>
        <p:txBody>
          <a:bodyPr wrap="square" lIns="0" tIns="0" rIns="0" bIns="0" rtlCol="0" anchor="t"/>
          <a:lstStyle/>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Mailbox access and passwords: managed with the domain at 123 Reg.</a:t>
            </a:r>
            <a:endParaRPr lang="en-US" sz="1050" dirty="0"/>
          </a:p>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Forms reporting send failures? Check SATIS_RESEND_API_KEY in Vercel first.</a:t>
            </a:r>
            <a:endParaRPr lang="en-US" sz="1050" dirty="0"/>
          </a:p>
          <a:p>
            <a:pPr indent="0" marL="0">
              <a:lnSpc>
                <a:spcPts val="1500"/>
              </a:lnSpc>
              <a:spcAft>
                <a:spcPts val="1000"/>
              </a:spcAft>
              <a:buNone/>
            </a:pPr>
            <a:r>
              <a:rPr lang="en-US" sz="1050" dirty="0">
                <a:solidFill>
                  <a:srgbClr val="B9BDBE"/>
                </a:solidFill>
                <a:latin typeface="Work Sans" pitchFamily="34" charset="0"/>
                <a:ea typeface="Work Sans" pitchFamily="34" charset="-122"/>
                <a:cs typeface="Work Sans" pitchFamily="34" charset="-120"/>
              </a:rPr>
              <a:t>Want addresses or wording changed? One-sentence Claude request.</a:t>
            </a:r>
            <a:endParaRPr lang="en-US" sz="1050" dirty="0"/>
          </a:p>
        </p:txBody>
      </p:sp>
      <p:sp>
        <p:nvSpPr>
          <p:cNvPr id="13" name="Text 11"/>
          <p:cNvSpPr/>
          <p:nvPr/>
        </p:nvSpPr>
        <p:spPr>
          <a:xfrm>
            <a:off x="0" y="5806440"/>
            <a:ext cx="12191695" cy="457200"/>
          </a:xfrm>
          <a:prstGeom prst="rect">
            <a:avLst/>
          </a:prstGeom>
          <a:noFill/>
          <a:ln/>
        </p:spPr>
        <p:txBody>
          <a:bodyPr wrap="square" lIns="0" tIns="0" rIns="0" bIns="0" rtlCol="0" anchor="ctr"/>
          <a:lstStyle/>
          <a:p>
            <a:pPr algn="ctr" indent="0" marL="0">
              <a:buNone/>
            </a:pPr>
            <a:r>
              <a:rPr lang="en-US" sz="2000" spc="1500" kern="0" dirty="0">
                <a:solidFill>
                  <a:srgbClr val="FFFFFF"/>
                </a:solidFill>
                <a:latin typeface="Work Sans" pitchFamily="34" charset="0"/>
                <a:ea typeface="Work Sans" pitchFamily="34" charset="-122"/>
                <a:cs typeface="Work Sans" pitchFamily="34" charset="-120"/>
              </a:rPr>
              <a:t>SATIS</a:t>
            </a:r>
            <a:endParaRPr lang="en-US" sz="2000" dirty="0"/>
          </a:p>
        </p:txBody>
      </p:sp>
      <p:sp>
        <p:nvSpPr>
          <p:cNvPr id="14" name="Text 12"/>
          <p:cNvSpPr/>
          <p:nvPr/>
        </p:nvSpPr>
        <p:spPr>
          <a:xfrm>
            <a:off x="0" y="6236208"/>
            <a:ext cx="12191695" cy="219456"/>
          </a:xfrm>
          <a:prstGeom prst="rect">
            <a:avLst/>
          </a:prstGeom>
          <a:noFill/>
          <a:ln/>
        </p:spPr>
        <p:txBody>
          <a:bodyPr wrap="square" lIns="0" tIns="0" rIns="0" bIns="0" rtlCol="0" anchor="ctr"/>
          <a:lstStyle/>
          <a:p>
            <a:pPr algn="ctr" indent="0" marL="0">
              <a:buNone/>
            </a:pPr>
            <a:r>
              <a:rPr lang="en-US" sz="750" spc="600" kern="0" dirty="0">
                <a:solidFill>
                  <a:srgbClr val="B9BDBE"/>
                </a:solidFill>
                <a:latin typeface="Work Sans" pitchFamily="34" charset="0"/>
                <a:ea typeface="Work Sans" pitchFamily="34" charset="-122"/>
                <a:cs typeface="Work Sans" pitchFamily="34" charset="-120"/>
              </a:rPr>
              <a:t>GROUP</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Satis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Contact &amp; email.</dc:title>
  <dc:subject>PptxGenJS Presentation</dc:subject>
  <dc:creator>Satis Group</dc:creator>
  <cp:lastModifiedBy>Satis Group</cp:lastModifiedBy>
  <cp:revision>1</cp:revision>
  <dcterms:created xsi:type="dcterms:W3CDTF">2026-08-19T17:56:14Z</dcterms:created>
  <dcterms:modified xsi:type="dcterms:W3CDTF">2026-08-19T17:56:14Z</dcterms:modified>
</cp:coreProperties>
</file>