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the Satis Appraisal agent, the desktop application, not the website. We'll cover what it does, where to download it, installing on Windows and Mac including the security prompts, connecting the AI features, and how the pricing research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the app in the toolchain: the website presents developments; this app appraises potential ones. It mirrors the Satis Appraisal Model workbook, so numbers land in a familiar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step is the point: this isn't a drawing tool, it's an appraisal tool. Everything upstream exists to feed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always resolves “latest”, so never circulate saved installers. Send colleagues to the page instead. Earlier versions remain available via the releases link at the bottom of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the security prompts out loud (“More info → Run anyway” on Windows, Control-click → Open on Mac) because that's the moment people stall and call for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team should use Option A: no keys to manage. Make clear the app degrades gracefully. No connection just means importing floorplans via DXF or typing floors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principle to voice: the app shows its working (range, reasoning, sources) precisely so a human can disagree. Encourage recording tender results; anchored estimates beat generic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Improvement requests for the app go to the Appraisalapplication repository. A Claude session works there exactly as it does on the website repo. That's the bridge to webinar 01's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takeaways, answer questions, and point everyone at the written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tmp/claude-0/-home-user-satis-group-website/ff8ab6f4-f9c2-556a-89f3-8bea05ba205c/build/assets/cover-appraisal.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Shape 1"/>
          <p:cNvSpPr/>
          <p:nvPr/>
        </p:nvSpPr>
        <p:spPr>
          <a:xfrm>
            <a:off x="566928" y="566928"/>
            <a:ext cx="11057839" cy="0"/>
          </a:xfrm>
          <a:prstGeom prst="line">
            <a:avLst/>
          </a:prstGeom>
          <a:noFill/>
          <a:ln w="9525">
            <a:solidFill>
              <a:srgbClr val="FFFFFF"/>
            </a:solidFill>
            <a:prstDash val="solid"/>
          </a:ln>
        </p:spPr>
      </p:sp>
      <p:sp>
        <p:nvSpPr>
          <p:cNvPr id="5" name="Text 2"/>
          <p:cNvSpPr/>
          <p:nvPr/>
        </p:nvSpPr>
        <p:spPr>
          <a:xfrm>
            <a:off x="566928" y="713232"/>
            <a:ext cx="11057839" cy="274320"/>
          </a:xfrm>
          <a:prstGeom prst="rect">
            <a:avLst/>
          </a:prstGeom>
          <a:noFill/>
          <a:ln/>
        </p:spPr>
        <p:txBody>
          <a:bodyPr wrap="square" lIns="0" tIns="0" rIns="0" bIns="0" rtlCol="0" anchor="ctr"/>
          <a:lstStyle/>
          <a:p>
            <a:pPr indent="0" marL="0">
              <a:buNone/>
            </a:pPr>
            <a:r>
              <a:rPr lang="en-US" sz="950" spc="300" kern="0" dirty="0">
                <a:solidFill>
                  <a:srgbClr val="FFFFFF"/>
                </a:solidFill>
                <a:latin typeface="Work Sans" pitchFamily="34" charset="0"/>
                <a:ea typeface="Work Sans" pitchFamily="34" charset="-122"/>
                <a:cs typeface="Work Sans" pitchFamily="34" charset="-120"/>
              </a:rPr>
              <a:t>SATIS GROUP · BACKEND WEBINAR SERIES</a:t>
            </a:r>
            <a:endParaRPr lang="en-US" sz="950" dirty="0"/>
          </a:p>
        </p:txBody>
      </p:sp>
      <p:sp>
        <p:nvSpPr>
          <p:cNvPr id="6" name="Text 3"/>
          <p:cNvSpPr/>
          <p:nvPr/>
        </p:nvSpPr>
        <p:spPr>
          <a:xfrm>
            <a:off x="0" y="2304288"/>
            <a:ext cx="12191695" cy="777240"/>
          </a:xfrm>
          <a:prstGeom prst="rect">
            <a:avLst/>
          </a:prstGeom>
          <a:noFill/>
          <a:ln/>
        </p:spPr>
        <p:txBody>
          <a:bodyPr wrap="square" lIns="0" tIns="0" rIns="0" bIns="0" rtlCol="0" anchor="ctr"/>
          <a:lstStyle/>
          <a:p>
            <a:pPr algn="ctr" indent="0" marL="0">
              <a:buNone/>
            </a:pPr>
            <a:r>
              <a:rPr lang="en-US" sz="4000" spc="3000" kern="0" dirty="0">
                <a:solidFill>
                  <a:srgbClr val="FFFFFF"/>
                </a:solidFill>
                <a:latin typeface="Work Sans" pitchFamily="34" charset="0"/>
                <a:ea typeface="Work Sans" pitchFamily="34" charset="-122"/>
                <a:cs typeface="Work Sans" pitchFamily="34" charset="-120"/>
              </a:rPr>
              <a:t>SATIS</a:t>
            </a:r>
            <a:endParaRPr lang="en-US" sz="4000" dirty="0"/>
          </a:p>
        </p:txBody>
      </p:sp>
      <p:sp>
        <p:nvSpPr>
          <p:cNvPr id="7" name="Text 4"/>
          <p:cNvSpPr/>
          <p:nvPr/>
        </p:nvSpPr>
        <p:spPr>
          <a:xfrm>
            <a:off x="0" y="3090672"/>
            <a:ext cx="12191695" cy="274320"/>
          </a:xfrm>
          <a:prstGeom prst="rect">
            <a:avLst/>
          </a:prstGeom>
          <a:noFill/>
          <a:ln/>
        </p:spPr>
        <p:txBody>
          <a:bodyPr wrap="square" lIns="0" tIns="0" rIns="0" bIns="0" rtlCol="0" anchor="ctr"/>
          <a:lstStyle/>
          <a:p>
            <a:pPr algn="ctr" indent="0" marL="0">
              <a:buNone/>
            </a:pPr>
            <a:r>
              <a:rPr lang="en-US" sz="1250" spc="1100" kern="0" dirty="0">
                <a:solidFill>
                  <a:srgbClr val="FFFFFF"/>
                </a:solidFill>
                <a:latin typeface="Work Sans" pitchFamily="34" charset="0"/>
                <a:ea typeface="Work Sans" pitchFamily="34" charset="-122"/>
                <a:cs typeface="Work Sans" pitchFamily="34" charset="-120"/>
              </a:rPr>
              <a:t>GROUP</a:t>
            </a:r>
            <a:endParaRPr lang="en-US" sz="1250" dirty="0"/>
          </a:p>
        </p:txBody>
      </p:sp>
      <p:sp>
        <p:nvSpPr>
          <p:cNvPr id="8" name="Text 5"/>
          <p:cNvSpPr/>
          <p:nvPr/>
        </p:nvSpPr>
        <p:spPr>
          <a:xfrm>
            <a:off x="1371600" y="3913632"/>
            <a:ext cx="9448495" cy="640080"/>
          </a:xfrm>
          <a:prstGeom prst="rect">
            <a:avLst/>
          </a:prstGeom>
          <a:noFill/>
          <a:ln/>
        </p:spPr>
        <p:txBody>
          <a:bodyPr wrap="square" lIns="0" tIns="0" rIns="0" bIns="0" rtlCol="0" anchor="ctr"/>
          <a:lstStyle/>
          <a:p>
            <a:pPr algn="ctr" indent="0" marL="0">
              <a:buNone/>
            </a:pPr>
            <a:r>
              <a:rPr lang="en-US" sz="2700" dirty="0">
                <a:solidFill>
                  <a:srgbClr val="FFFFFF"/>
                </a:solidFill>
                <a:latin typeface="Work Sans" pitchFamily="34" charset="0"/>
                <a:ea typeface="Work Sans" pitchFamily="34" charset="-122"/>
                <a:cs typeface="Work Sans" pitchFamily="34" charset="-120"/>
              </a:rPr>
              <a:t>The Satis Appraisal agent.</a:t>
            </a:r>
            <a:endParaRPr lang="en-US" sz="2700" dirty="0"/>
          </a:p>
        </p:txBody>
      </p:sp>
      <p:sp>
        <p:nvSpPr>
          <p:cNvPr id="9" name="Text 6"/>
          <p:cNvSpPr/>
          <p:nvPr/>
        </p:nvSpPr>
        <p:spPr>
          <a:xfrm>
            <a:off x="2194560" y="4590288"/>
            <a:ext cx="7802575" cy="566928"/>
          </a:xfrm>
          <a:prstGeom prst="rect">
            <a:avLst/>
          </a:prstGeom>
          <a:noFill/>
          <a:ln/>
        </p:spPr>
        <p:txBody>
          <a:bodyPr wrap="square" lIns="0" tIns="0" rIns="0" bIns="0" rtlCol="0" anchor="ctr"/>
          <a:lstStyle/>
          <a:p>
            <a:pPr algn="ctr" indent="0" marL="0">
              <a:lnSpc>
                <a:spcPts val="1700"/>
              </a:lnSpc>
              <a:buNone/>
            </a:pPr>
            <a:r>
              <a:rPr lang="en-US" sz="1200" dirty="0">
                <a:solidFill>
                  <a:srgbClr val="E8EAEA"/>
                </a:solidFill>
                <a:latin typeface="Work Sans" pitchFamily="34" charset="0"/>
                <a:ea typeface="Work Sans" pitchFamily="34" charset="-122"/>
                <a:cs typeface="Work Sans" pitchFamily="34" charset="-120"/>
              </a:rPr>
              <a:t>Downloading, installing and getting value from the desktop app that turns floorplans into full development appraisals.</a:t>
            </a:r>
            <a:endParaRPr lang="en-US" sz="1200" dirty="0"/>
          </a:p>
        </p:txBody>
      </p:sp>
      <p:sp>
        <p:nvSpPr>
          <p:cNvPr id="10" name="Text 7"/>
          <p:cNvSpPr/>
          <p:nvPr/>
        </p:nvSpPr>
        <p:spPr>
          <a:xfrm>
            <a:off x="566928" y="6327648"/>
            <a:ext cx="11057839" cy="237744"/>
          </a:xfrm>
          <a:prstGeom prst="rect">
            <a:avLst/>
          </a:prstGeom>
          <a:noFill/>
          <a:ln/>
        </p:spPr>
        <p:txBody>
          <a:bodyPr wrap="square" lIns="0" tIns="0" rIns="0" bIns="0" rtlCol="0" anchor="ctr"/>
          <a:lstStyle/>
          <a:p>
            <a:pPr algn="ctr" indent="0" marL="0">
              <a:buNone/>
            </a:pPr>
            <a:r>
              <a:rPr lang="en-US" sz="850" spc="300" kern="0" dirty="0">
                <a:solidFill>
                  <a:srgbClr val="D8DADA"/>
                </a:solidFill>
                <a:latin typeface="Work Sans" pitchFamily="34" charset="0"/>
                <a:ea typeface="Work Sans" pitchFamily="34" charset="-122"/>
                <a:cs typeface="Work Sans" pitchFamily="34" charset="-120"/>
              </a:rPr>
              <a:t>BACKEND WEBINAR 05 OF 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IN THIS WEBINAR</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02</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this session covers.</a:t>
            </a:r>
            <a:endParaRPr lang="en-US" sz="2500" dirty="0"/>
          </a:p>
        </p:txBody>
      </p:sp>
      <p:sp>
        <p:nvSpPr>
          <p:cNvPr id="9" name="Text 7"/>
          <p:cNvSpPr/>
          <p:nvPr/>
        </p:nvSpPr>
        <p:spPr>
          <a:xfrm>
            <a:off x="566928" y="1499616"/>
            <a:ext cx="87782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desktop application for Windows and Mac, downloaded from the admin area. Distributed privately by Satis Group.</a:t>
            </a:r>
            <a:endParaRPr lang="en-US" sz="1150" dirty="0"/>
          </a:p>
        </p:txBody>
      </p:sp>
      <p:sp>
        <p:nvSpPr>
          <p:cNvPr id="10" name="Text 8"/>
          <p:cNvSpPr/>
          <p:nvPr/>
        </p:nvSpPr>
        <p:spPr>
          <a:xfrm>
            <a:off x="56692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01</a:t>
            </a:r>
            <a:endParaRPr lang="en-US" sz="1100" dirty="0"/>
          </a:p>
        </p:txBody>
      </p:sp>
      <p:sp>
        <p:nvSpPr>
          <p:cNvPr id="11" name="Text 9"/>
          <p:cNvSpPr/>
          <p:nvPr/>
        </p:nvSpPr>
        <p:spPr>
          <a:xfrm>
            <a:off x="106984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What it is and does</a:t>
            </a:r>
            <a:endParaRPr lang="en-US" sz="1250" dirty="0"/>
          </a:p>
        </p:txBody>
      </p:sp>
      <p:sp>
        <p:nvSpPr>
          <p:cNvPr id="12" name="Text 10"/>
          <p:cNvSpPr/>
          <p:nvPr/>
        </p:nvSpPr>
        <p:spPr>
          <a:xfrm>
            <a:off x="106984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Floorplans in, appraised conversion options out.</a:t>
            </a:r>
            <a:endParaRPr lang="en-US" sz="950" dirty="0"/>
          </a:p>
        </p:txBody>
      </p:sp>
      <p:sp>
        <p:nvSpPr>
          <p:cNvPr id="13" name="Text 11"/>
          <p:cNvSpPr/>
          <p:nvPr/>
        </p:nvSpPr>
        <p:spPr>
          <a:xfrm>
            <a:off x="56692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02</a:t>
            </a:r>
            <a:endParaRPr lang="en-US" sz="1100" dirty="0"/>
          </a:p>
        </p:txBody>
      </p:sp>
      <p:sp>
        <p:nvSpPr>
          <p:cNvPr id="14" name="Text 12"/>
          <p:cNvSpPr/>
          <p:nvPr/>
        </p:nvSpPr>
        <p:spPr>
          <a:xfrm>
            <a:off x="106984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Where to download</a:t>
            </a:r>
            <a:endParaRPr lang="en-US" sz="1250" dirty="0"/>
          </a:p>
        </p:txBody>
      </p:sp>
      <p:sp>
        <p:nvSpPr>
          <p:cNvPr id="15" name="Text 13"/>
          <p:cNvSpPr/>
          <p:nvPr/>
        </p:nvSpPr>
        <p:spPr>
          <a:xfrm>
            <a:off x="106984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admin's Appraisal page. Always the newest version.</a:t>
            </a:r>
            <a:endParaRPr lang="en-US" sz="950" dirty="0"/>
          </a:p>
        </p:txBody>
      </p:sp>
      <p:sp>
        <p:nvSpPr>
          <p:cNvPr id="16" name="Text 14"/>
          <p:cNvSpPr/>
          <p:nvPr/>
        </p:nvSpPr>
        <p:spPr>
          <a:xfrm>
            <a:off x="56692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03</a:t>
            </a:r>
            <a:endParaRPr lang="en-US" sz="1100" dirty="0"/>
          </a:p>
        </p:txBody>
      </p:sp>
      <p:sp>
        <p:nvSpPr>
          <p:cNvPr id="17" name="Text 15"/>
          <p:cNvSpPr/>
          <p:nvPr/>
        </p:nvSpPr>
        <p:spPr>
          <a:xfrm>
            <a:off x="106984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Installing</a:t>
            </a:r>
            <a:endParaRPr lang="en-US" sz="1250" dirty="0"/>
          </a:p>
        </p:txBody>
      </p:sp>
      <p:sp>
        <p:nvSpPr>
          <p:cNvPr id="18" name="Text 16"/>
          <p:cNvSpPr/>
          <p:nvPr/>
        </p:nvSpPr>
        <p:spPr>
          <a:xfrm>
            <a:off x="106984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Windows and Mac, including the one-time security prompts.</a:t>
            </a:r>
            <a:endParaRPr lang="en-US" sz="950" dirty="0"/>
          </a:p>
        </p:txBody>
      </p:sp>
      <p:sp>
        <p:nvSpPr>
          <p:cNvPr id="19" name="Text 17"/>
          <p:cNvSpPr/>
          <p:nvPr/>
        </p:nvSpPr>
        <p:spPr>
          <a:xfrm>
            <a:off x="634730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04</a:t>
            </a:r>
            <a:endParaRPr lang="en-US" sz="1100" dirty="0"/>
          </a:p>
        </p:txBody>
      </p:sp>
      <p:sp>
        <p:nvSpPr>
          <p:cNvPr id="20" name="Text 18"/>
          <p:cNvSpPr/>
          <p:nvPr/>
        </p:nvSpPr>
        <p:spPr>
          <a:xfrm>
            <a:off x="685022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Connecting the AI features</a:t>
            </a:r>
            <a:endParaRPr lang="en-US" sz="1250" dirty="0"/>
          </a:p>
        </p:txBody>
      </p:sp>
      <p:sp>
        <p:nvSpPr>
          <p:cNvPr id="21" name="Text 19"/>
          <p:cNvSpPr/>
          <p:nvPr/>
        </p:nvSpPr>
        <p:spPr>
          <a:xfrm>
            <a:off x="685022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A Claude account or API key, and what works without.</a:t>
            </a:r>
            <a:endParaRPr lang="en-US" sz="950" dirty="0"/>
          </a:p>
        </p:txBody>
      </p:sp>
      <p:sp>
        <p:nvSpPr>
          <p:cNvPr id="22" name="Text 20"/>
          <p:cNvSpPr/>
          <p:nvPr/>
        </p:nvSpPr>
        <p:spPr>
          <a:xfrm>
            <a:off x="634730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05</a:t>
            </a:r>
            <a:endParaRPr lang="en-US" sz="1100" dirty="0"/>
          </a:p>
        </p:txBody>
      </p:sp>
      <p:sp>
        <p:nvSpPr>
          <p:cNvPr id="23" name="Text 21"/>
          <p:cNvSpPr/>
          <p:nvPr/>
        </p:nvSpPr>
        <p:spPr>
          <a:xfrm>
            <a:off x="685022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Pricing step</a:t>
            </a:r>
            <a:endParaRPr lang="en-US" sz="1250" dirty="0"/>
          </a:p>
        </p:txBody>
      </p:sp>
      <p:sp>
        <p:nvSpPr>
          <p:cNvPr id="24" name="Text 22"/>
          <p:cNvSpPr/>
          <p:nvPr/>
        </p:nvSpPr>
        <p:spPr>
          <a:xfrm>
            <a:off x="685022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Live market evidence with sources, applied only when you choose.</a:t>
            </a:r>
            <a:endParaRPr lang="en-US" sz="950" dirty="0"/>
          </a:p>
        </p:txBody>
      </p:sp>
      <p:sp>
        <p:nvSpPr>
          <p:cNvPr id="25" name="Text 23"/>
          <p:cNvSpPr/>
          <p:nvPr/>
        </p:nvSpPr>
        <p:spPr>
          <a:xfrm>
            <a:off x="634730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06</a:t>
            </a:r>
            <a:endParaRPr lang="en-US" sz="1100" dirty="0"/>
          </a:p>
        </p:txBody>
      </p:sp>
      <p:sp>
        <p:nvSpPr>
          <p:cNvPr id="26" name="Text 24"/>
          <p:cNvSpPr/>
          <p:nvPr/>
        </p:nvSpPr>
        <p:spPr>
          <a:xfrm>
            <a:off x="685022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Staying current</a:t>
            </a:r>
            <a:endParaRPr lang="en-US" sz="1250" dirty="0"/>
          </a:p>
        </p:txBody>
      </p:sp>
      <p:sp>
        <p:nvSpPr>
          <p:cNvPr id="27" name="Text 25"/>
          <p:cNvSpPr/>
          <p:nvPr/>
        </p:nvSpPr>
        <p:spPr>
          <a:xfrm>
            <a:off x="685022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Updates, versions, and where the app lives.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WHAT IT DOES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03</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From a floorplan to an appraised scheme.</a:t>
            </a:r>
            <a:endParaRPr lang="en-US" sz="2500" dirty="0"/>
          </a:p>
        </p:txBody>
      </p:sp>
      <p:sp>
        <p:nvSpPr>
          <p:cNvPr id="9" name="Text 7"/>
          <p:cNvSpPr/>
          <p:nvPr/>
        </p:nvSpPr>
        <p:spPr>
          <a:xfrm>
            <a:off x="566928" y="1517904"/>
            <a:ext cx="704088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app works through a building the way the team does, mirroring the Satis Appraisal Model workbook:</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Import floorplans of an existing building</a:t>
            </a:r>
            <a:endParaRPr lang="en-US" sz="1200" dirty="0"/>
          </a:p>
        </p:txBody>
      </p:sp>
      <p:sp>
        <p:nvSpPr>
          <p:cNvPr id="13" name="Text 11"/>
          <p:cNvSpPr/>
          <p:nvPr/>
        </p:nvSpPr>
        <p:spPr>
          <a:xfrm>
            <a:off x="987552" y="2377440"/>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From PDFs and photos (with AI connected), from DXF files, or by entering floors manually.</a:t>
            </a:r>
            <a:endParaRPr lang="en-US" sz="1050" dirty="0"/>
          </a:p>
        </p:txBody>
      </p:sp>
      <p:sp>
        <p:nvSpPr>
          <p:cNvPr id="14" name="Shape 12"/>
          <p:cNvSpPr/>
          <p:nvPr/>
        </p:nvSpPr>
        <p:spPr>
          <a:xfrm>
            <a:off x="566928" y="2952750"/>
            <a:ext cx="246888" cy="246888"/>
          </a:xfrm>
          <a:prstGeom prst="ellipse">
            <a:avLst/>
          </a:prstGeom>
          <a:solidFill>
            <a:srgbClr val="B3400C"/>
          </a:solidFill>
          <a:ln/>
        </p:spPr>
      </p:sp>
      <p:sp>
        <p:nvSpPr>
          <p:cNvPr id="15" name="Text 13"/>
          <p:cNvSpPr/>
          <p:nvPr/>
        </p:nvSpPr>
        <p:spPr>
          <a:xfrm>
            <a:off x="521208" y="292714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939034"/>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Generate conversion options</a:t>
            </a:r>
            <a:endParaRPr lang="en-US" sz="1200" dirty="0"/>
          </a:p>
        </p:txBody>
      </p:sp>
      <p:sp>
        <p:nvSpPr>
          <p:cNvPr id="17" name="Text 15"/>
          <p:cNvSpPr/>
          <p:nvPr/>
        </p:nvSpPr>
        <p:spPr>
          <a:xfrm>
            <a:off x="987552" y="3213354"/>
            <a:ext cx="6803136" cy="225933"/>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The ways the building could be converted: layouts generated and compared.</a:t>
            </a:r>
            <a:endParaRPr lang="en-US" sz="1050" dirty="0"/>
          </a:p>
        </p:txBody>
      </p:sp>
      <p:sp>
        <p:nvSpPr>
          <p:cNvPr id="18" name="Shape 16"/>
          <p:cNvSpPr/>
          <p:nvPr/>
        </p:nvSpPr>
        <p:spPr>
          <a:xfrm>
            <a:off x="566928" y="3599307"/>
            <a:ext cx="246888" cy="246888"/>
          </a:xfrm>
          <a:prstGeom prst="ellipse">
            <a:avLst/>
          </a:prstGeom>
          <a:solidFill>
            <a:srgbClr val="B3400C"/>
          </a:solidFill>
          <a:ln/>
        </p:spPr>
      </p:sp>
      <p:sp>
        <p:nvSpPr>
          <p:cNvPr id="19" name="Text 17"/>
          <p:cNvSpPr/>
          <p:nvPr/>
        </p:nvSpPr>
        <p:spPr>
          <a:xfrm>
            <a:off x="521208" y="3573704"/>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585591"/>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Check every layout against UK minimum-space rules</a:t>
            </a:r>
            <a:endParaRPr lang="en-US" sz="1200" dirty="0"/>
          </a:p>
        </p:txBody>
      </p:sp>
      <p:sp>
        <p:nvSpPr>
          <p:cNvPr id="21" name="Text 19"/>
          <p:cNvSpPr/>
          <p:nvPr/>
        </p:nvSpPr>
        <p:spPr>
          <a:xfrm>
            <a:off x="987552" y="3859911"/>
            <a:ext cx="6803136" cy="225933"/>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Non-compliant layouts are flagged before they waste appraisal time.</a:t>
            </a:r>
            <a:endParaRPr lang="en-US" sz="1050" dirty="0"/>
          </a:p>
        </p:txBody>
      </p:sp>
      <p:sp>
        <p:nvSpPr>
          <p:cNvPr id="22" name="Shape 20"/>
          <p:cNvSpPr/>
          <p:nvPr/>
        </p:nvSpPr>
        <p:spPr>
          <a:xfrm>
            <a:off x="566928" y="4245864"/>
            <a:ext cx="246888" cy="246888"/>
          </a:xfrm>
          <a:prstGeom prst="ellipse">
            <a:avLst/>
          </a:prstGeom>
          <a:solidFill>
            <a:srgbClr val="B3400C"/>
          </a:solidFill>
          <a:ln/>
        </p:spPr>
      </p:sp>
      <p:sp>
        <p:nvSpPr>
          <p:cNvPr id="23" name="Text 21"/>
          <p:cNvSpPr/>
          <p:nvPr/>
        </p:nvSpPr>
        <p:spPr>
          <a:xfrm>
            <a:off x="521208" y="422026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4" name="Text 22"/>
          <p:cNvSpPr/>
          <p:nvPr/>
        </p:nvSpPr>
        <p:spPr>
          <a:xfrm>
            <a:off x="987552" y="4232148"/>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Run a full development appraisal of each option</a:t>
            </a:r>
            <a:endParaRPr lang="en-US" sz="1200" dirty="0"/>
          </a:p>
        </p:txBody>
      </p:sp>
      <p:sp>
        <p:nvSpPr>
          <p:cNvPr id="25" name="Text 23"/>
          <p:cNvSpPr/>
          <p:nvPr/>
        </p:nvSpPr>
        <p:spPr>
          <a:xfrm>
            <a:off x="987552" y="4506468"/>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Costs, values, finance and returns per option. Stamp duty calculates itself from HMRC bands.</a:t>
            </a:r>
            <a:endParaRPr lang="en-US" sz="1050" dirty="0"/>
          </a:p>
        </p:txBody>
      </p:sp>
      <p:sp>
        <p:nvSpPr>
          <p:cNvPr id="26" name="Shape 24"/>
          <p:cNvSpPr/>
          <p:nvPr/>
        </p:nvSpPr>
        <p:spPr>
          <a:xfrm>
            <a:off x="8247888" y="1618488"/>
            <a:ext cx="3376879" cy="1691640"/>
          </a:xfrm>
          <a:prstGeom prst="rect">
            <a:avLst/>
          </a:prstGeom>
          <a:solidFill>
            <a:srgbClr val="ECEEEE"/>
          </a:solidFill>
          <a:ln/>
        </p:spPr>
      </p:sp>
      <p:sp>
        <p:nvSpPr>
          <p:cNvPr id="27" name="Text 25"/>
          <p:cNvSpPr/>
          <p:nvPr/>
        </p:nvSpPr>
        <p:spPr>
          <a:xfrm>
            <a:off x="8467344" y="1764792"/>
            <a:ext cx="293796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8" name="Text 26"/>
          <p:cNvSpPr/>
          <p:nvPr/>
        </p:nvSpPr>
        <p:spPr>
          <a:xfrm>
            <a:off x="8467344" y="1984248"/>
            <a:ext cx="2937967" cy="118872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Why it exists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Appraising three conversion options of one building used to be three workbooks. Here it is one import and a comparison.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DOWNLOADING</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04</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One page, always the newest version.</a:t>
            </a:r>
            <a:endParaRPr lang="en-US" sz="2500" dirty="0"/>
          </a:p>
        </p:txBody>
      </p:sp>
      <p:sp>
        <p:nvSpPr>
          <p:cNvPr id="9" name="Text 7"/>
          <p:cNvSpPr/>
          <p:nvPr/>
        </p:nvSpPr>
        <p:spPr>
          <a:xfrm>
            <a:off x="566928" y="1618488"/>
            <a:ext cx="3931920" cy="4297680"/>
          </a:xfrm>
          <a:prstGeom prst="rect">
            <a:avLst/>
          </a:prstGeom>
          <a:noFill/>
          <a:ln/>
        </p:spPr>
        <p:txBody>
          <a:bodyPr wrap="square" lIns="0" tIns="0" rIns="0" bIns="0" rtlCol="0" anchor="t"/>
          <a:lstStyle/>
          <a:p>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From the control room, open the Appraisal agent download card. Two buttons (Windows and Mac) always give you the newest version; there is nothing to configure.
</a:t>
            </a:r>
            <a:pPr indent="0" marL="0">
              <a:lnSpc>
                <a:spcPts val="1600"/>
              </a:lnSpc>
              <a:spcAft>
                <a:spcPts val="1000"/>
              </a:spcAft>
              <a:buNone/>
            </a:pPr>
            <a:r>
              <a:rPr lang="en-US" sz="1050" dirty="0">
                <a:solidFill>
                  <a:srgbClr val="5C6366"/>
                </a:solidFill>
                <a:latin typeface="Work Sans" pitchFamily="34" charset="0"/>
                <a:ea typeface="Work Sans" pitchFamily="34" charset="-122"/>
                <a:cs typeface="Work Sans" pitchFamily="34" charset="-120"/>
              </a:rPr>
              <a:t>Windows: Satis-Appraisal-Setup.exe · Windows 10 or newer.
</a:t>
            </a:r>
            <a:pPr indent="0" marL="0">
              <a:lnSpc>
                <a:spcPts val="1600"/>
              </a:lnSpc>
              <a:spcAft>
                <a:spcPts val="1000"/>
              </a:spcAft>
              <a:buNone/>
            </a:pPr>
            <a:r>
              <a:rPr lang="en-US" sz="1050" dirty="0">
                <a:solidFill>
                  <a:srgbClr val="5C6366"/>
                </a:solidFill>
                <a:latin typeface="Work Sans" pitchFamily="34" charset="0"/>
                <a:ea typeface="Work Sans" pitchFamily="34" charset="-122"/>
                <a:cs typeface="Work Sans" pitchFamily="34" charset="-120"/>
              </a:rPr>
              <a:t>Mac: Satis-Appraisal.dmg · Apple silicon &amp; Intel.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The page shows the latest version number, and the same buttons reinstall or update. Just download and run again.
</a:t>
            </a:r>
            <a:endParaRPr lang="en-US" sz="1100" dirty="0"/>
          </a:p>
        </p:txBody>
      </p:sp>
      <p:pic>
        <p:nvPicPr>
          <p:cNvPr id="10" name="Image 0" descr="/tmp/claude-0/-home-user-satis-group-website/ff8ab6f4-f9c2-556a-89f3-8bea05ba205c/build/assets/appraisal-top.png">    </p:cNvPr>
          <p:cNvPicPr>
            <a:picLocks noChangeAspect="1"/>
          </p:cNvPicPr>
          <p:nvPr/>
        </p:nvPicPr>
        <p:blipFill>
          <a:blip r:embed="rId1"/>
          <a:stretch>
            <a:fillRect/>
          </a:stretch>
        </p:blipFill>
        <p:spPr>
          <a:xfrm>
            <a:off x="4910328" y="2502870"/>
            <a:ext cx="6714439" cy="2839813"/>
          </a:xfrm>
          <a:prstGeom prst="rect">
            <a:avLst/>
          </a:prstGeom>
        </p:spPr>
      </p:pic>
      <p:sp>
        <p:nvSpPr>
          <p:cNvPr id="11" name="Shape 8"/>
          <p:cNvSpPr/>
          <p:nvPr/>
        </p:nvSpPr>
        <p:spPr>
          <a:xfrm>
            <a:off x="4910328" y="2502870"/>
            <a:ext cx="6714439" cy="2839813"/>
          </a:xfrm>
          <a:prstGeom prst="rect">
            <a:avLst/>
          </a:prstGeom>
          <a:ln w="12700">
            <a:solidFill>
              <a:srgbClr val="CED1D2"/>
            </a:solidFill>
            <a:prstDash val="solid"/>
          </a:ln>
        </p:spPr>
      </p:sp>
      <p:sp>
        <p:nvSpPr>
          <p:cNvPr id="12" name="Text 9"/>
          <p:cNvSpPr/>
          <p:nvPr/>
        </p:nvSpPr>
        <p:spPr>
          <a:xfrm>
            <a:off x="4910328" y="5406690"/>
            <a:ext cx="6714439"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The Appraisal agent download page at /admin/appraisal, with the current version shown.</a:t>
            </a:r>
            <a:endParaRPr lang="en-US" sz="850" dirty="0"/>
          </a:p>
        </p:txBody>
      </p:sp>
      <p:sp>
        <p:nvSpPr>
          <p:cNvPr id="13" name="Shape 10"/>
          <p:cNvSpPr/>
          <p:nvPr/>
        </p:nvSpPr>
        <p:spPr>
          <a:xfrm>
            <a:off x="566928" y="5074920"/>
            <a:ext cx="3931920" cy="1051560"/>
          </a:xfrm>
          <a:prstGeom prst="rect">
            <a:avLst/>
          </a:prstGeom>
          <a:solidFill>
            <a:srgbClr val="ECEEEE"/>
          </a:solidFill>
          <a:ln/>
        </p:spPr>
      </p:sp>
      <p:sp>
        <p:nvSpPr>
          <p:cNvPr id="14" name="Text 11"/>
          <p:cNvSpPr/>
          <p:nvPr/>
        </p:nvSpPr>
        <p:spPr>
          <a:xfrm>
            <a:off x="786384" y="5221224"/>
            <a:ext cx="3493008"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5" name="Text 12"/>
          <p:cNvSpPr/>
          <p:nvPr/>
        </p:nvSpPr>
        <p:spPr>
          <a:xfrm>
            <a:off x="786384" y="5440680"/>
            <a:ext cx="3493008" cy="54864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Signed in required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download page is part of the admin area. Sign in at /admin first.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INSTALLING</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05</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Installing, and the one-time security prompt.</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app is distributed privately by Satis Group rather than through the Microsoft Store or App Store, so each system asks once for confirmation. This is expected. Here is exactly what to click:</a:t>
            </a:r>
            <a:endParaRPr lang="en-US" sz="1150" dirty="0"/>
          </a:p>
        </p:txBody>
      </p:sp>
      <p:sp>
        <p:nvSpPr>
          <p:cNvPr id="10" name="Text 8"/>
          <p:cNvSpPr/>
          <p:nvPr/>
        </p:nvSpPr>
        <p:spPr>
          <a:xfrm>
            <a:off x="566928" y="2240280"/>
            <a:ext cx="5208880" cy="219456"/>
          </a:xfrm>
          <a:prstGeom prst="rect">
            <a:avLst/>
          </a:prstGeom>
          <a:noFill/>
          <a:ln/>
        </p:spPr>
        <p:txBody>
          <a:bodyPr wrap="square" lIns="0" tIns="0" rIns="0" bIns="0" rtlCol="0" anchor="ctr"/>
          <a:lstStyle/>
          <a:p>
            <a:pPr indent="0" marL="0">
              <a:buNone/>
            </a:pPr>
            <a:r>
              <a:rPr lang="en-US" sz="900" spc="220" kern="0" dirty="0">
                <a:solidFill>
                  <a:srgbClr val="5C6366"/>
                </a:solidFill>
                <a:latin typeface="Work Sans" pitchFamily="34" charset="0"/>
                <a:ea typeface="Work Sans" pitchFamily="34" charset="-122"/>
                <a:cs typeface="Work Sans" pitchFamily="34" charset="-120"/>
              </a:rPr>
              <a:t>WINDOWS</a:t>
            </a:r>
            <a:endParaRPr lang="en-US" sz="900" dirty="0"/>
          </a:p>
        </p:txBody>
      </p:sp>
      <p:sp>
        <p:nvSpPr>
          <p:cNvPr id="11" name="Shape 9"/>
          <p:cNvSpPr/>
          <p:nvPr/>
        </p:nvSpPr>
        <p:spPr>
          <a:xfrm>
            <a:off x="566928" y="2551176"/>
            <a:ext cx="5208880" cy="0"/>
          </a:xfrm>
          <a:prstGeom prst="line">
            <a:avLst/>
          </a:prstGeom>
          <a:noFill/>
          <a:ln w="9525">
            <a:solidFill>
              <a:srgbClr val="CED1D2"/>
            </a:solidFill>
            <a:prstDash val="solid"/>
          </a:ln>
        </p:spPr>
      </p:sp>
      <p:sp>
        <p:nvSpPr>
          <p:cNvPr id="12" name="Text 10"/>
          <p:cNvSpPr/>
          <p:nvPr/>
        </p:nvSpPr>
        <p:spPr>
          <a:xfrm>
            <a:off x="585216" y="2697480"/>
            <a:ext cx="5163160" cy="3749040"/>
          </a:xfrm>
          <a:prstGeom prst="rect">
            <a:avLst/>
          </a:prstGeom>
          <a:noFill/>
          <a:ln/>
        </p:spPr>
        <p:txBody>
          <a:bodyPr wrap="square" lIns="0" tIns="0" rIns="0" bIns="0" rtlCol="0" anchor="t"/>
          <a:lstStyle/>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Click the Windows button. Satis-Appraisal-Setup.exe saves to Downloads.</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Double-click the file in Downloads.</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If a blue “Windows protected your PC” message appears: click “More info”, then “Run anyway”.</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Follow the installer: Next, choose the suggested folder, Install.</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Satis Appraisal appears in the Start menu like any other program.</a:t>
            </a:r>
            <a:endParaRPr lang="en-US" sz="1050" dirty="0"/>
          </a:p>
        </p:txBody>
      </p:sp>
      <p:sp>
        <p:nvSpPr>
          <p:cNvPr id="13" name="Text 11"/>
          <p:cNvSpPr/>
          <p:nvPr/>
        </p:nvSpPr>
        <p:spPr>
          <a:xfrm>
            <a:off x="6415888" y="2240280"/>
            <a:ext cx="5208880" cy="219456"/>
          </a:xfrm>
          <a:prstGeom prst="rect">
            <a:avLst/>
          </a:prstGeom>
          <a:noFill/>
          <a:ln/>
        </p:spPr>
        <p:txBody>
          <a:bodyPr wrap="square" lIns="0" tIns="0" rIns="0" bIns="0" rtlCol="0" anchor="ctr"/>
          <a:lstStyle/>
          <a:p>
            <a:pPr indent="0" marL="0">
              <a:buNone/>
            </a:pPr>
            <a:r>
              <a:rPr lang="en-US" sz="900" spc="220" kern="0" dirty="0">
                <a:solidFill>
                  <a:srgbClr val="5C6366"/>
                </a:solidFill>
                <a:latin typeface="Work Sans" pitchFamily="34" charset="0"/>
                <a:ea typeface="Work Sans" pitchFamily="34" charset="-122"/>
                <a:cs typeface="Work Sans" pitchFamily="34" charset="-120"/>
              </a:rPr>
              <a:t>MAC</a:t>
            </a:r>
            <a:endParaRPr lang="en-US" sz="900" dirty="0"/>
          </a:p>
        </p:txBody>
      </p:sp>
      <p:sp>
        <p:nvSpPr>
          <p:cNvPr id="14" name="Shape 12"/>
          <p:cNvSpPr/>
          <p:nvPr/>
        </p:nvSpPr>
        <p:spPr>
          <a:xfrm>
            <a:off x="6415888" y="2551176"/>
            <a:ext cx="5208880" cy="0"/>
          </a:xfrm>
          <a:prstGeom prst="line">
            <a:avLst/>
          </a:prstGeom>
          <a:noFill/>
          <a:ln w="9525">
            <a:solidFill>
              <a:srgbClr val="CED1D2"/>
            </a:solidFill>
            <a:prstDash val="solid"/>
          </a:ln>
        </p:spPr>
      </p:sp>
      <p:sp>
        <p:nvSpPr>
          <p:cNvPr id="15" name="Text 13"/>
          <p:cNvSpPr/>
          <p:nvPr/>
        </p:nvSpPr>
        <p:spPr>
          <a:xfrm>
            <a:off x="6434176" y="2697480"/>
            <a:ext cx="5163160" cy="3749040"/>
          </a:xfrm>
          <a:prstGeom prst="rect">
            <a:avLst/>
          </a:prstGeom>
          <a:noFill/>
          <a:ln/>
        </p:spPr>
        <p:txBody>
          <a:bodyPr wrap="square" lIns="0" tIns="0" rIns="0" bIns="0" rtlCol="0" anchor="t"/>
          <a:lstStyle/>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Click the Mac button. Satis-Appraisal.dmg saves to Downloads.</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Double-click the file, then drag Satis Appraisal into the Applications folder shown next to it.</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First launch only: hold Control, click Satis Appraisal, choose “Open”, and confirm.</a:t>
            </a:r>
            <a:endParaRPr lang="en-US" sz="1050" dirty="0"/>
          </a:p>
          <a:p>
            <a:pPr marL="203200" indent="-203200">
              <a:lnSpc>
                <a:spcPts val="1500"/>
              </a:lnSpc>
              <a:spcAft>
                <a:spcPts val="900"/>
              </a:spcAft>
              <a:buSzPct val="100000"/>
              <a:buFont typeface="+mj-lt"/>
              <a:buAutoNum type="arabicPeriod" startAt="1"/>
            </a:pPr>
            <a:r>
              <a:rPr lang="en-US" sz="1050" dirty="0">
                <a:solidFill>
                  <a:srgbClr val="000000"/>
                </a:solidFill>
                <a:latin typeface="Work Sans" pitchFamily="34" charset="0"/>
                <a:ea typeface="Work Sans" pitchFamily="34" charset="-122"/>
                <a:cs typeface="Work Sans" pitchFamily="34" charset="-120"/>
              </a:rPr>
              <a:t>After that it opens normally from Launchpad or Applications.</a:t>
            </a:r>
            <a:endParaRPr lang="en-US" sz="1050" dirty="0"/>
          </a:p>
        </p:txBody>
      </p:sp>
      <p:sp>
        <p:nvSpPr>
          <p:cNvPr id="16" name="Shape 14"/>
          <p:cNvSpPr/>
          <p:nvPr/>
        </p:nvSpPr>
        <p:spPr>
          <a:xfrm>
            <a:off x="566928" y="5440680"/>
            <a:ext cx="11057839" cy="868680"/>
          </a:xfrm>
          <a:prstGeom prst="rect">
            <a:avLst/>
          </a:prstGeom>
          <a:solidFill>
            <a:srgbClr val="ECEEEE"/>
          </a:solidFill>
          <a:ln/>
        </p:spPr>
      </p:sp>
      <p:sp>
        <p:nvSpPr>
          <p:cNvPr id="17" name="Text 15"/>
          <p:cNvSpPr/>
          <p:nvPr/>
        </p:nvSpPr>
        <p:spPr>
          <a:xfrm>
            <a:off x="786384" y="5586984"/>
            <a:ext cx="1061892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18" name="Text 16"/>
          <p:cNvSpPr/>
          <p:nvPr/>
        </p:nvSpPr>
        <p:spPr>
          <a:xfrm>
            <a:off x="786384" y="5806440"/>
            <a:ext cx="10618927" cy="36576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The same steps are printed on the download page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No need to memorise. /admin/appraisal carries this walkthrough, so installers always have it to hand.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FIRST RUN</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06</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Connecting the AI features.</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AI features (reading floorplans from PDFs and photos, and pricing research) need a Claude connection, set up once inside the app:</a:t>
            </a:r>
            <a:endParaRPr lang="en-US" sz="1150" dirty="0"/>
          </a:p>
        </p:txBody>
      </p:sp>
      <p:sp>
        <p:nvSpPr>
          <p:cNvPr id="10" name="Shape 8"/>
          <p:cNvSpPr/>
          <p:nvPr/>
        </p:nvSpPr>
        <p:spPr>
          <a:xfrm>
            <a:off x="566928" y="2212848"/>
            <a:ext cx="3478682" cy="2331720"/>
          </a:xfrm>
          <a:prstGeom prst="rect">
            <a:avLst/>
          </a:prstGeom>
          <a:solidFill>
            <a:srgbClr val="FFFFFF"/>
          </a:solidFill>
          <a:ln w="9525">
            <a:solidFill>
              <a:srgbClr val="CED1D2"/>
            </a:solidFill>
            <a:prstDash val="solid"/>
          </a:ln>
        </p:spPr>
      </p:sp>
      <p:sp>
        <p:nvSpPr>
          <p:cNvPr id="11" name="Text 9"/>
          <p:cNvSpPr/>
          <p:nvPr/>
        </p:nvSpPr>
        <p:spPr>
          <a:xfrm>
            <a:off x="786384" y="2377440"/>
            <a:ext cx="3039770" cy="200253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Option A: sign in with Claude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Open Settings inside the app and connect a Claude account through your browser. The app then fetches everything it needs by itself. Recommended.</a:t>
            </a:r>
            <a:endParaRPr lang="en-US" sz="1100" dirty="0"/>
          </a:p>
        </p:txBody>
      </p:sp>
      <p:sp>
        <p:nvSpPr>
          <p:cNvPr id="12" name="Shape 10"/>
          <p:cNvSpPr/>
          <p:nvPr/>
        </p:nvSpPr>
        <p:spPr>
          <a:xfrm>
            <a:off x="4356506" y="2212848"/>
            <a:ext cx="3478682" cy="2331720"/>
          </a:xfrm>
          <a:prstGeom prst="rect">
            <a:avLst/>
          </a:prstGeom>
          <a:solidFill>
            <a:srgbClr val="FFFFFF"/>
          </a:solidFill>
          <a:ln w="9525">
            <a:solidFill>
              <a:srgbClr val="CED1D2"/>
            </a:solidFill>
            <a:prstDash val="solid"/>
          </a:ln>
        </p:spPr>
      </p:sp>
      <p:sp>
        <p:nvSpPr>
          <p:cNvPr id="13" name="Text 11"/>
          <p:cNvSpPr/>
          <p:nvPr/>
        </p:nvSpPr>
        <p:spPr>
          <a:xfrm>
            <a:off x="4575962" y="2377440"/>
            <a:ext cx="3039770" cy="200253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Option B: paste an API key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If you have an Anthropic API key, paste it in Settings instead. Settings shows which connection is in use and can test it.</a:t>
            </a:r>
            <a:endParaRPr lang="en-US" sz="1100" dirty="0"/>
          </a:p>
        </p:txBody>
      </p:sp>
      <p:sp>
        <p:nvSpPr>
          <p:cNvPr id="14" name="Shape 12"/>
          <p:cNvSpPr/>
          <p:nvPr/>
        </p:nvSpPr>
        <p:spPr>
          <a:xfrm>
            <a:off x="8146085" y="2212848"/>
            <a:ext cx="3478682" cy="2331720"/>
          </a:xfrm>
          <a:prstGeom prst="rect">
            <a:avLst/>
          </a:prstGeom>
          <a:solidFill>
            <a:srgbClr val="FFFFFF"/>
          </a:solidFill>
          <a:ln w="9525">
            <a:solidFill>
              <a:srgbClr val="CED1D2"/>
            </a:solidFill>
            <a:prstDash val="solid"/>
          </a:ln>
        </p:spPr>
      </p:sp>
      <p:sp>
        <p:nvSpPr>
          <p:cNvPr id="15" name="Text 13"/>
          <p:cNvSpPr/>
          <p:nvPr/>
        </p:nvSpPr>
        <p:spPr>
          <a:xfrm>
            <a:off x="8365541" y="2377440"/>
            <a:ext cx="3039770" cy="200253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No connection? Still useful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DXF floorplan files and manual floor entry work without any AI connection. Only PDF/photo reading and pricing research need one.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PRICING STEP</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07</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Live market evidence: suggested, sourced, never imposed.</a:t>
            </a:r>
            <a:endParaRPr lang="en-US" sz="2500" dirty="0"/>
          </a:p>
        </p:txBody>
      </p:sp>
      <p:sp>
        <p:nvSpPr>
          <p:cNvPr id="9" name="Text 7"/>
          <p:cNvSpPr/>
          <p:nvPr/>
        </p:nvSpPr>
        <p:spPr>
          <a:xfrm>
            <a:off x="566928" y="1517904"/>
            <a:ext cx="704088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With AI connected, the Pricing step can research live market evidence for a project:</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It gathers the evidence</a:t>
            </a:r>
            <a:endParaRPr lang="en-US" sz="1200" dirty="0"/>
          </a:p>
        </p:txBody>
      </p:sp>
      <p:sp>
        <p:nvSpPr>
          <p:cNvPr id="13" name="Text 11"/>
          <p:cNvSpPr/>
          <p:nvPr/>
        </p:nvSpPr>
        <p:spPr>
          <a:xfrm>
            <a:off x="987552" y="2377440"/>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Local sale and rent comparables, build cost benchmarks and current finance rates, with a progress bar showing each web search as it happens.</a:t>
            </a:r>
            <a:endParaRPr lang="en-US" sz="1050" dirty="0"/>
          </a:p>
        </p:txBody>
      </p:sp>
      <p:sp>
        <p:nvSpPr>
          <p:cNvPr id="14" name="Shape 12"/>
          <p:cNvSpPr/>
          <p:nvPr/>
        </p:nvSpPr>
        <p:spPr>
          <a:xfrm>
            <a:off x="566928" y="2952750"/>
            <a:ext cx="246888" cy="246888"/>
          </a:xfrm>
          <a:prstGeom prst="ellipse">
            <a:avLst/>
          </a:prstGeom>
          <a:solidFill>
            <a:srgbClr val="B3400C"/>
          </a:solidFill>
          <a:ln/>
        </p:spPr>
      </p:sp>
      <p:sp>
        <p:nvSpPr>
          <p:cNvPr id="15" name="Text 13"/>
          <p:cNvSpPr/>
          <p:nvPr/>
        </p:nvSpPr>
        <p:spPr>
          <a:xfrm>
            <a:off x="521208" y="292714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939034"/>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Every figure arrives as a suggestion</a:t>
            </a:r>
            <a:endParaRPr lang="en-US" sz="1200" dirty="0"/>
          </a:p>
        </p:txBody>
      </p:sp>
      <p:sp>
        <p:nvSpPr>
          <p:cNvPr id="17" name="Text 15"/>
          <p:cNvSpPr/>
          <p:nvPr/>
        </p:nvSpPr>
        <p:spPr>
          <a:xfrm>
            <a:off x="987552" y="3213354"/>
            <a:ext cx="6803136" cy="225933"/>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With its range, reasoning and sources. Nothing is applied until you choose to apply it.</a:t>
            </a:r>
            <a:endParaRPr lang="en-US" sz="1050" dirty="0"/>
          </a:p>
        </p:txBody>
      </p:sp>
      <p:sp>
        <p:nvSpPr>
          <p:cNvPr id="18" name="Shape 16"/>
          <p:cNvSpPr/>
          <p:nvPr/>
        </p:nvSpPr>
        <p:spPr>
          <a:xfrm>
            <a:off x="566928" y="3599307"/>
            <a:ext cx="246888" cy="246888"/>
          </a:xfrm>
          <a:prstGeom prst="ellipse">
            <a:avLst/>
          </a:prstGeom>
          <a:solidFill>
            <a:srgbClr val="B3400C"/>
          </a:solidFill>
          <a:ln/>
        </p:spPr>
      </p:sp>
      <p:sp>
        <p:nvSpPr>
          <p:cNvPr id="19" name="Text 17"/>
          <p:cNvSpPr/>
          <p:nvPr/>
        </p:nvSpPr>
        <p:spPr>
          <a:xfrm>
            <a:off x="521208" y="3573704"/>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585591"/>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Your own evidence anchors it</a:t>
            </a:r>
            <a:endParaRPr lang="en-US" sz="1200" dirty="0"/>
          </a:p>
        </p:txBody>
      </p:sp>
      <p:sp>
        <p:nvSpPr>
          <p:cNvPr id="21" name="Text 19"/>
          <p:cNvSpPr/>
          <p:nvPr/>
        </p:nvSpPr>
        <p:spPr>
          <a:xfrm>
            <a:off x="987552" y="3859911"/>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Record tender results and lender term sheets in Settings; the estimates then anchor to your real numbers.</a:t>
            </a:r>
            <a:endParaRPr lang="en-US" sz="1050" dirty="0"/>
          </a:p>
        </p:txBody>
      </p:sp>
      <p:sp>
        <p:nvSpPr>
          <p:cNvPr id="22" name="Shape 20"/>
          <p:cNvSpPr/>
          <p:nvPr/>
        </p:nvSpPr>
        <p:spPr>
          <a:xfrm>
            <a:off x="566928" y="4435221"/>
            <a:ext cx="246888" cy="246888"/>
          </a:xfrm>
          <a:prstGeom prst="ellipse">
            <a:avLst/>
          </a:prstGeom>
          <a:solidFill>
            <a:srgbClr val="B3400C"/>
          </a:solidFill>
          <a:ln/>
        </p:spPr>
      </p:sp>
      <p:sp>
        <p:nvSpPr>
          <p:cNvPr id="23" name="Text 21"/>
          <p:cNvSpPr/>
          <p:nvPr/>
        </p:nvSpPr>
        <p:spPr>
          <a:xfrm>
            <a:off x="521208" y="4409618"/>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4" name="Text 22"/>
          <p:cNvSpPr/>
          <p:nvPr/>
        </p:nvSpPr>
        <p:spPr>
          <a:xfrm>
            <a:off x="987552" y="4421505"/>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Stamp duty needs no research</a:t>
            </a:r>
            <a:endParaRPr lang="en-US" sz="1200" dirty="0"/>
          </a:p>
        </p:txBody>
      </p:sp>
      <p:sp>
        <p:nvSpPr>
          <p:cNvPr id="25" name="Text 23"/>
          <p:cNvSpPr/>
          <p:nvPr/>
        </p:nvSpPr>
        <p:spPr>
          <a:xfrm>
            <a:off x="987552" y="4695825"/>
            <a:ext cx="6803136" cy="225933"/>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It calculates itself from HMRC bands.</a:t>
            </a:r>
            <a:endParaRPr lang="en-US" sz="1050" dirty="0"/>
          </a:p>
        </p:txBody>
      </p:sp>
      <p:sp>
        <p:nvSpPr>
          <p:cNvPr id="26" name="Shape 24"/>
          <p:cNvSpPr/>
          <p:nvPr/>
        </p:nvSpPr>
        <p:spPr>
          <a:xfrm>
            <a:off x="8247888" y="1618488"/>
            <a:ext cx="3376879" cy="1783080"/>
          </a:xfrm>
          <a:prstGeom prst="rect">
            <a:avLst/>
          </a:prstGeom>
          <a:solidFill>
            <a:srgbClr val="000000"/>
          </a:solidFill>
          <a:ln/>
        </p:spPr>
      </p:sp>
      <p:sp>
        <p:nvSpPr>
          <p:cNvPr id="27" name="Text 25"/>
          <p:cNvSpPr/>
          <p:nvPr/>
        </p:nvSpPr>
        <p:spPr>
          <a:xfrm>
            <a:off x="8467344" y="1764792"/>
            <a:ext cx="2937967" cy="182880"/>
          </a:xfrm>
          <a:prstGeom prst="rect">
            <a:avLst/>
          </a:prstGeom>
          <a:noFill/>
          <a:ln/>
        </p:spPr>
        <p:txBody>
          <a:bodyPr wrap="square" lIns="0" tIns="0" rIns="0" bIns="0" rtlCol="0" anchor="ctr"/>
          <a:lstStyle/>
          <a:p>
            <a:pPr indent="0" marL="0">
              <a:buNone/>
            </a:pPr>
            <a:r>
              <a:rPr lang="en-US" sz="750" spc="200" kern="0" dirty="0">
                <a:solidFill>
                  <a:srgbClr val="B9BDBE"/>
                </a:solidFill>
                <a:latin typeface="Work Sans" pitchFamily="34" charset="0"/>
                <a:ea typeface="Work Sans" pitchFamily="34" charset="-122"/>
                <a:cs typeface="Work Sans" pitchFamily="34" charset="-120"/>
              </a:rPr>
              <a:t>TAKE CARE</a:t>
            </a:r>
            <a:endParaRPr lang="en-US" sz="750" dirty="0"/>
          </a:p>
        </p:txBody>
      </p:sp>
      <p:sp>
        <p:nvSpPr>
          <p:cNvPr id="28" name="Text 26"/>
          <p:cNvSpPr/>
          <p:nvPr/>
        </p:nvSpPr>
        <p:spPr>
          <a:xfrm>
            <a:off x="8467344" y="1984248"/>
            <a:ext cx="2937967" cy="128016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FFFFFF"/>
                </a:solidFill>
                <a:latin typeface="Work Sans" pitchFamily="34" charset="0"/>
                <a:ea typeface="Work Sans" pitchFamily="34" charset="-122"/>
                <a:cs typeface="Work Sans" pitchFamily="34" charset="-120"/>
              </a:rPr>
              <a:t>Judgement stays with you
</a:t>
            </a:r>
            <a:pPr indent="0" marL="0">
              <a:lnSpc>
                <a:spcPts val="1380"/>
              </a:lnSpc>
              <a:spcAft>
                <a:spcPts val="500"/>
              </a:spcAft>
              <a:buNone/>
            </a:pPr>
            <a:r>
              <a:rPr lang="en-US" sz="1000" dirty="0">
                <a:solidFill>
                  <a:srgbClr val="B9BDBE"/>
                </a:solidFill>
                <a:latin typeface="Work Sans" pitchFamily="34" charset="0"/>
                <a:ea typeface="Work Sans" pitchFamily="34" charset="-122"/>
                <a:cs typeface="Work Sans" pitchFamily="34" charset="-120"/>
              </a:rPr>
              <a:t>Research accelerates an appraisal; it does not sign one off. Check the sources on any figure that drives a decision.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STAYING CURRENT</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08</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Updates, versions, and where the app lives.</a:t>
            </a:r>
            <a:endParaRPr lang="en-US" sz="2500" dirty="0"/>
          </a:p>
        </p:txBody>
      </p:sp>
      <p:sp>
        <p:nvSpPr>
          <p:cNvPr id="9" name="Shape 7"/>
          <p:cNvSpPr/>
          <p:nvPr/>
        </p:nvSpPr>
        <p:spPr>
          <a:xfrm>
            <a:off x="566928" y="1664208"/>
            <a:ext cx="3478682" cy="2286000"/>
          </a:xfrm>
          <a:prstGeom prst="rect">
            <a:avLst/>
          </a:prstGeom>
          <a:solidFill>
            <a:srgbClr val="FFFFFF"/>
          </a:solidFill>
          <a:ln w="9525">
            <a:solidFill>
              <a:srgbClr val="CED1D2"/>
            </a:solidFill>
            <a:prstDash val="solid"/>
          </a:ln>
        </p:spPr>
      </p:sp>
      <p:sp>
        <p:nvSpPr>
          <p:cNvPr id="10" name="Text 8"/>
          <p:cNvSpPr/>
          <p:nvPr/>
        </p:nvSpPr>
        <p:spPr>
          <a:xfrm>
            <a:off x="786384" y="1828800"/>
            <a:ext cx="3039770" cy="195681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Updating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Download and run the installer again from /admin/appraisal. Same buttons, newest version, settings kept.</a:t>
            </a:r>
            <a:endParaRPr lang="en-US" sz="1100" dirty="0"/>
          </a:p>
        </p:txBody>
      </p:sp>
      <p:sp>
        <p:nvSpPr>
          <p:cNvPr id="11" name="Shape 9"/>
          <p:cNvSpPr/>
          <p:nvPr/>
        </p:nvSpPr>
        <p:spPr>
          <a:xfrm>
            <a:off x="4356506" y="1664208"/>
            <a:ext cx="3478682" cy="2286000"/>
          </a:xfrm>
          <a:prstGeom prst="rect">
            <a:avLst/>
          </a:prstGeom>
          <a:solidFill>
            <a:srgbClr val="FFFFFF"/>
          </a:solidFill>
          <a:ln w="9525">
            <a:solidFill>
              <a:srgbClr val="CED1D2"/>
            </a:solidFill>
            <a:prstDash val="solid"/>
          </a:ln>
        </p:spPr>
      </p:sp>
      <p:sp>
        <p:nvSpPr>
          <p:cNvPr id="12" name="Text 10"/>
          <p:cNvSpPr/>
          <p:nvPr/>
        </p:nvSpPr>
        <p:spPr>
          <a:xfrm>
            <a:off x="4575962" y="1828800"/>
            <a:ext cx="3039770" cy="195681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Version in use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download page shows the latest version number. Comparing it with Help/About in the app tells you if someone is behind.</a:t>
            </a:r>
            <a:endParaRPr lang="en-US" sz="1100" dirty="0"/>
          </a:p>
        </p:txBody>
      </p:sp>
      <p:sp>
        <p:nvSpPr>
          <p:cNvPr id="13" name="Shape 11"/>
          <p:cNvSpPr/>
          <p:nvPr/>
        </p:nvSpPr>
        <p:spPr>
          <a:xfrm>
            <a:off x="8146085" y="1664208"/>
            <a:ext cx="3478682" cy="2286000"/>
          </a:xfrm>
          <a:prstGeom prst="rect">
            <a:avLst/>
          </a:prstGeom>
          <a:solidFill>
            <a:srgbClr val="FFFFFF"/>
          </a:solidFill>
          <a:ln w="9525">
            <a:solidFill>
              <a:srgbClr val="CED1D2"/>
            </a:solidFill>
            <a:prstDash val="solid"/>
          </a:ln>
        </p:spPr>
      </p:sp>
      <p:sp>
        <p:nvSpPr>
          <p:cNvPr id="14" name="Text 12"/>
          <p:cNvSpPr/>
          <p:nvPr/>
        </p:nvSpPr>
        <p:spPr>
          <a:xfrm>
            <a:off x="8365541" y="1828800"/>
            <a:ext cx="3039770" cy="1956816"/>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Where it lives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app is built from its own repository, Satisgroup-1/Appraisalapplication on GitHub, separate from the website. Earlier versions stay available on its releases page.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RECAP</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THE SATIS APPRAISAL AGENT</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09</a:t>
            </a:r>
            <a:endParaRPr lang="en-US" sz="800" dirty="0"/>
          </a:p>
        </p:txBody>
      </p:sp>
      <p:sp>
        <p:nvSpPr>
          <p:cNvPr id="8" name="Text 6"/>
          <p:cNvSpPr/>
          <p:nvPr/>
        </p:nvSpPr>
        <p:spPr>
          <a:xfrm>
            <a:off x="566928" y="969264"/>
            <a:ext cx="11057839" cy="548640"/>
          </a:xfrm>
          <a:prstGeom prst="rect">
            <a:avLst/>
          </a:prstGeom>
          <a:noFill/>
          <a:ln/>
        </p:spPr>
        <p:txBody>
          <a:bodyPr wrap="square" lIns="0" tIns="0" rIns="0" bIns="0" rtlCol="0" anchor="ctr"/>
          <a:lstStyle/>
          <a:p>
            <a:pPr indent="0" marL="0">
              <a:buNone/>
            </a:pPr>
            <a:r>
              <a:rPr lang="en-US" sz="2400" dirty="0">
                <a:solidFill>
                  <a:srgbClr val="FFFFFF"/>
                </a:solidFill>
                <a:latin typeface="Work Sans" pitchFamily="34" charset="0"/>
                <a:ea typeface="Work Sans" pitchFamily="34" charset="-122"/>
                <a:cs typeface="Work Sans" pitchFamily="34" charset="-120"/>
              </a:rPr>
              <a:t>What to remember.</a:t>
            </a:r>
            <a:endParaRPr lang="en-US" sz="2400" dirty="0"/>
          </a:p>
        </p:txBody>
      </p:sp>
      <p:sp>
        <p:nvSpPr>
          <p:cNvPr id="9" name="Text 7"/>
          <p:cNvSpPr/>
          <p:nvPr/>
        </p:nvSpPr>
        <p:spPr>
          <a:xfrm>
            <a:off x="612648" y="1783080"/>
            <a:ext cx="6675120" cy="4023360"/>
          </a:xfrm>
          <a:prstGeom prst="rect">
            <a:avLst/>
          </a:prstGeom>
          <a:noFill/>
          <a:ln/>
        </p:spPr>
        <p:txBody>
          <a:bodyPr wrap="square" lIns="0" tIns="0" rIns="0" bIns="0" rtlCol="0" anchor="t"/>
          <a:lstStyle/>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Floorplans in → compliant conversion options → a full appraisal of each. Mirrors the Appraisal Model workbook.</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Always download from /admin/appraisal. The buttons always give the newest version.</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The security prompts are expected: “More info → Run anyway” / Control-click → Open, once.</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AI features need a Claude account or API key, set in the app's Settings; DXF and manual entry work without.</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Pricing research is suggested and sourced, applied only when you choose.</a:t>
            </a:r>
            <a:endParaRPr lang="en-US" sz="1250" dirty="0"/>
          </a:p>
        </p:txBody>
      </p:sp>
      <p:sp>
        <p:nvSpPr>
          <p:cNvPr id="10" name="Shape 8"/>
          <p:cNvSpPr/>
          <p:nvPr/>
        </p:nvSpPr>
        <p:spPr>
          <a:xfrm>
            <a:off x="7818120" y="1828800"/>
            <a:ext cx="0" cy="3291840"/>
          </a:xfrm>
          <a:prstGeom prst="line">
            <a:avLst/>
          </a:prstGeom>
          <a:noFill/>
          <a:ln w="9525">
            <a:solidFill>
              <a:srgbClr val="3A3A3A"/>
            </a:solidFill>
            <a:prstDash val="solid"/>
          </a:ln>
        </p:spPr>
      </p:sp>
      <p:sp>
        <p:nvSpPr>
          <p:cNvPr id="11" name="Text 9"/>
          <p:cNvSpPr/>
          <p:nvPr/>
        </p:nvSpPr>
        <p:spPr>
          <a:xfrm>
            <a:off x="8183880" y="1828800"/>
            <a:ext cx="3383280" cy="219456"/>
          </a:xfrm>
          <a:prstGeom prst="rect">
            <a:avLst/>
          </a:prstGeom>
          <a:noFill/>
          <a:ln/>
        </p:spPr>
        <p:txBody>
          <a:bodyPr wrap="square" lIns="0" tIns="0" rIns="0" bIns="0" rtlCol="0" anchor="ctr"/>
          <a:lstStyle/>
          <a:p>
            <a:pPr indent="0" marL="0">
              <a:buNone/>
            </a:pPr>
            <a:r>
              <a:rPr lang="en-US" sz="850" spc="240" kern="0" dirty="0">
                <a:solidFill>
                  <a:srgbClr val="B9BDBE"/>
                </a:solidFill>
                <a:latin typeface="Work Sans" pitchFamily="34" charset="0"/>
                <a:ea typeface="Work Sans" pitchFamily="34" charset="-122"/>
                <a:cs typeface="Work Sans" pitchFamily="34" charset="-120"/>
              </a:rPr>
              <a:t>WHERE TO GET HELP</a:t>
            </a:r>
            <a:endParaRPr lang="en-US" sz="850" dirty="0"/>
          </a:p>
        </p:txBody>
      </p:sp>
      <p:sp>
        <p:nvSpPr>
          <p:cNvPr id="12" name="Text 10"/>
          <p:cNvSpPr/>
          <p:nvPr/>
        </p:nvSpPr>
        <p:spPr>
          <a:xfrm>
            <a:off x="8183880" y="2194560"/>
            <a:ext cx="3429000" cy="3108960"/>
          </a:xfrm>
          <a:prstGeom prst="rect">
            <a:avLst/>
          </a:prstGeom>
          <a:noFill/>
          <a:ln/>
        </p:spPr>
        <p:txBody>
          <a:bodyPr wrap="square" lIns="0" tIns="0" rIns="0" bIns="0" rtlCol="0" anchor="t"/>
          <a:lstStyle/>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Install steps are printed on the download page itself.</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App questions or ideas: a Claude session on Satisgroup-1/Appraisalapplication.</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Connection problems: Settings inside the app can test the Claude link.</a:t>
            </a:r>
            <a:endParaRPr lang="en-US" sz="1050" dirty="0"/>
          </a:p>
        </p:txBody>
      </p:sp>
      <p:sp>
        <p:nvSpPr>
          <p:cNvPr id="13" name="Text 11"/>
          <p:cNvSpPr/>
          <p:nvPr/>
        </p:nvSpPr>
        <p:spPr>
          <a:xfrm>
            <a:off x="0" y="5806440"/>
            <a:ext cx="12191695" cy="457200"/>
          </a:xfrm>
          <a:prstGeom prst="rect">
            <a:avLst/>
          </a:prstGeom>
          <a:noFill/>
          <a:ln/>
        </p:spPr>
        <p:txBody>
          <a:bodyPr wrap="square" lIns="0" tIns="0" rIns="0" bIns="0" rtlCol="0" anchor="ctr"/>
          <a:lstStyle/>
          <a:p>
            <a:pPr algn="ctr" indent="0" marL="0">
              <a:buNone/>
            </a:pPr>
            <a:r>
              <a:rPr lang="en-US" sz="2000" spc="1500" kern="0" dirty="0">
                <a:solidFill>
                  <a:srgbClr val="FFFFFF"/>
                </a:solidFill>
                <a:latin typeface="Work Sans" pitchFamily="34" charset="0"/>
                <a:ea typeface="Work Sans" pitchFamily="34" charset="-122"/>
                <a:cs typeface="Work Sans" pitchFamily="34" charset="-120"/>
              </a:rPr>
              <a:t>SATIS</a:t>
            </a:r>
            <a:endParaRPr lang="en-US" sz="2000" dirty="0"/>
          </a:p>
        </p:txBody>
      </p:sp>
      <p:sp>
        <p:nvSpPr>
          <p:cNvPr id="14" name="Text 12"/>
          <p:cNvSpPr/>
          <p:nvPr/>
        </p:nvSpPr>
        <p:spPr>
          <a:xfrm>
            <a:off x="0" y="6236208"/>
            <a:ext cx="12191695" cy="219456"/>
          </a:xfrm>
          <a:prstGeom prst="rect">
            <a:avLst/>
          </a:prstGeom>
          <a:noFill/>
          <a:ln/>
        </p:spPr>
        <p:txBody>
          <a:bodyPr wrap="square" lIns="0" tIns="0" rIns="0" bIns="0" rtlCol="0" anchor="ctr"/>
          <a:lstStyle/>
          <a:p>
            <a:pPr algn="ctr" indent="0" marL="0">
              <a:buNone/>
            </a:pPr>
            <a:r>
              <a:rPr lang="en-US" sz="750" spc="600" kern="0" dirty="0">
                <a:solidFill>
                  <a:srgbClr val="B9BDBE"/>
                </a:solidFill>
                <a:latin typeface="Work Sans" pitchFamily="34" charset="0"/>
                <a:ea typeface="Work Sans" pitchFamily="34" charset="-122"/>
                <a:cs typeface="Work Sans" pitchFamily="34" charset="-120"/>
              </a:rPr>
              <a:t>GROUP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Satis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Satis Appraisal agent.</dc:title>
  <dc:subject>PptxGenJS Presentation</dc:subject>
  <dc:creator>Satis Group</dc:creator>
  <cp:lastModifiedBy>Satis Group</cp:lastModifiedBy>
  <cp:revision>1</cp:revision>
  <dcterms:created xsi:type="dcterms:W3CDTF">2026-08-20T00:35:11Z</dcterms:created>
  <dcterms:modified xsi:type="dcterms:W3CDTF">2026-08-20T00:35:11Z</dcterms:modified>
</cp:coreProperties>
</file>