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session is about the Satis Appraisal agent — the desktop application, not the website. We'll cover what it does, where to download it, installing on Windows and Mac including the security prompts, connecting the AI features, and how the pricing research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Position the app in the toolchain: the website presents developments; this app appraises potential ones. It mirrors the Satis Appraisal Model workbook, so numbers land in a familiar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fourth step is the point: this isn't a drawing tool, it's an appraisal tool. Everything upstream exists to feed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page always resolves “latest”, so never circulate saved installers — send colleagues to the page instead. Earlier versions remain available via the releases link at the bottom of the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Rehearse the security prompts out loud — “More info → Run anyway” on Windows, Control-click → Open on Mac — because that's the moment people stall and call for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of the team should use Option A — no keys to manage. Make clear the app degrades gracefully: no connection just means importing floorplans via DXF or typing floors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principle to voice: the app shows its working — range, reasoning, sources — precisely so a human can disagree. Encourage recording tender results; anchored estimates beat generic benchmarks.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Improvement requests for the app go to the Appraisalapplication repository — a Claude session works there exactly as it does on the website repo. That's the bridge to webinar 01's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takeaways, answer questions, and point everyone at the written guide.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pic>
        <p:nvPicPr>
          <p:cNvPr id="2" name="Image 0" descr="/tmp/claude-0/-home-user-satis-group-website/ff8ab6f4-f9c2-556a-89f3-8bea05ba205c/build/assets/cover-appraisal.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00000">
              <a:alpha val="58000"/>
            </a:srgbClr>
          </a:solidFill>
          <a:ln/>
        </p:spPr>
      </p:sp>
      <p:sp>
        <p:nvSpPr>
          <p:cNvPr id="4" name="Shape 1"/>
          <p:cNvSpPr/>
          <p:nvPr/>
        </p:nvSpPr>
        <p:spPr>
          <a:xfrm>
            <a:off x="566928" y="566928"/>
            <a:ext cx="11057839" cy="0"/>
          </a:xfrm>
          <a:prstGeom prst="line">
            <a:avLst/>
          </a:prstGeom>
          <a:noFill/>
          <a:ln w="9525">
            <a:solidFill>
              <a:srgbClr val="FFFFFF"/>
            </a:solidFill>
            <a:prstDash val="solid"/>
          </a:ln>
        </p:spPr>
      </p:sp>
      <p:sp>
        <p:nvSpPr>
          <p:cNvPr id="5" name="Text 2"/>
          <p:cNvSpPr/>
          <p:nvPr/>
        </p:nvSpPr>
        <p:spPr>
          <a:xfrm>
            <a:off x="566928" y="713232"/>
            <a:ext cx="11057839" cy="274320"/>
          </a:xfrm>
          <a:prstGeom prst="rect">
            <a:avLst/>
          </a:prstGeom>
          <a:noFill/>
          <a:ln/>
        </p:spPr>
        <p:txBody>
          <a:bodyPr wrap="square" lIns="0" tIns="0" rIns="0" bIns="0" rtlCol="0" anchor="ctr"/>
          <a:lstStyle/>
          <a:p>
            <a:pPr indent="0" marL="0">
              <a:buNone/>
            </a:pPr>
            <a:r>
              <a:rPr lang="en-US" sz="950" spc="300" kern="0" dirty="0">
                <a:solidFill>
                  <a:srgbClr val="FFFFFF"/>
                </a:solidFill>
                <a:latin typeface="Work Sans" pitchFamily="34" charset="0"/>
                <a:ea typeface="Work Sans" pitchFamily="34" charset="-122"/>
                <a:cs typeface="Work Sans" pitchFamily="34" charset="-120"/>
              </a:rPr>
              <a:t>SATIS GROUP — BACKEND WEBINAR SERIES</a:t>
            </a:r>
            <a:endParaRPr lang="en-US" sz="950" dirty="0"/>
          </a:p>
        </p:txBody>
      </p:sp>
      <p:sp>
        <p:nvSpPr>
          <p:cNvPr id="6" name="Text 3"/>
          <p:cNvSpPr/>
          <p:nvPr/>
        </p:nvSpPr>
        <p:spPr>
          <a:xfrm>
            <a:off x="0" y="2304288"/>
            <a:ext cx="12191695" cy="777240"/>
          </a:xfrm>
          <a:prstGeom prst="rect">
            <a:avLst/>
          </a:prstGeom>
          <a:noFill/>
          <a:ln/>
        </p:spPr>
        <p:txBody>
          <a:bodyPr wrap="square" lIns="0" tIns="0" rIns="0" bIns="0" rtlCol="0" anchor="ctr"/>
          <a:lstStyle/>
          <a:p>
            <a:pPr algn="ctr" indent="0" marL="0">
              <a:buNone/>
            </a:pPr>
            <a:r>
              <a:rPr lang="en-US" sz="4000" spc="3000" kern="0" dirty="0">
                <a:solidFill>
                  <a:srgbClr val="FFFFFF"/>
                </a:solidFill>
                <a:latin typeface="Work Sans" pitchFamily="34" charset="0"/>
                <a:ea typeface="Work Sans" pitchFamily="34" charset="-122"/>
                <a:cs typeface="Work Sans" pitchFamily="34" charset="-120"/>
              </a:rPr>
              <a:t>SATIS</a:t>
            </a:r>
            <a:endParaRPr lang="en-US" sz="4000" dirty="0"/>
          </a:p>
        </p:txBody>
      </p:sp>
      <p:sp>
        <p:nvSpPr>
          <p:cNvPr id="7" name="Text 4"/>
          <p:cNvSpPr/>
          <p:nvPr/>
        </p:nvSpPr>
        <p:spPr>
          <a:xfrm>
            <a:off x="0" y="3090672"/>
            <a:ext cx="12191695" cy="274320"/>
          </a:xfrm>
          <a:prstGeom prst="rect">
            <a:avLst/>
          </a:prstGeom>
          <a:noFill/>
          <a:ln/>
        </p:spPr>
        <p:txBody>
          <a:bodyPr wrap="square" lIns="0" tIns="0" rIns="0" bIns="0" rtlCol="0" anchor="ctr"/>
          <a:lstStyle/>
          <a:p>
            <a:pPr algn="ctr" indent="0" marL="0">
              <a:buNone/>
            </a:pPr>
            <a:r>
              <a:rPr lang="en-US" sz="1250" spc="1100" kern="0" dirty="0">
                <a:solidFill>
                  <a:srgbClr val="FFFFFF"/>
                </a:solidFill>
                <a:latin typeface="Work Sans" pitchFamily="34" charset="0"/>
                <a:ea typeface="Work Sans" pitchFamily="34" charset="-122"/>
                <a:cs typeface="Work Sans" pitchFamily="34" charset="-120"/>
              </a:rPr>
              <a:t>GROUP</a:t>
            </a:r>
            <a:endParaRPr lang="en-US" sz="1250" dirty="0"/>
          </a:p>
        </p:txBody>
      </p:sp>
      <p:sp>
        <p:nvSpPr>
          <p:cNvPr id="8" name="Text 5"/>
          <p:cNvSpPr/>
          <p:nvPr/>
        </p:nvSpPr>
        <p:spPr>
          <a:xfrm>
            <a:off x="1371600" y="3913632"/>
            <a:ext cx="9448495" cy="640080"/>
          </a:xfrm>
          <a:prstGeom prst="rect">
            <a:avLst/>
          </a:prstGeom>
          <a:noFill/>
          <a:ln/>
        </p:spPr>
        <p:txBody>
          <a:bodyPr wrap="square" lIns="0" tIns="0" rIns="0" bIns="0" rtlCol="0" anchor="ctr"/>
          <a:lstStyle/>
          <a:p>
            <a:pPr algn="ctr" indent="0" marL="0">
              <a:buNone/>
            </a:pPr>
            <a:r>
              <a:rPr lang="en-US" sz="2700" dirty="0">
                <a:solidFill>
                  <a:srgbClr val="FFFFFF"/>
                </a:solidFill>
                <a:latin typeface="Work Sans" pitchFamily="34" charset="0"/>
                <a:ea typeface="Work Sans" pitchFamily="34" charset="-122"/>
                <a:cs typeface="Work Sans" pitchFamily="34" charset="-120"/>
              </a:rPr>
              <a:t>The Satis Appraisal agent.</a:t>
            </a:r>
            <a:endParaRPr lang="en-US" sz="2700" dirty="0"/>
          </a:p>
        </p:txBody>
      </p:sp>
      <p:sp>
        <p:nvSpPr>
          <p:cNvPr id="9" name="Text 6"/>
          <p:cNvSpPr/>
          <p:nvPr/>
        </p:nvSpPr>
        <p:spPr>
          <a:xfrm>
            <a:off x="2194560" y="4590288"/>
            <a:ext cx="7802575" cy="566928"/>
          </a:xfrm>
          <a:prstGeom prst="rect">
            <a:avLst/>
          </a:prstGeom>
          <a:noFill/>
          <a:ln/>
        </p:spPr>
        <p:txBody>
          <a:bodyPr wrap="square" lIns="0" tIns="0" rIns="0" bIns="0" rtlCol="0" anchor="ctr"/>
          <a:lstStyle/>
          <a:p>
            <a:pPr algn="ctr" indent="0" marL="0">
              <a:lnSpc>
                <a:spcPts val="1700"/>
              </a:lnSpc>
              <a:buNone/>
            </a:pPr>
            <a:r>
              <a:rPr lang="en-US" sz="1200" dirty="0">
                <a:solidFill>
                  <a:srgbClr val="E8EAEA"/>
                </a:solidFill>
                <a:latin typeface="Work Sans" pitchFamily="34" charset="0"/>
                <a:ea typeface="Work Sans" pitchFamily="34" charset="-122"/>
                <a:cs typeface="Work Sans" pitchFamily="34" charset="-120"/>
              </a:rPr>
              <a:t>Downloading, installing and getting value from the desktop app that turns floorplans into full development appraisals.</a:t>
            </a:r>
            <a:endParaRPr lang="en-US" sz="1200" dirty="0"/>
          </a:p>
        </p:txBody>
      </p:sp>
      <p:sp>
        <p:nvSpPr>
          <p:cNvPr id="10" name="Text 7"/>
          <p:cNvSpPr/>
          <p:nvPr/>
        </p:nvSpPr>
        <p:spPr>
          <a:xfrm>
            <a:off x="566928" y="6327648"/>
            <a:ext cx="11057839" cy="237744"/>
          </a:xfrm>
          <a:prstGeom prst="rect">
            <a:avLst/>
          </a:prstGeom>
          <a:noFill/>
          <a:ln/>
        </p:spPr>
        <p:txBody>
          <a:bodyPr wrap="square" lIns="0" tIns="0" rIns="0" bIns="0" rtlCol="0" anchor="ctr"/>
          <a:lstStyle/>
          <a:p>
            <a:pPr algn="ctr" indent="0" marL="0">
              <a:buNone/>
            </a:pPr>
            <a:r>
              <a:rPr lang="en-US" sz="850" spc="300" kern="0" dirty="0">
                <a:solidFill>
                  <a:srgbClr val="D8DADA"/>
                </a:solidFill>
                <a:latin typeface="Work Sans" pitchFamily="34" charset="0"/>
                <a:ea typeface="Work Sans" pitchFamily="34" charset="-122"/>
                <a:cs typeface="Work Sans" pitchFamily="34" charset="-120"/>
              </a:rPr>
              <a:t>BACKEND WEBINAR 05 OF 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310896"/>
            <a:ext cx="9777679" cy="256032"/>
          </a:xfrm>
          <a:prstGeom prst="rect">
            <a:avLst/>
          </a:prstGeom>
          <a:noFill/>
          <a:ln/>
        </p:spPr>
        <p:txBody>
          <a:bodyPr wrap="square" lIns="0" tIns="0" rIns="0" bIns="0" rtlCol="0" anchor="ctr"/>
          <a:lstStyle/>
          <a:p>
            <a:pPr algn="l" indent="0" marL="0">
              <a:buNone/>
            </a:pPr>
            <a:r>
              <a:rPr lang="en-US" sz="950" spc="260" kern="0" dirty="0">
                <a:solidFill>
                  <a:srgbClr val="5C6366"/>
                </a:solidFill>
                <a:latin typeface="Work Sans" pitchFamily="34" charset="0"/>
                <a:ea typeface="Work Sans" pitchFamily="34" charset="-122"/>
                <a:cs typeface="Work Sans" pitchFamily="34" charset="-120"/>
              </a:rPr>
              <a:t>IN THIS WEBINAR</a:t>
            </a:r>
            <a:endParaRPr lang="en-US" sz="950" dirty="0"/>
          </a:p>
        </p:txBody>
      </p:sp>
      <p:sp>
        <p:nvSpPr>
          <p:cNvPr id="3" name="Shape 1"/>
          <p:cNvSpPr/>
          <p:nvPr/>
        </p:nvSpPr>
        <p:spPr>
          <a:xfrm>
            <a:off x="566928" y="694944"/>
            <a:ext cx="11057839" cy="0"/>
          </a:xfrm>
          <a:prstGeom prst="line">
            <a:avLst/>
          </a:prstGeom>
          <a:noFill/>
          <a:ln w="9525">
            <a:solidFill>
              <a:srgbClr val="000000"/>
            </a:solidFill>
            <a:prstDash val="solid"/>
          </a:ln>
        </p:spPr>
      </p:sp>
      <p:sp>
        <p:nvSpPr>
          <p:cNvPr id="4" name="Text 2"/>
          <p:cNvSpPr/>
          <p:nvPr/>
        </p:nvSpPr>
        <p:spPr>
          <a:xfrm>
            <a:off x="10344607" y="246888"/>
            <a:ext cx="1280160" cy="219456"/>
          </a:xfrm>
          <a:prstGeom prst="rect">
            <a:avLst/>
          </a:prstGeom>
          <a:noFill/>
          <a:ln/>
        </p:spPr>
        <p:txBody>
          <a:bodyPr wrap="square" lIns="0" tIns="0" rIns="0" bIns="0" rtlCol="0" anchor="ctr"/>
          <a:lstStyle/>
          <a:p>
            <a:pPr algn="r" indent="0" marL="0">
              <a:buNone/>
            </a:pPr>
            <a:r>
              <a:rPr lang="en-US" sz="1100" spc="500" kern="0" dirty="0">
                <a:solidFill>
                  <a:srgbClr val="000000"/>
                </a:solidFill>
                <a:latin typeface="Work Sans" pitchFamily="34" charset="0"/>
                <a:ea typeface="Work Sans" pitchFamily="34" charset="-122"/>
                <a:cs typeface="Work Sans" pitchFamily="34" charset="-120"/>
              </a:rPr>
              <a:t>SATIS</a:t>
            </a:r>
            <a:endParaRPr lang="en-US" sz="1100" dirty="0"/>
          </a:p>
        </p:txBody>
      </p:sp>
      <p:sp>
        <p:nvSpPr>
          <p:cNvPr id="5" name="Text 3"/>
          <p:cNvSpPr/>
          <p:nvPr/>
        </p:nvSpPr>
        <p:spPr>
          <a:xfrm>
            <a:off x="10344607" y="457200"/>
            <a:ext cx="1280160" cy="146304"/>
          </a:xfrm>
          <a:prstGeom prst="rect">
            <a:avLst/>
          </a:prstGeom>
          <a:noFill/>
          <a:ln/>
        </p:spPr>
        <p:txBody>
          <a:bodyPr wrap="square" lIns="0" tIns="0" rIns="0" bIns="0" rtlCol="0" anchor="ctr"/>
          <a:lstStyle/>
          <a:p>
            <a:pPr algn="r" indent="0" marL="0">
              <a:buNone/>
            </a:pPr>
            <a:r>
              <a:rPr lang="en-US" sz="550" spc="340" kern="0" dirty="0">
                <a:solidFill>
                  <a:srgbClr val="5C6366"/>
                </a:solidFill>
                <a:latin typeface="Work Sans" pitchFamily="34" charset="0"/>
                <a:ea typeface="Work Sans" pitchFamily="34" charset="-122"/>
                <a:cs typeface="Work Sans" pitchFamily="34" charset="-120"/>
              </a:rPr>
              <a:t>GROUP</a:t>
            </a:r>
            <a:endParaRPr lang="en-US" sz="550" dirty="0"/>
          </a:p>
        </p:txBody>
      </p:sp>
      <p:sp>
        <p:nvSpPr>
          <p:cNvPr id="6" name="Text 4"/>
          <p:cNvSpPr/>
          <p:nvPr/>
        </p:nvSpPr>
        <p:spPr>
          <a:xfrm>
            <a:off x="566928" y="6473952"/>
            <a:ext cx="6400800" cy="201168"/>
          </a:xfrm>
          <a:prstGeom prst="rect">
            <a:avLst/>
          </a:prstGeom>
          <a:noFill/>
          <a:ln/>
        </p:spPr>
        <p:txBody>
          <a:bodyPr wrap="square" lIns="0" tIns="0" rIns="0" bIns="0" rtlCol="0" anchor="ctr"/>
          <a:lstStyle/>
          <a:p>
            <a:pPr indent="0" marL="0">
              <a:buNone/>
            </a:pPr>
            <a:r>
              <a:rPr lang="en-US" sz="700" spc="200" kern="0" dirty="0">
                <a:solidFill>
                  <a:srgbClr val="9AA0A2"/>
                </a:solidFill>
                <a:latin typeface="Work Sans" pitchFamily="34" charset="0"/>
                <a:ea typeface="Work Sans" pitchFamily="34" charset="-122"/>
                <a:cs typeface="Work Sans" pitchFamily="34" charset="-120"/>
              </a:rPr>
              <a:t>SATIS GROUP — THE SATIS APPRAISAL AGENT</a:t>
            </a:r>
            <a:endParaRPr lang="en-US" sz="700" dirty="0"/>
          </a:p>
        </p:txBody>
      </p:sp>
      <p:sp>
        <p:nvSpPr>
          <p:cNvPr id="7" name="Text 5"/>
          <p:cNvSpPr/>
          <p:nvPr/>
        </p:nvSpPr>
        <p:spPr>
          <a:xfrm>
            <a:off x="10710367" y="6473952"/>
            <a:ext cx="914400" cy="201168"/>
          </a:xfrm>
          <a:prstGeom prst="rect">
            <a:avLst/>
          </a:prstGeom>
          <a:noFill/>
          <a:ln/>
        </p:spPr>
        <p:txBody>
          <a:bodyPr wrap="square" lIns="0" tIns="0" rIns="0" bIns="0" rtlCol="0" anchor="ctr"/>
          <a:lstStyle/>
          <a:p>
            <a:pPr algn="r" indent="0" marL="0">
              <a:buNone/>
            </a:pPr>
            <a:r>
              <a:rPr lang="en-US" sz="800" spc="100" kern="0" dirty="0">
                <a:solidFill>
                  <a:srgbClr val="9AA0A2"/>
                </a:solidFill>
                <a:latin typeface="Work Sans" pitchFamily="34" charset="0"/>
                <a:ea typeface="Work Sans" pitchFamily="34" charset="-122"/>
                <a:cs typeface="Work Sans" pitchFamily="34" charset="-120"/>
              </a:rPr>
              <a:t>02</a:t>
            </a:r>
            <a:endParaRPr lang="en-US" sz="800" dirty="0"/>
          </a:p>
        </p:txBody>
      </p:sp>
      <p:sp>
        <p:nvSpPr>
          <p:cNvPr id="8" name="Text 6"/>
          <p:cNvSpPr/>
          <p:nvPr/>
        </p:nvSpPr>
        <p:spPr>
          <a:xfrm>
            <a:off x="566928" y="932688"/>
            <a:ext cx="11057839" cy="566928"/>
          </a:xfrm>
          <a:prstGeom prst="rect">
            <a:avLst/>
          </a:prstGeom>
          <a:noFill/>
          <a:ln/>
        </p:spPr>
        <p:txBody>
          <a:bodyPr wrap="square" lIns="0" tIns="0" rIns="0" bIns="0" rtlCol="0" anchor="ctr"/>
          <a:lstStyle/>
          <a:p>
            <a:pPr algn="l" indent="0" marL="0">
              <a:buNone/>
            </a:pPr>
            <a:r>
              <a:rPr lang="en-US" sz="2500" dirty="0">
                <a:solidFill>
                  <a:srgbClr val="000000"/>
                </a:solidFill>
                <a:latin typeface="Work Sans" pitchFamily="34" charset="0"/>
                <a:ea typeface="Work Sans" pitchFamily="34" charset="-122"/>
                <a:cs typeface="Work Sans" pitchFamily="34" charset="-120"/>
              </a:rPr>
              <a:t>What this session covers.</a:t>
            </a:r>
            <a:endParaRPr lang="en-US" sz="2500" dirty="0"/>
          </a:p>
        </p:txBody>
      </p:sp>
      <p:sp>
        <p:nvSpPr>
          <p:cNvPr id="9" name="Text 7"/>
          <p:cNvSpPr/>
          <p:nvPr/>
        </p:nvSpPr>
        <p:spPr>
          <a:xfrm>
            <a:off x="566928" y="1499616"/>
            <a:ext cx="8778240" cy="475488"/>
          </a:xfrm>
          <a:prstGeom prst="rect">
            <a:avLst/>
          </a:prstGeom>
          <a:noFill/>
          <a:ln/>
        </p:spPr>
        <p:txBody>
          <a:bodyPr wrap="square" lIns="0" tIns="0" rIns="0" bIns="0" rtlCol="0" anchor="ctr"/>
          <a:lstStyle/>
          <a:p>
            <a:pPr indent="0" marL="0">
              <a:lnSpc>
                <a:spcPts val="1600"/>
              </a:lnSpc>
              <a:buNone/>
            </a:pPr>
            <a:r>
              <a:rPr lang="en-US" sz="1150" dirty="0">
                <a:solidFill>
                  <a:srgbClr val="5C6366"/>
                </a:solidFill>
                <a:latin typeface="Work Sans" pitchFamily="34" charset="0"/>
                <a:ea typeface="Work Sans" pitchFamily="34" charset="-122"/>
                <a:cs typeface="Work Sans" pitchFamily="34" charset="-120"/>
              </a:rPr>
              <a:t>A desktop application for Windows and Mac, downloaded from the admin area. Distributed privately by Satis Group.</a:t>
            </a:r>
            <a:endParaRPr lang="en-US" sz="1150" dirty="0"/>
          </a:p>
        </p:txBody>
      </p:sp>
      <p:sp>
        <p:nvSpPr>
          <p:cNvPr id="10" name="Text 8"/>
          <p:cNvSpPr/>
          <p:nvPr/>
        </p:nvSpPr>
        <p:spPr>
          <a:xfrm>
            <a:off x="566928" y="2231136"/>
            <a:ext cx="457200" cy="274320"/>
          </a:xfrm>
          <a:prstGeom prst="rect">
            <a:avLst/>
          </a:prstGeom>
          <a:noFill/>
          <a:ln/>
        </p:spPr>
        <p:txBody>
          <a:bodyPr wrap="square" lIns="0" tIns="0" rIns="0" bIns="0" rtlCol="0" anchor="ctr"/>
          <a:lstStyle/>
          <a:p>
            <a:pPr indent="0" marL="0">
              <a:buNone/>
            </a:pPr>
            <a:r>
              <a:rPr lang="en-US" sz="1100" spc="150" kern="0" dirty="0">
                <a:solidFill>
                  <a:srgbClr val="5C6366"/>
                </a:solidFill>
                <a:latin typeface="Work Sans" pitchFamily="34" charset="0"/>
                <a:ea typeface="Work Sans" pitchFamily="34" charset="-122"/>
                <a:cs typeface="Work Sans" pitchFamily="34" charset="-120"/>
              </a:rPr>
              <a:t>01</a:t>
            </a:r>
            <a:endParaRPr lang="en-US" sz="1100" dirty="0"/>
          </a:p>
        </p:txBody>
      </p:sp>
      <p:sp>
        <p:nvSpPr>
          <p:cNvPr id="11" name="Text 9"/>
          <p:cNvSpPr/>
          <p:nvPr/>
        </p:nvSpPr>
        <p:spPr>
          <a:xfrm>
            <a:off x="1069848" y="2212848"/>
            <a:ext cx="4774540" cy="274320"/>
          </a:xfrm>
          <a:prstGeom prst="rect">
            <a:avLst/>
          </a:prstGeom>
          <a:noFill/>
          <a:ln/>
        </p:spPr>
        <p:txBody>
          <a:bodyPr wrap="square" lIns="0" tIns="0" rIns="0" bIns="0" rtlCol="0" anchor="ctr"/>
          <a:lstStyle/>
          <a:p>
            <a:pPr indent="0" marL="0">
              <a:buNone/>
            </a:pPr>
            <a:r>
              <a:rPr lang="en-US" sz="1250" b="1" dirty="0">
                <a:solidFill>
                  <a:srgbClr val="000000"/>
                </a:solidFill>
                <a:latin typeface="Work Sans" pitchFamily="34" charset="0"/>
                <a:ea typeface="Work Sans" pitchFamily="34" charset="-122"/>
                <a:cs typeface="Work Sans" pitchFamily="34" charset="-120"/>
              </a:rPr>
              <a:t>What it is and does</a:t>
            </a:r>
            <a:endParaRPr lang="en-US" sz="1250" dirty="0"/>
          </a:p>
        </p:txBody>
      </p:sp>
      <p:sp>
        <p:nvSpPr>
          <p:cNvPr id="12" name="Text 10"/>
          <p:cNvSpPr/>
          <p:nvPr/>
        </p:nvSpPr>
        <p:spPr>
          <a:xfrm>
            <a:off x="1069848" y="2487168"/>
            <a:ext cx="4774540" cy="384048"/>
          </a:xfrm>
          <a:prstGeom prst="rect">
            <a:avLst/>
          </a:prstGeom>
          <a:noFill/>
          <a:ln/>
        </p:spPr>
        <p:txBody>
          <a:bodyPr wrap="square" lIns="0" tIns="0" rIns="0" bIns="0" rtlCol="0" anchor="ctr"/>
          <a:lstStyle/>
          <a:p>
            <a:pPr indent="0" marL="0">
              <a:lnSpc>
                <a:spcPts val="1300"/>
              </a:lnSpc>
              <a:buNone/>
            </a:pPr>
            <a:r>
              <a:rPr lang="en-US" sz="950" dirty="0">
                <a:solidFill>
                  <a:srgbClr val="5C6366"/>
                </a:solidFill>
                <a:latin typeface="Work Sans" pitchFamily="34" charset="0"/>
                <a:ea typeface="Work Sans" pitchFamily="34" charset="-122"/>
                <a:cs typeface="Work Sans" pitchFamily="34" charset="-120"/>
              </a:rPr>
              <a:t>Floorplans in, appraised conversion options out.</a:t>
            </a:r>
            <a:endParaRPr lang="en-US" sz="950" dirty="0"/>
          </a:p>
        </p:txBody>
      </p:sp>
      <p:sp>
        <p:nvSpPr>
          <p:cNvPr id="13" name="Text 11"/>
          <p:cNvSpPr/>
          <p:nvPr/>
        </p:nvSpPr>
        <p:spPr>
          <a:xfrm>
            <a:off x="566928" y="3072384"/>
            <a:ext cx="457200" cy="274320"/>
          </a:xfrm>
          <a:prstGeom prst="rect">
            <a:avLst/>
          </a:prstGeom>
          <a:noFill/>
          <a:ln/>
        </p:spPr>
        <p:txBody>
          <a:bodyPr wrap="square" lIns="0" tIns="0" rIns="0" bIns="0" rtlCol="0" anchor="ctr"/>
          <a:lstStyle/>
          <a:p>
            <a:pPr indent="0" marL="0">
              <a:buNone/>
            </a:pPr>
            <a:r>
              <a:rPr lang="en-US" sz="1100" spc="150" kern="0" dirty="0">
                <a:solidFill>
                  <a:srgbClr val="5C6366"/>
                </a:solidFill>
                <a:latin typeface="Work Sans" pitchFamily="34" charset="0"/>
                <a:ea typeface="Work Sans" pitchFamily="34" charset="-122"/>
                <a:cs typeface="Work Sans" pitchFamily="34" charset="-120"/>
              </a:rPr>
              <a:t>02</a:t>
            </a:r>
            <a:endParaRPr lang="en-US" sz="1100" dirty="0"/>
          </a:p>
        </p:txBody>
      </p:sp>
      <p:sp>
        <p:nvSpPr>
          <p:cNvPr id="14" name="Text 12"/>
          <p:cNvSpPr/>
          <p:nvPr/>
        </p:nvSpPr>
        <p:spPr>
          <a:xfrm>
            <a:off x="1069848" y="3054096"/>
            <a:ext cx="4774540" cy="274320"/>
          </a:xfrm>
          <a:prstGeom prst="rect">
            <a:avLst/>
          </a:prstGeom>
          <a:noFill/>
          <a:ln/>
        </p:spPr>
        <p:txBody>
          <a:bodyPr wrap="square" lIns="0" tIns="0" rIns="0" bIns="0" rtlCol="0" anchor="ctr"/>
          <a:lstStyle/>
          <a:p>
            <a:pPr indent="0" marL="0">
              <a:buNone/>
            </a:pPr>
            <a:r>
              <a:rPr lang="en-US" sz="1250" b="1" dirty="0">
                <a:solidFill>
                  <a:srgbClr val="000000"/>
                </a:solidFill>
                <a:latin typeface="Work Sans" pitchFamily="34" charset="0"/>
                <a:ea typeface="Work Sans" pitchFamily="34" charset="-122"/>
                <a:cs typeface="Work Sans" pitchFamily="34" charset="-120"/>
              </a:rPr>
              <a:t>Where to download</a:t>
            </a:r>
            <a:endParaRPr lang="en-US" sz="1250" dirty="0"/>
          </a:p>
        </p:txBody>
      </p:sp>
      <p:sp>
        <p:nvSpPr>
          <p:cNvPr id="15" name="Text 13"/>
          <p:cNvSpPr/>
          <p:nvPr/>
        </p:nvSpPr>
        <p:spPr>
          <a:xfrm>
            <a:off x="1069848" y="3328416"/>
            <a:ext cx="4774540" cy="384048"/>
          </a:xfrm>
          <a:prstGeom prst="rect">
            <a:avLst/>
          </a:prstGeom>
          <a:noFill/>
          <a:ln/>
        </p:spPr>
        <p:txBody>
          <a:bodyPr wrap="square" lIns="0" tIns="0" rIns="0" bIns="0" rtlCol="0" anchor="ctr"/>
          <a:lstStyle/>
          <a:p>
            <a:pPr indent="0" marL="0">
              <a:lnSpc>
                <a:spcPts val="1300"/>
              </a:lnSpc>
              <a:buNone/>
            </a:pPr>
            <a:r>
              <a:rPr lang="en-US" sz="950" dirty="0">
                <a:solidFill>
                  <a:srgbClr val="5C6366"/>
                </a:solidFill>
                <a:latin typeface="Work Sans" pitchFamily="34" charset="0"/>
                <a:ea typeface="Work Sans" pitchFamily="34" charset="-122"/>
                <a:cs typeface="Work Sans" pitchFamily="34" charset="-120"/>
              </a:rPr>
              <a:t>The admin's Appraisal page — always the newest version.</a:t>
            </a:r>
            <a:endParaRPr lang="en-US" sz="950" dirty="0"/>
          </a:p>
        </p:txBody>
      </p:sp>
      <p:sp>
        <p:nvSpPr>
          <p:cNvPr id="16" name="Text 14"/>
          <p:cNvSpPr/>
          <p:nvPr/>
        </p:nvSpPr>
        <p:spPr>
          <a:xfrm>
            <a:off x="566928" y="3913632"/>
            <a:ext cx="457200" cy="274320"/>
          </a:xfrm>
          <a:prstGeom prst="rect">
            <a:avLst/>
          </a:prstGeom>
          <a:noFill/>
          <a:ln/>
        </p:spPr>
        <p:txBody>
          <a:bodyPr wrap="square" lIns="0" tIns="0" rIns="0" bIns="0" rtlCol="0" anchor="ctr"/>
          <a:lstStyle/>
          <a:p>
            <a:pPr indent="0" marL="0">
              <a:buNone/>
            </a:pPr>
            <a:r>
              <a:rPr lang="en-US" sz="1100" spc="150" kern="0" dirty="0">
                <a:solidFill>
                  <a:srgbClr val="5C6366"/>
                </a:solidFill>
                <a:latin typeface="Work Sans" pitchFamily="34" charset="0"/>
                <a:ea typeface="Work Sans" pitchFamily="34" charset="-122"/>
                <a:cs typeface="Work Sans" pitchFamily="34" charset="-120"/>
              </a:rPr>
              <a:t>03</a:t>
            </a:r>
            <a:endParaRPr lang="en-US" sz="1100" dirty="0"/>
          </a:p>
        </p:txBody>
      </p:sp>
      <p:sp>
        <p:nvSpPr>
          <p:cNvPr id="17" name="Text 15"/>
          <p:cNvSpPr/>
          <p:nvPr/>
        </p:nvSpPr>
        <p:spPr>
          <a:xfrm>
            <a:off x="1069848" y="3895344"/>
            <a:ext cx="4774540" cy="274320"/>
          </a:xfrm>
          <a:prstGeom prst="rect">
            <a:avLst/>
          </a:prstGeom>
          <a:noFill/>
          <a:ln/>
        </p:spPr>
        <p:txBody>
          <a:bodyPr wrap="square" lIns="0" tIns="0" rIns="0" bIns="0" rtlCol="0" anchor="ctr"/>
          <a:lstStyle/>
          <a:p>
            <a:pPr indent="0" marL="0">
              <a:buNone/>
            </a:pPr>
            <a:r>
              <a:rPr lang="en-US" sz="1250" b="1" dirty="0">
                <a:solidFill>
                  <a:srgbClr val="000000"/>
                </a:solidFill>
                <a:latin typeface="Work Sans" pitchFamily="34" charset="0"/>
                <a:ea typeface="Work Sans" pitchFamily="34" charset="-122"/>
                <a:cs typeface="Work Sans" pitchFamily="34" charset="-120"/>
              </a:rPr>
              <a:t>Installing</a:t>
            </a:r>
            <a:endParaRPr lang="en-US" sz="1250" dirty="0"/>
          </a:p>
        </p:txBody>
      </p:sp>
      <p:sp>
        <p:nvSpPr>
          <p:cNvPr id="18" name="Text 16"/>
          <p:cNvSpPr/>
          <p:nvPr/>
        </p:nvSpPr>
        <p:spPr>
          <a:xfrm>
            <a:off x="1069848" y="4169664"/>
            <a:ext cx="4774540" cy="384048"/>
          </a:xfrm>
          <a:prstGeom prst="rect">
            <a:avLst/>
          </a:prstGeom>
          <a:noFill/>
          <a:ln/>
        </p:spPr>
        <p:txBody>
          <a:bodyPr wrap="square" lIns="0" tIns="0" rIns="0" bIns="0" rtlCol="0" anchor="ctr"/>
          <a:lstStyle/>
          <a:p>
            <a:pPr indent="0" marL="0">
              <a:lnSpc>
                <a:spcPts val="1300"/>
              </a:lnSpc>
              <a:buNone/>
            </a:pPr>
            <a:r>
              <a:rPr lang="en-US" sz="950" dirty="0">
                <a:solidFill>
                  <a:srgbClr val="5C6366"/>
                </a:solidFill>
                <a:latin typeface="Work Sans" pitchFamily="34" charset="0"/>
                <a:ea typeface="Work Sans" pitchFamily="34" charset="-122"/>
                <a:cs typeface="Work Sans" pitchFamily="34" charset="-120"/>
              </a:rPr>
              <a:t>Windows and Mac, including the one-time security prompts.</a:t>
            </a:r>
            <a:endParaRPr lang="en-US" sz="950" dirty="0"/>
          </a:p>
        </p:txBody>
      </p:sp>
      <p:sp>
        <p:nvSpPr>
          <p:cNvPr id="19" name="Text 17"/>
          <p:cNvSpPr/>
          <p:nvPr/>
        </p:nvSpPr>
        <p:spPr>
          <a:xfrm>
            <a:off x="6347308" y="2231136"/>
            <a:ext cx="457200" cy="274320"/>
          </a:xfrm>
          <a:prstGeom prst="rect">
            <a:avLst/>
          </a:prstGeom>
          <a:noFill/>
          <a:ln/>
        </p:spPr>
        <p:txBody>
          <a:bodyPr wrap="square" lIns="0" tIns="0" rIns="0" bIns="0" rtlCol="0" anchor="ctr"/>
          <a:lstStyle/>
          <a:p>
            <a:pPr indent="0" marL="0">
              <a:buNone/>
            </a:pPr>
            <a:r>
              <a:rPr lang="en-US" sz="1100" spc="150" kern="0" dirty="0">
                <a:solidFill>
                  <a:srgbClr val="5C6366"/>
                </a:solidFill>
                <a:latin typeface="Work Sans" pitchFamily="34" charset="0"/>
                <a:ea typeface="Work Sans" pitchFamily="34" charset="-122"/>
                <a:cs typeface="Work Sans" pitchFamily="34" charset="-120"/>
              </a:rPr>
              <a:t>04</a:t>
            </a:r>
            <a:endParaRPr lang="en-US" sz="1100" dirty="0"/>
          </a:p>
        </p:txBody>
      </p:sp>
      <p:sp>
        <p:nvSpPr>
          <p:cNvPr id="20" name="Text 18"/>
          <p:cNvSpPr/>
          <p:nvPr/>
        </p:nvSpPr>
        <p:spPr>
          <a:xfrm>
            <a:off x="6850228" y="2212848"/>
            <a:ext cx="4774540" cy="274320"/>
          </a:xfrm>
          <a:prstGeom prst="rect">
            <a:avLst/>
          </a:prstGeom>
          <a:noFill/>
          <a:ln/>
        </p:spPr>
        <p:txBody>
          <a:bodyPr wrap="square" lIns="0" tIns="0" rIns="0" bIns="0" rtlCol="0" anchor="ctr"/>
          <a:lstStyle/>
          <a:p>
            <a:pPr indent="0" marL="0">
              <a:buNone/>
            </a:pPr>
            <a:r>
              <a:rPr lang="en-US" sz="1250" b="1" dirty="0">
                <a:solidFill>
                  <a:srgbClr val="000000"/>
                </a:solidFill>
                <a:latin typeface="Work Sans" pitchFamily="34" charset="0"/>
                <a:ea typeface="Work Sans" pitchFamily="34" charset="-122"/>
                <a:cs typeface="Work Sans" pitchFamily="34" charset="-120"/>
              </a:rPr>
              <a:t>Connecting the AI features</a:t>
            </a:r>
            <a:endParaRPr lang="en-US" sz="1250" dirty="0"/>
          </a:p>
        </p:txBody>
      </p:sp>
      <p:sp>
        <p:nvSpPr>
          <p:cNvPr id="21" name="Text 19"/>
          <p:cNvSpPr/>
          <p:nvPr/>
        </p:nvSpPr>
        <p:spPr>
          <a:xfrm>
            <a:off x="6850228" y="2487168"/>
            <a:ext cx="4774540" cy="384048"/>
          </a:xfrm>
          <a:prstGeom prst="rect">
            <a:avLst/>
          </a:prstGeom>
          <a:noFill/>
          <a:ln/>
        </p:spPr>
        <p:txBody>
          <a:bodyPr wrap="square" lIns="0" tIns="0" rIns="0" bIns="0" rtlCol="0" anchor="ctr"/>
          <a:lstStyle/>
          <a:p>
            <a:pPr indent="0" marL="0">
              <a:lnSpc>
                <a:spcPts val="1300"/>
              </a:lnSpc>
              <a:buNone/>
            </a:pPr>
            <a:r>
              <a:rPr lang="en-US" sz="950" dirty="0">
                <a:solidFill>
                  <a:srgbClr val="5C6366"/>
                </a:solidFill>
                <a:latin typeface="Work Sans" pitchFamily="34" charset="0"/>
                <a:ea typeface="Work Sans" pitchFamily="34" charset="-122"/>
                <a:cs typeface="Work Sans" pitchFamily="34" charset="-120"/>
              </a:rPr>
              <a:t>A Claude account or API key — and what works without.</a:t>
            </a:r>
            <a:endParaRPr lang="en-US" sz="950" dirty="0"/>
          </a:p>
        </p:txBody>
      </p:sp>
      <p:sp>
        <p:nvSpPr>
          <p:cNvPr id="22" name="Text 20"/>
          <p:cNvSpPr/>
          <p:nvPr/>
        </p:nvSpPr>
        <p:spPr>
          <a:xfrm>
            <a:off x="6347308" y="3072384"/>
            <a:ext cx="457200" cy="274320"/>
          </a:xfrm>
          <a:prstGeom prst="rect">
            <a:avLst/>
          </a:prstGeom>
          <a:noFill/>
          <a:ln/>
        </p:spPr>
        <p:txBody>
          <a:bodyPr wrap="square" lIns="0" tIns="0" rIns="0" bIns="0" rtlCol="0" anchor="ctr"/>
          <a:lstStyle/>
          <a:p>
            <a:pPr indent="0" marL="0">
              <a:buNone/>
            </a:pPr>
            <a:r>
              <a:rPr lang="en-US" sz="1100" spc="150" kern="0" dirty="0">
                <a:solidFill>
                  <a:srgbClr val="5C6366"/>
                </a:solidFill>
                <a:latin typeface="Work Sans" pitchFamily="34" charset="0"/>
                <a:ea typeface="Work Sans" pitchFamily="34" charset="-122"/>
                <a:cs typeface="Work Sans" pitchFamily="34" charset="-120"/>
              </a:rPr>
              <a:t>05</a:t>
            </a:r>
            <a:endParaRPr lang="en-US" sz="1100" dirty="0"/>
          </a:p>
        </p:txBody>
      </p:sp>
      <p:sp>
        <p:nvSpPr>
          <p:cNvPr id="23" name="Text 21"/>
          <p:cNvSpPr/>
          <p:nvPr/>
        </p:nvSpPr>
        <p:spPr>
          <a:xfrm>
            <a:off x="6850228" y="3054096"/>
            <a:ext cx="4774540" cy="274320"/>
          </a:xfrm>
          <a:prstGeom prst="rect">
            <a:avLst/>
          </a:prstGeom>
          <a:noFill/>
          <a:ln/>
        </p:spPr>
        <p:txBody>
          <a:bodyPr wrap="square" lIns="0" tIns="0" rIns="0" bIns="0" rtlCol="0" anchor="ctr"/>
          <a:lstStyle/>
          <a:p>
            <a:pPr indent="0" marL="0">
              <a:buNone/>
            </a:pPr>
            <a:r>
              <a:rPr lang="en-US" sz="1250" b="1" dirty="0">
                <a:solidFill>
                  <a:srgbClr val="000000"/>
                </a:solidFill>
                <a:latin typeface="Work Sans" pitchFamily="34" charset="0"/>
                <a:ea typeface="Work Sans" pitchFamily="34" charset="-122"/>
                <a:cs typeface="Work Sans" pitchFamily="34" charset="-120"/>
              </a:rPr>
              <a:t>The Pricing step</a:t>
            </a:r>
            <a:endParaRPr lang="en-US" sz="1250" dirty="0"/>
          </a:p>
        </p:txBody>
      </p:sp>
      <p:sp>
        <p:nvSpPr>
          <p:cNvPr id="24" name="Text 22"/>
          <p:cNvSpPr/>
          <p:nvPr/>
        </p:nvSpPr>
        <p:spPr>
          <a:xfrm>
            <a:off x="6850228" y="3328416"/>
            <a:ext cx="4774540" cy="384048"/>
          </a:xfrm>
          <a:prstGeom prst="rect">
            <a:avLst/>
          </a:prstGeom>
          <a:noFill/>
          <a:ln/>
        </p:spPr>
        <p:txBody>
          <a:bodyPr wrap="square" lIns="0" tIns="0" rIns="0" bIns="0" rtlCol="0" anchor="ctr"/>
          <a:lstStyle/>
          <a:p>
            <a:pPr indent="0" marL="0">
              <a:lnSpc>
                <a:spcPts val="1300"/>
              </a:lnSpc>
              <a:buNone/>
            </a:pPr>
            <a:r>
              <a:rPr lang="en-US" sz="950" dirty="0">
                <a:solidFill>
                  <a:srgbClr val="5C6366"/>
                </a:solidFill>
                <a:latin typeface="Work Sans" pitchFamily="34" charset="0"/>
                <a:ea typeface="Work Sans" pitchFamily="34" charset="-122"/>
                <a:cs typeface="Work Sans" pitchFamily="34" charset="-120"/>
              </a:rPr>
              <a:t>Live market evidence with sources, applied only when you choose.</a:t>
            </a:r>
            <a:endParaRPr lang="en-US" sz="950" dirty="0"/>
          </a:p>
        </p:txBody>
      </p:sp>
      <p:sp>
        <p:nvSpPr>
          <p:cNvPr id="25" name="Text 23"/>
          <p:cNvSpPr/>
          <p:nvPr/>
        </p:nvSpPr>
        <p:spPr>
          <a:xfrm>
            <a:off x="6347308" y="3913632"/>
            <a:ext cx="457200" cy="274320"/>
          </a:xfrm>
          <a:prstGeom prst="rect">
            <a:avLst/>
          </a:prstGeom>
          <a:noFill/>
          <a:ln/>
        </p:spPr>
        <p:txBody>
          <a:bodyPr wrap="square" lIns="0" tIns="0" rIns="0" bIns="0" rtlCol="0" anchor="ctr"/>
          <a:lstStyle/>
          <a:p>
            <a:pPr indent="0" marL="0">
              <a:buNone/>
            </a:pPr>
            <a:r>
              <a:rPr lang="en-US" sz="1100" spc="150" kern="0" dirty="0">
                <a:solidFill>
                  <a:srgbClr val="5C6366"/>
                </a:solidFill>
                <a:latin typeface="Work Sans" pitchFamily="34" charset="0"/>
                <a:ea typeface="Work Sans" pitchFamily="34" charset="-122"/>
                <a:cs typeface="Work Sans" pitchFamily="34" charset="-120"/>
              </a:rPr>
              <a:t>06</a:t>
            </a:r>
            <a:endParaRPr lang="en-US" sz="1100" dirty="0"/>
          </a:p>
        </p:txBody>
      </p:sp>
      <p:sp>
        <p:nvSpPr>
          <p:cNvPr id="26" name="Text 24"/>
          <p:cNvSpPr/>
          <p:nvPr/>
        </p:nvSpPr>
        <p:spPr>
          <a:xfrm>
            <a:off x="6850228" y="3895344"/>
            <a:ext cx="4774540" cy="274320"/>
          </a:xfrm>
          <a:prstGeom prst="rect">
            <a:avLst/>
          </a:prstGeom>
          <a:noFill/>
          <a:ln/>
        </p:spPr>
        <p:txBody>
          <a:bodyPr wrap="square" lIns="0" tIns="0" rIns="0" bIns="0" rtlCol="0" anchor="ctr"/>
          <a:lstStyle/>
          <a:p>
            <a:pPr indent="0" marL="0">
              <a:buNone/>
            </a:pPr>
            <a:r>
              <a:rPr lang="en-US" sz="1250" b="1" dirty="0">
                <a:solidFill>
                  <a:srgbClr val="000000"/>
                </a:solidFill>
                <a:latin typeface="Work Sans" pitchFamily="34" charset="0"/>
                <a:ea typeface="Work Sans" pitchFamily="34" charset="-122"/>
                <a:cs typeface="Work Sans" pitchFamily="34" charset="-120"/>
              </a:rPr>
              <a:t>Staying current</a:t>
            </a:r>
            <a:endParaRPr lang="en-US" sz="1250" dirty="0"/>
          </a:p>
        </p:txBody>
      </p:sp>
      <p:sp>
        <p:nvSpPr>
          <p:cNvPr id="27" name="Text 25"/>
          <p:cNvSpPr/>
          <p:nvPr/>
        </p:nvSpPr>
        <p:spPr>
          <a:xfrm>
            <a:off x="6850228" y="4169664"/>
            <a:ext cx="4774540" cy="384048"/>
          </a:xfrm>
          <a:prstGeom prst="rect">
            <a:avLst/>
          </a:prstGeom>
          <a:noFill/>
          <a:ln/>
        </p:spPr>
        <p:txBody>
          <a:bodyPr wrap="square" lIns="0" tIns="0" rIns="0" bIns="0" rtlCol="0" anchor="ctr"/>
          <a:lstStyle/>
          <a:p>
            <a:pPr indent="0" marL="0">
              <a:lnSpc>
                <a:spcPts val="1300"/>
              </a:lnSpc>
              <a:buNone/>
            </a:pPr>
            <a:r>
              <a:rPr lang="en-US" sz="950" dirty="0">
                <a:solidFill>
                  <a:srgbClr val="5C6366"/>
                </a:solidFill>
                <a:latin typeface="Work Sans" pitchFamily="34" charset="0"/>
                <a:ea typeface="Work Sans" pitchFamily="34" charset="-122"/>
                <a:cs typeface="Work Sans" pitchFamily="34" charset="-120"/>
              </a:rPr>
              <a:t>Updates, versions, and where the app lives.</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310896"/>
            <a:ext cx="9777679" cy="256032"/>
          </a:xfrm>
          <a:prstGeom prst="rect">
            <a:avLst/>
          </a:prstGeom>
          <a:noFill/>
          <a:ln/>
        </p:spPr>
        <p:txBody>
          <a:bodyPr wrap="square" lIns="0" tIns="0" rIns="0" bIns="0" rtlCol="0" anchor="ctr"/>
          <a:lstStyle/>
          <a:p>
            <a:pPr algn="l" indent="0" marL="0">
              <a:buNone/>
            </a:pPr>
            <a:r>
              <a:rPr lang="en-US" sz="950" spc="260" kern="0" dirty="0">
                <a:solidFill>
                  <a:srgbClr val="5C6366"/>
                </a:solidFill>
                <a:latin typeface="Work Sans" pitchFamily="34" charset="0"/>
                <a:ea typeface="Work Sans" pitchFamily="34" charset="-122"/>
                <a:cs typeface="Work Sans" pitchFamily="34" charset="-120"/>
              </a:rPr>
              <a:t>WHAT IT DOES</a:t>
            </a:r>
            <a:endParaRPr lang="en-US" sz="950" dirty="0"/>
          </a:p>
        </p:txBody>
      </p:sp>
      <p:sp>
        <p:nvSpPr>
          <p:cNvPr id="3" name="Shape 1"/>
          <p:cNvSpPr/>
          <p:nvPr/>
        </p:nvSpPr>
        <p:spPr>
          <a:xfrm>
            <a:off x="566928" y="694944"/>
            <a:ext cx="11057839" cy="0"/>
          </a:xfrm>
          <a:prstGeom prst="line">
            <a:avLst/>
          </a:prstGeom>
          <a:noFill/>
          <a:ln w="9525">
            <a:solidFill>
              <a:srgbClr val="000000"/>
            </a:solidFill>
            <a:prstDash val="solid"/>
          </a:ln>
        </p:spPr>
      </p:sp>
      <p:sp>
        <p:nvSpPr>
          <p:cNvPr id="4" name="Text 2"/>
          <p:cNvSpPr/>
          <p:nvPr/>
        </p:nvSpPr>
        <p:spPr>
          <a:xfrm>
            <a:off x="10344607" y="246888"/>
            <a:ext cx="1280160" cy="219456"/>
          </a:xfrm>
          <a:prstGeom prst="rect">
            <a:avLst/>
          </a:prstGeom>
          <a:noFill/>
          <a:ln/>
        </p:spPr>
        <p:txBody>
          <a:bodyPr wrap="square" lIns="0" tIns="0" rIns="0" bIns="0" rtlCol="0" anchor="ctr"/>
          <a:lstStyle/>
          <a:p>
            <a:pPr algn="r" indent="0" marL="0">
              <a:buNone/>
            </a:pPr>
            <a:r>
              <a:rPr lang="en-US" sz="1100" spc="500" kern="0" dirty="0">
                <a:solidFill>
                  <a:srgbClr val="000000"/>
                </a:solidFill>
                <a:latin typeface="Work Sans" pitchFamily="34" charset="0"/>
                <a:ea typeface="Work Sans" pitchFamily="34" charset="-122"/>
                <a:cs typeface="Work Sans" pitchFamily="34" charset="-120"/>
              </a:rPr>
              <a:t>SATIS</a:t>
            </a:r>
            <a:endParaRPr lang="en-US" sz="1100" dirty="0"/>
          </a:p>
        </p:txBody>
      </p:sp>
      <p:sp>
        <p:nvSpPr>
          <p:cNvPr id="5" name="Text 3"/>
          <p:cNvSpPr/>
          <p:nvPr/>
        </p:nvSpPr>
        <p:spPr>
          <a:xfrm>
            <a:off x="10344607" y="457200"/>
            <a:ext cx="1280160" cy="146304"/>
          </a:xfrm>
          <a:prstGeom prst="rect">
            <a:avLst/>
          </a:prstGeom>
          <a:noFill/>
          <a:ln/>
        </p:spPr>
        <p:txBody>
          <a:bodyPr wrap="square" lIns="0" tIns="0" rIns="0" bIns="0" rtlCol="0" anchor="ctr"/>
          <a:lstStyle/>
          <a:p>
            <a:pPr algn="r" indent="0" marL="0">
              <a:buNone/>
            </a:pPr>
            <a:r>
              <a:rPr lang="en-US" sz="550" spc="340" kern="0" dirty="0">
                <a:solidFill>
                  <a:srgbClr val="5C6366"/>
                </a:solidFill>
                <a:latin typeface="Work Sans" pitchFamily="34" charset="0"/>
                <a:ea typeface="Work Sans" pitchFamily="34" charset="-122"/>
                <a:cs typeface="Work Sans" pitchFamily="34" charset="-120"/>
              </a:rPr>
              <a:t>GROUP</a:t>
            </a:r>
            <a:endParaRPr lang="en-US" sz="550" dirty="0"/>
          </a:p>
        </p:txBody>
      </p:sp>
      <p:sp>
        <p:nvSpPr>
          <p:cNvPr id="6" name="Text 4"/>
          <p:cNvSpPr/>
          <p:nvPr/>
        </p:nvSpPr>
        <p:spPr>
          <a:xfrm>
            <a:off x="566928" y="6473952"/>
            <a:ext cx="6400800" cy="201168"/>
          </a:xfrm>
          <a:prstGeom prst="rect">
            <a:avLst/>
          </a:prstGeom>
          <a:noFill/>
          <a:ln/>
        </p:spPr>
        <p:txBody>
          <a:bodyPr wrap="square" lIns="0" tIns="0" rIns="0" bIns="0" rtlCol="0" anchor="ctr"/>
          <a:lstStyle/>
          <a:p>
            <a:pPr indent="0" marL="0">
              <a:buNone/>
            </a:pPr>
            <a:r>
              <a:rPr lang="en-US" sz="700" spc="200" kern="0" dirty="0">
                <a:solidFill>
                  <a:srgbClr val="9AA0A2"/>
                </a:solidFill>
                <a:latin typeface="Work Sans" pitchFamily="34" charset="0"/>
                <a:ea typeface="Work Sans" pitchFamily="34" charset="-122"/>
                <a:cs typeface="Work Sans" pitchFamily="34" charset="-120"/>
              </a:rPr>
              <a:t>SATIS GROUP — THE SATIS APPRAISAL AGENT</a:t>
            </a:r>
            <a:endParaRPr lang="en-US" sz="700" dirty="0"/>
          </a:p>
        </p:txBody>
      </p:sp>
      <p:sp>
        <p:nvSpPr>
          <p:cNvPr id="7" name="Text 5"/>
          <p:cNvSpPr/>
          <p:nvPr/>
        </p:nvSpPr>
        <p:spPr>
          <a:xfrm>
            <a:off x="10710367" y="6473952"/>
            <a:ext cx="914400" cy="201168"/>
          </a:xfrm>
          <a:prstGeom prst="rect">
            <a:avLst/>
          </a:prstGeom>
          <a:noFill/>
          <a:ln/>
        </p:spPr>
        <p:txBody>
          <a:bodyPr wrap="square" lIns="0" tIns="0" rIns="0" bIns="0" rtlCol="0" anchor="ctr"/>
          <a:lstStyle/>
          <a:p>
            <a:pPr algn="r" indent="0" marL="0">
              <a:buNone/>
            </a:pPr>
            <a:r>
              <a:rPr lang="en-US" sz="800" spc="100" kern="0" dirty="0">
                <a:solidFill>
                  <a:srgbClr val="9AA0A2"/>
                </a:solidFill>
                <a:latin typeface="Work Sans" pitchFamily="34" charset="0"/>
                <a:ea typeface="Work Sans" pitchFamily="34" charset="-122"/>
                <a:cs typeface="Work Sans" pitchFamily="34" charset="-120"/>
              </a:rPr>
              <a:t>03</a:t>
            </a:r>
            <a:endParaRPr lang="en-US" sz="800" dirty="0"/>
          </a:p>
        </p:txBody>
      </p:sp>
      <p:sp>
        <p:nvSpPr>
          <p:cNvPr id="8" name="Text 6"/>
          <p:cNvSpPr/>
          <p:nvPr/>
        </p:nvSpPr>
        <p:spPr>
          <a:xfrm>
            <a:off x="566928" y="932688"/>
            <a:ext cx="11057839" cy="566928"/>
          </a:xfrm>
          <a:prstGeom prst="rect">
            <a:avLst/>
          </a:prstGeom>
          <a:noFill/>
          <a:ln/>
        </p:spPr>
        <p:txBody>
          <a:bodyPr wrap="square" lIns="0" tIns="0" rIns="0" bIns="0" rtlCol="0" anchor="ctr"/>
          <a:lstStyle/>
          <a:p>
            <a:pPr algn="l" indent="0" marL="0">
              <a:buNone/>
            </a:pPr>
            <a:r>
              <a:rPr lang="en-US" sz="2500" dirty="0">
                <a:solidFill>
                  <a:srgbClr val="000000"/>
                </a:solidFill>
                <a:latin typeface="Work Sans" pitchFamily="34" charset="0"/>
                <a:ea typeface="Work Sans" pitchFamily="34" charset="-122"/>
                <a:cs typeface="Work Sans" pitchFamily="34" charset="-120"/>
              </a:rPr>
              <a:t>From a floorplan to an appraised scheme.</a:t>
            </a:r>
            <a:endParaRPr lang="en-US" sz="2500" dirty="0"/>
          </a:p>
        </p:txBody>
      </p:sp>
      <p:sp>
        <p:nvSpPr>
          <p:cNvPr id="9" name="Text 7"/>
          <p:cNvSpPr/>
          <p:nvPr/>
        </p:nvSpPr>
        <p:spPr>
          <a:xfrm>
            <a:off x="566928" y="1517904"/>
            <a:ext cx="7040880" cy="475488"/>
          </a:xfrm>
          <a:prstGeom prst="rect">
            <a:avLst/>
          </a:prstGeom>
          <a:noFill/>
          <a:ln/>
        </p:spPr>
        <p:txBody>
          <a:bodyPr wrap="square" lIns="0" tIns="0" rIns="0" bIns="0" rtlCol="0" anchor="ctr"/>
          <a:lstStyle/>
          <a:p>
            <a:pPr indent="0" marL="0">
              <a:lnSpc>
                <a:spcPts val="1600"/>
              </a:lnSpc>
              <a:buNone/>
            </a:pPr>
            <a:r>
              <a:rPr lang="en-US" sz="1150" dirty="0">
                <a:solidFill>
                  <a:srgbClr val="5C6366"/>
                </a:solidFill>
                <a:latin typeface="Work Sans" pitchFamily="34" charset="0"/>
                <a:ea typeface="Work Sans" pitchFamily="34" charset="-122"/>
                <a:cs typeface="Work Sans" pitchFamily="34" charset="-120"/>
              </a:rPr>
              <a:t>The app works through a building the way the team does — mirroring the Satis Appraisal Model workbook:</a:t>
            </a:r>
            <a:endParaRPr lang="en-US" sz="1150" dirty="0"/>
          </a:p>
        </p:txBody>
      </p:sp>
      <p:sp>
        <p:nvSpPr>
          <p:cNvPr id="10" name="Shape 8"/>
          <p:cNvSpPr/>
          <p:nvPr/>
        </p:nvSpPr>
        <p:spPr>
          <a:xfrm>
            <a:off x="566928" y="2116836"/>
            <a:ext cx="246888" cy="246888"/>
          </a:xfrm>
          <a:prstGeom prst="ellipse">
            <a:avLst/>
          </a:prstGeom>
          <a:solidFill>
            <a:srgbClr val="B3400C"/>
          </a:solidFill>
          <a:ln/>
        </p:spPr>
      </p:sp>
      <p:sp>
        <p:nvSpPr>
          <p:cNvPr id="11" name="Text 9"/>
          <p:cNvSpPr/>
          <p:nvPr/>
        </p:nvSpPr>
        <p:spPr>
          <a:xfrm>
            <a:off x="521208" y="2091233"/>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1</a:t>
            </a:r>
            <a:endParaRPr lang="en-US" sz="1050" dirty="0"/>
          </a:p>
        </p:txBody>
      </p:sp>
      <p:sp>
        <p:nvSpPr>
          <p:cNvPr id="12" name="Text 10"/>
          <p:cNvSpPr/>
          <p:nvPr/>
        </p:nvSpPr>
        <p:spPr>
          <a:xfrm>
            <a:off x="987552" y="2103120"/>
            <a:ext cx="6803136"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Import floorplans of an existing building</a:t>
            </a:r>
            <a:endParaRPr lang="en-US" sz="1200" dirty="0"/>
          </a:p>
        </p:txBody>
      </p:sp>
      <p:sp>
        <p:nvSpPr>
          <p:cNvPr id="13" name="Text 11"/>
          <p:cNvSpPr/>
          <p:nvPr/>
        </p:nvSpPr>
        <p:spPr>
          <a:xfrm>
            <a:off x="987552" y="2377440"/>
            <a:ext cx="6803136" cy="415290"/>
          </a:xfrm>
          <a:prstGeom prst="rect">
            <a:avLst/>
          </a:prstGeom>
          <a:noFill/>
          <a:ln/>
        </p:spPr>
        <p:txBody>
          <a:bodyPr wrap="square" lIns="0" tIns="0" rIns="0" bIns="0" rtlCol="0" anchor="ctr"/>
          <a:lstStyle/>
          <a:p>
            <a:pPr indent="0" marL="0">
              <a:lnSpc>
                <a:spcPts val="1491"/>
              </a:lnSpc>
              <a:buNone/>
            </a:pPr>
            <a:r>
              <a:rPr lang="en-US" sz="1050" dirty="0">
                <a:solidFill>
                  <a:srgbClr val="5C6366"/>
                </a:solidFill>
                <a:latin typeface="Work Sans" pitchFamily="34" charset="0"/>
                <a:ea typeface="Work Sans" pitchFamily="34" charset="-122"/>
                <a:cs typeface="Work Sans" pitchFamily="34" charset="-120"/>
              </a:rPr>
              <a:t>From PDFs and photos (with AI connected), from DXF files, or by entering floors manually.</a:t>
            </a:r>
            <a:endParaRPr lang="en-US" sz="1050" dirty="0"/>
          </a:p>
        </p:txBody>
      </p:sp>
      <p:sp>
        <p:nvSpPr>
          <p:cNvPr id="14" name="Shape 12"/>
          <p:cNvSpPr/>
          <p:nvPr/>
        </p:nvSpPr>
        <p:spPr>
          <a:xfrm>
            <a:off x="566928" y="2952750"/>
            <a:ext cx="246888" cy="246888"/>
          </a:xfrm>
          <a:prstGeom prst="ellipse">
            <a:avLst/>
          </a:prstGeom>
          <a:solidFill>
            <a:srgbClr val="B3400C"/>
          </a:solidFill>
          <a:ln/>
        </p:spPr>
      </p:sp>
      <p:sp>
        <p:nvSpPr>
          <p:cNvPr id="15" name="Text 13"/>
          <p:cNvSpPr/>
          <p:nvPr/>
        </p:nvSpPr>
        <p:spPr>
          <a:xfrm>
            <a:off x="521208" y="2927147"/>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2</a:t>
            </a:r>
            <a:endParaRPr lang="en-US" sz="1050" dirty="0"/>
          </a:p>
        </p:txBody>
      </p:sp>
      <p:sp>
        <p:nvSpPr>
          <p:cNvPr id="16" name="Text 14"/>
          <p:cNvSpPr/>
          <p:nvPr/>
        </p:nvSpPr>
        <p:spPr>
          <a:xfrm>
            <a:off x="987552" y="2939034"/>
            <a:ext cx="6803136"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Generate conversion options</a:t>
            </a:r>
            <a:endParaRPr lang="en-US" sz="1200" dirty="0"/>
          </a:p>
        </p:txBody>
      </p:sp>
      <p:sp>
        <p:nvSpPr>
          <p:cNvPr id="17" name="Text 15"/>
          <p:cNvSpPr/>
          <p:nvPr/>
        </p:nvSpPr>
        <p:spPr>
          <a:xfrm>
            <a:off x="987552" y="3213354"/>
            <a:ext cx="6803136" cy="225933"/>
          </a:xfrm>
          <a:prstGeom prst="rect">
            <a:avLst/>
          </a:prstGeom>
          <a:noFill/>
          <a:ln/>
        </p:spPr>
        <p:txBody>
          <a:bodyPr wrap="square" lIns="0" tIns="0" rIns="0" bIns="0" rtlCol="0" anchor="ctr"/>
          <a:lstStyle/>
          <a:p>
            <a:pPr indent="0" marL="0">
              <a:lnSpc>
                <a:spcPts val="1491"/>
              </a:lnSpc>
              <a:buNone/>
            </a:pPr>
            <a:r>
              <a:rPr lang="en-US" sz="1050" dirty="0">
                <a:solidFill>
                  <a:srgbClr val="5C6366"/>
                </a:solidFill>
                <a:latin typeface="Work Sans" pitchFamily="34" charset="0"/>
                <a:ea typeface="Work Sans" pitchFamily="34" charset="-122"/>
                <a:cs typeface="Work Sans" pitchFamily="34" charset="-120"/>
              </a:rPr>
              <a:t>The ways the building could be converted — layouts generated and compared.</a:t>
            </a:r>
            <a:endParaRPr lang="en-US" sz="1050" dirty="0"/>
          </a:p>
        </p:txBody>
      </p:sp>
      <p:sp>
        <p:nvSpPr>
          <p:cNvPr id="18" name="Shape 16"/>
          <p:cNvSpPr/>
          <p:nvPr/>
        </p:nvSpPr>
        <p:spPr>
          <a:xfrm>
            <a:off x="566928" y="3599307"/>
            <a:ext cx="246888" cy="246888"/>
          </a:xfrm>
          <a:prstGeom prst="ellipse">
            <a:avLst/>
          </a:prstGeom>
          <a:solidFill>
            <a:srgbClr val="B3400C"/>
          </a:solidFill>
          <a:ln/>
        </p:spPr>
      </p:sp>
      <p:sp>
        <p:nvSpPr>
          <p:cNvPr id="19" name="Text 17"/>
          <p:cNvSpPr/>
          <p:nvPr/>
        </p:nvSpPr>
        <p:spPr>
          <a:xfrm>
            <a:off x="521208" y="3573704"/>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3</a:t>
            </a:r>
            <a:endParaRPr lang="en-US" sz="1050" dirty="0"/>
          </a:p>
        </p:txBody>
      </p:sp>
      <p:sp>
        <p:nvSpPr>
          <p:cNvPr id="20" name="Text 18"/>
          <p:cNvSpPr/>
          <p:nvPr/>
        </p:nvSpPr>
        <p:spPr>
          <a:xfrm>
            <a:off x="987552" y="3585591"/>
            <a:ext cx="6803136"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Check every layout against UK minimum-space rules</a:t>
            </a:r>
            <a:endParaRPr lang="en-US" sz="1200" dirty="0"/>
          </a:p>
        </p:txBody>
      </p:sp>
      <p:sp>
        <p:nvSpPr>
          <p:cNvPr id="21" name="Text 19"/>
          <p:cNvSpPr/>
          <p:nvPr/>
        </p:nvSpPr>
        <p:spPr>
          <a:xfrm>
            <a:off x="987552" y="3859911"/>
            <a:ext cx="6803136" cy="225933"/>
          </a:xfrm>
          <a:prstGeom prst="rect">
            <a:avLst/>
          </a:prstGeom>
          <a:noFill/>
          <a:ln/>
        </p:spPr>
        <p:txBody>
          <a:bodyPr wrap="square" lIns="0" tIns="0" rIns="0" bIns="0" rtlCol="0" anchor="ctr"/>
          <a:lstStyle/>
          <a:p>
            <a:pPr indent="0" marL="0">
              <a:lnSpc>
                <a:spcPts val="1491"/>
              </a:lnSpc>
              <a:buNone/>
            </a:pPr>
            <a:r>
              <a:rPr lang="en-US" sz="1050" dirty="0">
                <a:solidFill>
                  <a:srgbClr val="5C6366"/>
                </a:solidFill>
                <a:latin typeface="Work Sans" pitchFamily="34" charset="0"/>
                <a:ea typeface="Work Sans" pitchFamily="34" charset="-122"/>
                <a:cs typeface="Work Sans" pitchFamily="34" charset="-120"/>
              </a:rPr>
              <a:t>Non-compliant layouts are flagged before they waste appraisal time.</a:t>
            </a:r>
            <a:endParaRPr lang="en-US" sz="1050" dirty="0"/>
          </a:p>
        </p:txBody>
      </p:sp>
      <p:sp>
        <p:nvSpPr>
          <p:cNvPr id="22" name="Shape 20"/>
          <p:cNvSpPr/>
          <p:nvPr/>
        </p:nvSpPr>
        <p:spPr>
          <a:xfrm>
            <a:off x="566928" y="4245864"/>
            <a:ext cx="246888" cy="246888"/>
          </a:xfrm>
          <a:prstGeom prst="ellipse">
            <a:avLst/>
          </a:prstGeom>
          <a:solidFill>
            <a:srgbClr val="B3400C"/>
          </a:solidFill>
          <a:ln/>
        </p:spPr>
      </p:sp>
      <p:sp>
        <p:nvSpPr>
          <p:cNvPr id="23" name="Text 21"/>
          <p:cNvSpPr/>
          <p:nvPr/>
        </p:nvSpPr>
        <p:spPr>
          <a:xfrm>
            <a:off x="521208" y="4220261"/>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4</a:t>
            </a:r>
            <a:endParaRPr lang="en-US" sz="1050" dirty="0"/>
          </a:p>
        </p:txBody>
      </p:sp>
      <p:sp>
        <p:nvSpPr>
          <p:cNvPr id="24" name="Text 22"/>
          <p:cNvSpPr/>
          <p:nvPr/>
        </p:nvSpPr>
        <p:spPr>
          <a:xfrm>
            <a:off x="987552" y="4232148"/>
            <a:ext cx="6803136"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Run a full development appraisal of each option</a:t>
            </a:r>
            <a:endParaRPr lang="en-US" sz="1200" dirty="0"/>
          </a:p>
        </p:txBody>
      </p:sp>
      <p:sp>
        <p:nvSpPr>
          <p:cNvPr id="25" name="Text 23"/>
          <p:cNvSpPr/>
          <p:nvPr/>
        </p:nvSpPr>
        <p:spPr>
          <a:xfrm>
            <a:off x="987552" y="4506468"/>
            <a:ext cx="6803136" cy="415290"/>
          </a:xfrm>
          <a:prstGeom prst="rect">
            <a:avLst/>
          </a:prstGeom>
          <a:noFill/>
          <a:ln/>
        </p:spPr>
        <p:txBody>
          <a:bodyPr wrap="square" lIns="0" tIns="0" rIns="0" bIns="0" rtlCol="0" anchor="ctr"/>
          <a:lstStyle/>
          <a:p>
            <a:pPr indent="0" marL="0">
              <a:lnSpc>
                <a:spcPts val="1491"/>
              </a:lnSpc>
              <a:buNone/>
            </a:pPr>
            <a:r>
              <a:rPr lang="en-US" sz="1050" dirty="0">
                <a:solidFill>
                  <a:srgbClr val="5C6366"/>
                </a:solidFill>
                <a:latin typeface="Work Sans" pitchFamily="34" charset="0"/>
                <a:ea typeface="Work Sans" pitchFamily="34" charset="-122"/>
                <a:cs typeface="Work Sans" pitchFamily="34" charset="-120"/>
              </a:rPr>
              <a:t>Costs, values, finance and returns per option — stamp duty calculates itself from HMRC bands.</a:t>
            </a:r>
            <a:endParaRPr lang="en-US" sz="1050" dirty="0"/>
          </a:p>
        </p:txBody>
      </p:sp>
      <p:sp>
        <p:nvSpPr>
          <p:cNvPr id="26" name="Shape 24"/>
          <p:cNvSpPr/>
          <p:nvPr/>
        </p:nvSpPr>
        <p:spPr>
          <a:xfrm>
            <a:off x="8247888" y="1618488"/>
            <a:ext cx="3376879" cy="1691640"/>
          </a:xfrm>
          <a:prstGeom prst="rect">
            <a:avLst/>
          </a:prstGeom>
          <a:solidFill>
            <a:srgbClr val="ECEEEE"/>
          </a:solidFill>
          <a:ln/>
        </p:spPr>
      </p:sp>
      <p:sp>
        <p:nvSpPr>
          <p:cNvPr id="27" name="Text 25"/>
          <p:cNvSpPr/>
          <p:nvPr/>
        </p:nvSpPr>
        <p:spPr>
          <a:xfrm>
            <a:off x="8467344" y="1764792"/>
            <a:ext cx="2937967" cy="182880"/>
          </a:xfrm>
          <a:prstGeom prst="rect">
            <a:avLst/>
          </a:prstGeom>
          <a:noFill/>
          <a:ln/>
        </p:spPr>
        <p:txBody>
          <a:bodyPr wrap="square" lIns="0" tIns="0" rIns="0" bIns="0" rtlCol="0" anchor="ctr"/>
          <a:lstStyle/>
          <a:p>
            <a:pPr indent="0" marL="0">
              <a:buNone/>
            </a:pPr>
            <a:r>
              <a:rPr lang="en-US" sz="750" spc="200" kern="0" dirty="0">
                <a:solidFill>
                  <a:srgbClr val="5C6366"/>
                </a:solidFill>
                <a:latin typeface="Work Sans" pitchFamily="34" charset="0"/>
                <a:ea typeface="Work Sans" pitchFamily="34" charset="-122"/>
                <a:cs typeface="Work Sans" pitchFamily="34" charset="-120"/>
              </a:rPr>
              <a:t>GOOD TO KNOW</a:t>
            </a:r>
            <a:endParaRPr lang="en-US" sz="750" dirty="0"/>
          </a:p>
        </p:txBody>
      </p:sp>
      <p:sp>
        <p:nvSpPr>
          <p:cNvPr id="28" name="Text 26"/>
          <p:cNvSpPr/>
          <p:nvPr/>
        </p:nvSpPr>
        <p:spPr>
          <a:xfrm>
            <a:off x="8467344" y="1984248"/>
            <a:ext cx="2937967" cy="1188720"/>
          </a:xfrm>
          <a:prstGeom prst="rect">
            <a:avLst/>
          </a:prstGeom>
          <a:noFill/>
          <a:ln/>
        </p:spPr>
        <p:txBody>
          <a:bodyPr wrap="square" lIns="0" tIns="0" rIns="0" bIns="0" rtlCol="0" anchor="t"/>
          <a:lstStyle/>
          <a:p>
            <a:pPr indent="0" marL="0">
              <a:lnSpc>
                <a:spcPts val="1380"/>
              </a:lnSpc>
              <a:spcAft>
                <a:spcPts val="200"/>
              </a:spcAft>
              <a:buNone/>
            </a:pPr>
            <a:r>
              <a:rPr lang="en-US" sz="1100" b="1" dirty="0">
                <a:solidFill>
                  <a:srgbClr val="000000"/>
                </a:solidFill>
                <a:latin typeface="Work Sans" pitchFamily="34" charset="0"/>
                <a:ea typeface="Work Sans" pitchFamily="34" charset="-122"/>
                <a:cs typeface="Work Sans" pitchFamily="34" charset="-120"/>
              </a:rPr>
              <a:t>Why it exists
</a:t>
            </a:r>
            <a:pPr indent="0" marL="0">
              <a:lnSpc>
                <a:spcPts val="1380"/>
              </a:lnSpc>
              <a:spcAft>
                <a:spcPts val="500"/>
              </a:spcAft>
              <a:buNone/>
            </a:pPr>
            <a:r>
              <a:rPr lang="en-US" sz="1000" dirty="0">
                <a:solidFill>
                  <a:srgbClr val="5C6366"/>
                </a:solidFill>
                <a:latin typeface="Work Sans" pitchFamily="34" charset="0"/>
                <a:ea typeface="Work Sans" pitchFamily="34" charset="-122"/>
                <a:cs typeface="Work Sans" pitchFamily="34" charset="-120"/>
              </a:rPr>
              <a:t>Appraising three conversion options of one building used to be three workbooks. Here it is one import and a comparison.</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310896"/>
            <a:ext cx="9777679" cy="256032"/>
          </a:xfrm>
          <a:prstGeom prst="rect">
            <a:avLst/>
          </a:prstGeom>
          <a:noFill/>
          <a:ln/>
        </p:spPr>
        <p:txBody>
          <a:bodyPr wrap="square" lIns="0" tIns="0" rIns="0" bIns="0" rtlCol="0" anchor="ctr"/>
          <a:lstStyle/>
          <a:p>
            <a:pPr algn="l" indent="0" marL="0">
              <a:buNone/>
            </a:pPr>
            <a:r>
              <a:rPr lang="en-US" sz="950" spc="260" kern="0" dirty="0">
                <a:solidFill>
                  <a:srgbClr val="5C6366"/>
                </a:solidFill>
                <a:latin typeface="Work Sans" pitchFamily="34" charset="0"/>
                <a:ea typeface="Work Sans" pitchFamily="34" charset="-122"/>
                <a:cs typeface="Work Sans" pitchFamily="34" charset="-120"/>
              </a:rPr>
              <a:t>DOWNLOADING</a:t>
            </a:r>
            <a:endParaRPr lang="en-US" sz="950" dirty="0"/>
          </a:p>
        </p:txBody>
      </p:sp>
      <p:sp>
        <p:nvSpPr>
          <p:cNvPr id="3" name="Shape 1"/>
          <p:cNvSpPr/>
          <p:nvPr/>
        </p:nvSpPr>
        <p:spPr>
          <a:xfrm>
            <a:off x="566928" y="694944"/>
            <a:ext cx="11057839" cy="0"/>
          </a:xfrm>
          <a:prstGeom prst="line">
            <a:avLst/>
          </a:prstGeom>
          <a:noFill/>
          <a:ln w="9525">
            <a:solidFill>
              <a:srgbClr val="000000"/>
            </a:solidFill>
            <a:prstDash val="solid"/>
          </a:ln>
        </p:spPr>
      </p:sp>
      <p:sp>
        <p:nvSpPr>
          <p:cNvPr id="4" name="Text 2"/>
          <p:cNvSpPr/>
          <p:nvPr/>
        </p:nvSpPr>
        <p:spPr>
          <a:xfrm>
            <a:off x="10344607" y="246888"/>
            <a:ext cx="1280160" cy="219456"/>
          </a:xfrm>
          <a:prstGeom prst="rect">
            <a:avLst/>
          </a:prstGeom>
          <a:noFill/>
          <a:ln/>
        </p:spPr>
        <p:txBody>
          <a:bodyPr wrap="square" lIns="0" tIns="0" rIns="0" bIns="0" rtlCol="0" anchor="ctr"/>
          <a:lstStyle/>
          <a:p>
            <a:pPr algn="r" indent="0" marL="0">
              <a:buNone/>
            </a:pPr>
            <a:r>
              <a:rPr lang="en-US" sz="1100" spc="500" kern="0" dirty="0">
                <a:solidFill>
                  <a:srgbClr val="000000"/>
                </a:solidFill>
                <a:latin typeface="Work Sans" pitchFamily="34" charset="0"/>
                <a:ea typeface="Work Sans" pitchFamily="34" charset="-122"/>
                <a:cs typeface="Work Sans" pitchFamily="34" charset="-120"/>
              </a:rPr>
              <a:t>SATIS</a:t>
            </a:r>
            <a:endParaRPr lang="en-US" sz="1100" dirty="0"/>
          </a:p>
        </p:txBody>
      </p:sp>
      <p:sp>
        <p:nvSpPr>
          <p:cNvPr id="5" name="Text 3"/>
          <p:cNvSpPr/>
          <p:nvPr/>
        </p:nvSpPr>
        <p:spPr>
          <a:xfrm>
            <a:off x="10344607" y="457200"/>
            <a:ext cx="1280160" cy="146304"/>
          </a:xfrm>
          <a:prstGeom prst="rect">
            <a:avLst/>
          </a:prstGeom>
          <a:noFill/>
          <a:ln/>
        </p:spPr>
        <p:txBody>
          <a:bodyPr wrap="square" lIns="0" tIns="0" rIns="0" bIns="0" rtlCol="0" anchor="ctr"/>
          <a:lstStyle/>
          <a:p>
            <a:pPr algn="r" indent="0" marL="0">
              <a:buNone/>
            </a:pPr>
            <a:r>
              <a:rPr lang="en-US" sz="550" spc="340" kern="0" dirty="0">
                <a:solidFill>
                  <a:srgbClr val="5C6366"/>
                </a:solidFill>
                <a:latin typeface="Work Sans" pitchFamily="34" charset="0"/>
                <a:ea typeface="Work Sans" pitchFamily="34" charset="-122"/>
                <a:cs typeface="Work Sans" pitchFamily="34" charset="-120"/>
              </a:rPr>
              <a:t>GROUP</a:t>
            </a:r>
            <a:endParaRPr lang="en-US" sz="550" dirty="0"/>
          </a:p>
        </p:txBody>
      </p:sp>
      <p:sp>
        <p:nvSpPr>
          <p:cNvPr id="6" name="Text 4"/>
          <p:cNvSpPr/>
          <p:nvPr/>
        </p:nvSpPr>
        <p:spPr>
          <a:xfrm>
            <a:off x="566928" y="6473952"/>
            <a:ext cx="6400800" cy="201168"/>
          </a:xfrm>
          <a:prstGeom prst="rect">
            <a:avLst/>
          </a:prstGeom>
          <a:noFill/>
          <a:ln/>
        </p:spPr>
        <p:txBody>
          <a:bodyPr wrap="square" lIns="0" tIns="0" rIns="0" bIns="0" rtlCol="0" anchor="ctr"/>
          <a:lstStyle/>
          <a:p>
            <a:pPr indent="0" marL="0">
              <a:buNone/>
            </a:pPr>
            <a:r>
              <a:rPr lang="en-US" sz="700" spc="200" kern="0" dirty="0">
                <a:solidFill>
                  <a:srgbClr val="9AA0A2"/>
                </a:solidFill>
                <a:latin typeface="Work Sans" pitchFamily="34" charset="0"/>
                <a:ea typeface="Work Sans" pitchFamily="34" charset="-122"/>
                <a:cs typeface="Work Sans" pitchFamily="34" charset="-120"/>
              </a:rPr>
              <a:t>SATIS GROUP — THE SATIS APPRAISAL AGENT</a:t>
            </a:r>
            <a:endParaRPr lang="en-US" sz="700" dirty="0"/>
          </a:p>
        </p:txBody>
      </p:sp>
      <p:sp>
        <p:nvSpPr>
          <p:cNvPr id="7" name="Text 5"/>
          <p:cNvSpPr/>
          <p:nvPr/>
        </p:nvSpPr>
        <p:spPr>
          <a:xfrm>
            <a:off x="10710367" y="6473952"/>
            <a:ext cx="914400" cy="201168"/>
          </a:xfrm>
          <a:prstGeom prst="rect">
            <a:avLst/>
          </a:prstGeom>
          <a:noFill/>
          <a:ln/>
        </p:spPr>
        <p:txBody>
          <a:bodyPr wrap="square" lIns="0" tIns="0" rIns="0" bIns="0" rtlCol="0" anchor="ctr"/>
          <a:lstStyle/>
          <a:p>
            <a:pPr algn="r" indent="0" marL="0">
              <a:buNone/>
            </a:pPr>
            <a:r>
              <a:rPr lang="en-US" sz="800" spc="100" kern="0" dirty="0">
                <a:solidFill>
                  <a:srgbClr val="9AA0A2"/>
                </a:solidFill>
                <a:latin typeface="Work Sans" pitchFamily="34" charset="0"/>
                <a:ea typeface="Work Sans" pitchFamily="34" charset="-122"/>
                <a:cs typeface="Work Sans" pitchFamily="34" charset="-120"/>
              </a:rPr>
              <a:t>04</a:t>
            </a:r>
            <a:endParaRPr lang="en-US" sz="800" dirty="0"/>
          </a:p>
        </p:txBody>
      </p:sp>
      <p:sp>
        <p:nvSpPr>
          <p:cNvPr id="8" name="Text 6"/>
          <p:cNvSpPr/>
          <p:nvPr/>
        </p:nvSpPr>
        <p:spPr>
          <a:xfrm>
            <a:off x="566928" y="932688"/>
            <a:ext cx="11057839" cy="566928"/>
          </a:xfrm>
          <a:prstGeom prst="rect">
            <a:avLst/>
          </a:prstGeom>
          <a:noFill/>
          <a:ln/>
        </p:spPr>
        <p:txBody>
          <a:bodyPr wrap="square" lIns="0" tIns="0" rIns="0" bIns="0" rtlCol="0" anchor="ctr"/>
          <a:lstStyle/>
          <a:p>
            <a:pPr algn="l" indent="0" marL="0">
              <a:buNone/>
            </a:pPr>
            <a:r>
              <a:rPr lang="en-US" sz="2500" dirty="0">
                <a:solidFill>
                  <a:srgbClr val="000000"/>
                </a:solidFill>
                <a:latin typeface="Work Sans" pitchFamily="34" charset="0"/>
                <a:ea typeface="Work Sans" pitchFamily="34" charset="-122"/>
                <a:cs typeface="Work Sans" pitchFamily="34" charset="-120"/>
              </a:rPr>
              <a:t>One page, always the newest version.</a:t>
            </a:r>
            <a:endParaRPr lang="en-US" sz="2500" dirty="0"/>
          </a:p>
        </p:txBody>
      </p:sp>
      <p:sp>
        <p:nvSpPr>
          <p:cNvPr id="9" name="Text 7"/>
          <p:cNvSpPr/>
          <p:nvPr/>
        </p:nvSpPr>
        <p:spPr>
          <a:xfrm>
            <a:off x="566928" y="1618488"/>
            <a:ext cx="3931920" cy="4297680"/>
          </a:xfrm>
          <a:prstGeom prst="rect">
            <a:avLst/>
          </a:prstGeom>
          <a:noFill/>
          <a:ln/>
        </p:spPr>
        <p:txBody>
          <a:bodyPr wrap="square" lIns="0" tIns="0" rIns="0" bIns="0" rtlCol="0" anchor="t"/>
          <a:lstStyle/>
          <a:p>
            <a:pPr indent="0" marL="0">
              <a:lnSpc>
                <a:spcPts val="1600"/>
              </a:lnSpc>
              <a:spcAft>
                <a:spcPts val="1000"/>
              </a:spcAft>
              <a:buNone/>
            </a:pPr>
            <a:r>
              <a:rPr lang="en-US" sz="1100" dirty="0">
                <a:solidFill>
                  <a:srgbClr val="5C6366"/>
                </a:solidFill>
                <a:latin typeface="Work Sans" pitchFamily="34" charset="0"/>
                <a:ea typeface="Work Sans" pitchFamily="34" charset="-122"/>
                <a:cs typeface="Work Sans" pitchFamily="34" charset="-120"/>
              </a:rPr>
              <a:t>From the control room, open the Appraisal agent download card. Two buttons — Windows and Mac — always give you the newest version; there is nothing to configure.
</a:t>
            </a:r>
            <a:pPr indent="0" marL="0">
              <a:lnSpc>
                <a:spcPts val="1600"/>
              </a:lnSpc>
              <a:spcAft>
                <a:spcPts val="1000"/>
              </a:spcAft>
              <a:buNone/>
            </a:pPr>
            <a:r>
              <a:rPr lang="en-US" sz="1050" dirty="0">
                <a:solidFill>
                  <a:srgbClr val="5C6366"/>
                </a:solidFill>
                <a:latin typeface="Work Sans" pitchFamily="34" charset="0"/>
                <a:ea typeface="Work Sans" pitchFamily="34" charset="-122"/>
                <a:cs typeface="Work Sans" pitchFamily="34" charset="-120"/>
              </a:rPr>
              <a:t>Windows: Satis-Appraisal-Setup.exe · Windows 10 or newer.
</a:t>
            </a:r>
            <a:pPr indent="0" marL="0">
              <a:lnSpc>
                <a:spcPts val="1600"/>
              </a:lnSpc>
              <a:spcAft>
                <a:spcPts val="1000"/>
              </a:spcAft>
              <a:buNone/>
            </a:pPr>
            <a:r>
              <a:rPr lang="en-US" sz="1050" dirty="0">
                <a:solidFill>
                  <a:srgbClr val="5C6366"/>
                </a:solidFill>
                <a:latin typeface="Work Sans" pitchFamily="34" charset="0"/>
                <a:ea typeface="Work Sans" pitchFamily="34" charset="-122"/>
                <a:cs typeface="Work Sans" pitchFamily="34" charset="-120"/>
              </a:rPr>
              <a:t>Mac: Satis-Appraisal.dmg · Apple silicon &amp; Intel.
</a:t>
            </a:r>
            <a:pPr indent="0" marL="0">
              <a:lnSpc>
                <a:spcPts val="1600"/>
              </a:lnSpc>
              <a:spcAft>
                <a:spcPts val="1000"/>
              </a:spcAft>
              <a:buNone/>
            </a:pPr>
            <a:r>
              <a:rPr lang="en-US" sz="1100" dirty="0">
                <a:solidFill>
                  <a:srgbClr val="5C6366"/>
                </a:solidFill>
                <a:latin typeface="Work Sans" pitchFamily="34" charset="0"/>
                <a:ea typeface="Work Sans" pitchFamily="34" charset="-122"/>
                <a:cs typeface="Work Sans" pitchFamily="34" charset="-120"/>
              </a:rPr>
              <a:t>The page shows the latest version number, and the same buttons reinstall or update — just download and run again.
</a:t>
            </a:r>
            <a:endParaRPr lang="en-US" sz="1100" dirty="0"/>
          </a:p>
        </p:txBody>
      </p:sp>
      <p:pic>
        <p:nvPicPr>
          <p:cNvPr id="10" name="Image 0" descr="/tmp/claude-0/-home-user-satis-group-website/ff8ab6f4-f9c2-556a-89f3-8bea05ba205c/build/assets/appraisal-top.png">    </p:cNvPr>
          <p:cNvPicPr>
            <a:picLocks noChangeAspect="1"/>
          </p:cNvPicPr>
          <p:nvPr/>
        </p:nvPicPr>
        <p:blipFill>
          <a:blip r:embed="rId1"/>
          <a:stretch>
            <a:fillRect/>
          </a:stretch>
        </p:blipFill>
        <p:spPr>
          <a:xfrm>
            <a:off x="4910328" y="2502870"/>
            <a:ext cx="6714439" cy="2839813"/>
          </a:xfrm>
          <a:prstGeom prst="rect">
            <a:avLst/>
          </a:prstGeom>
        </p:spPr>
      </p:pic>
      <p:sp>
        <p:nvSpPr>
          <p:cNvPr id="11" name="Shape 8"/>
          <p:cNvSpPr/>
          <p:nvPr/>
        </p:nvSpPr>
        <p:spPr>
          <a:xfrm>
            <a:off x="4910328" y="2502870"/>
            <a:ext cx="6714439" cy="2839813"/>
          </a:xfrm>
          <a:prstGeom prst="rect">
            <a:avLst/>
          </a:prstGeom>
          <a:ln w="12700">
            <a:solidFill>
              <a:srgbClr val="CED1D2"/>
            </a:solidFill>
            <a:prstDash val="solid"/>
          </a:ln>
        </p:spPr>
      </p:sp>
      <p:sp>
        <p:nvSpPr>
          <p:cNvPr id="12" name="Text 9"/>
          <p:cNvSpPr/>
          <p:nvPr/>
        </p:nvSpPr>
        <p:spPr>
          <a:xfrm>
            <a:off x="4910328" y="5406690"/>
            <a:ext cx="6714439" cy="256032"/>
          </a:xfrm>
          <a:prstGeom prst="rect">
            <a:avLst/>
          </a:prstGeom>
          <a:noFill/>
          <a:ln/>
        </p:spPr>
        <p:txBody>
          <a:bodyPr wrap="square" lIns="0" tIns="0" rIns="0" bIns="0" rtlCol="0" anchor="ctr"/>
          <a:lstStyle/>
          <a:p>
            <a:pPr indent="0" marL="0">
              <a:lnSpc>
                <a:spcPts val="1100"/>
              </a:lnSpc>
              <a:buNone/>
            </a:pPr>
            <a:r>
              <a:rPr lang="en-US" sz="850" dirty="0">
                <a:solidFill>
                  <a:srgbClr val="5C6366"/>
                </a:solidFill>
                <a:latin typeface="Work Sans" pitchFamily="34" charset="0"/>
                <a:ea typeface="Work Sans" pitchFamily="34" charset="-122"/>
                <a:cs typeface="Work Sans" pitchFamily="34" charset="-120"/>
              </a:rPr>
              <a:t>The Appraisal agent download page at /admin/appraisal, with the current version shown.</a:t>
            </a:r>
            <a:endParaRPr lang="en-US" sz="850" dirty="0"/>
          </a:p>
        </p:txBody>
      </p:sp>
      <p:sp>
        <p:nvSpPr>
          <p:cNvPr id="13" name="Shape 10"/>
          <p:cNvSpPr/>
          <p:nvPr/>
        </p:nvSpPr>
        <p:spPr>
          <a:xfrm>
            <a:off x="566928" y="5074920"/>
            <a:ext cx="3931920" cy="1051560"/>
          </a:xfrm>
          <a:prstGeom prst="rect">
            <a:avLst/>
          </a:prstGeom>
          <a:solidFill>
            <a:srgbClr val="ECEEEE"/>
          </a:solidFill>
          <a:ln/>
        </p:spPr>
      </p:sp>
      <p:sp>
        <p:nvSpPr>
          <p:cNvPr id="14" name="Text 11"/>
          <p:cNvSpPr/>
          <p:nvPr/>
        </p:nvSpPr>
        <p:spPr>
          <a:xfrm>
            <a:off x="786384" y="5221224"/>
            <a:ext cx="3493008" cy="182880"/>
          </a:xfrm>
          <a:prstGeom prst="rect">
            <a:avLst/>
          </a:prstGeom>
          <a:noFill/>
          <a:ln/>
        </p:spPr>
        <p:txBody>
          <a:bodyPr wrap="square" lIns="0" tIns="0" rIns="0" bIns="0" rtlCol="0" anchor="ctr"/>
          <a:lstStyle/>
          <a:p>
            <a:pPr indent="0" marL="0">
              <a:buNone/>
            </a:pPr>
            <a:r>
              <a:rPr lang="en-US" sz="750" spc="200" kern="0" dirty="0">
                <a:solidFill>
                  <a:srgbClr val="5C6366"/>
                </a:solidFill>
                <a:latin typeface="Work Sans" pitchFamily="34" charset="0"/>
                <a:ea typeface="Work Sans" pitchFamily="34" charset="-122"/>
                <a:cs typeface="Work Sans" pitchFamily="34" charset="-120"/>
              </a:rPr>
              <a:t>GOOD TO KNOW</a:t>
            </a:r>
            <a:endParaRPr lang="en-US" sz="750" dirty="0"/>
          </a:p>
        </p:txBody>
      </p:sp>
      <p:sp>
        <p:nvSpPr>
          <p:cNvPr id="15" name="Text 12"/>
          <p:cNvSpPr/>
          <p:nvPr/>
        </p:nvSpPr>
        <p:spPr>
          <a:xfrm>
            <a:off x="786384" y="5440680"/>
            <a:ext cx="3493008" cy="548640"/>
          </a:xfrm>
          <a:prstGeom prst="rect">
            <a:avLst/>
          </a:prstGeom>
          <a:noFill/>
          <a:ln/>
        </p:spPr>
        <p:txBody>
          <a:bodyPr wrap="square" lIns="0" tIns="0" rIns="0" bIns="0" rtlCol="0" anchor="t"/>
          <a:lstStyle/>
          <a:p>
            <a:pPr indent="0" marL="0">
              <a:lnSpc>
                <a:spcPts val="1380"/>
              </a:lnSpc>
              <a:spcAft>
                <a:spcPts val="200"/>
              </a:spcAft>
              <a:buNone/>
            </a:pPr>
            <a:r>
              <a:rPr lang="en-US" sz="1100" b="1" dirty="0">
                <a:solidFill>
                  <a:srgbClr val="000000"/>
                </a:solidFill>
                <a:latin typeface="Work Sans" pitchFamily="34" charset="0"/>
                <a:ea typeface="Work Sans" pitchFamily="34" charset="-122"/>
                <a:cs typeface="Work Sans" pitchFamily="34" charset="-120"/>
              </a:rPr>
              <a:t>Signed in required
</a:t>
            </a:r>
            <a:pPr indent="0" marL="0">
              <a:lnSpc>
                <a:spcPts val="1380"/>
              </a:lnSpc>
              <a:spcAft>
                <a:spcPts val="500"/>
              </a:spcAft>
              <a:buNone/>
            </a:pPr>
            <a:r>
              <a:rPr lang="en-US" sz="1000" dirty="0">
                <a:solidFill>
                  <a:srgbClr val="5C6366"/>
                </a:solidFill>
                <a:latin typeface="Work Sans" pitchFamily="34" charset="0"/>
                <a:ea typeface="Work Sans" pitchFamily="34" charset="-122"/>
                <a:cs typeface="Work Sans" pitchFamily="34" charset="-120"/>
              </a:rPr>
              <a:t>The download page is part of the admin area — sign in at /admin first.</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310896"/>
            <a:ext cx="9777679" cy="256032"/>
          </a:xfrm>
          <a:prstGeom prst="rect">
            <a:avLst/>
          </a:prstGeom>
          <a:noFill/>
          <a:ln/>
        </p:spPr>
        <p:txBody>
          <a:bodyPr wrap="square" lIns="0" tIns="0" rIns="0" bIns="0" rtlCol="0" anchor="ctr"/>
          <a:lstStyle/>
          <a:p>
            <a:pPr algn="l" indent="0" marL="0">
              <a:buNone/>
            </a:pPr>
            <a:r>
              <a:rPr lang="en-US" sz="950" spc="260" kern="0" dirty="0">
                <a:solidFill>
                  <a:srgbClr val="5C6366"/>
                </a:solidFill>
                <a:latin typeface="Work Sans" pitchFamily="34" charset="0"/>
                <a:ea typeface="Work Sans" pitchFamily="34" charset="-122"/>
                <a:cs typeface="Work Sans" pitchFamily="34" charset="-120"/>
              </a:rPr>
              <a:t>INSTALLING</a:t>
            </a:r>
            <a:endParaRPr lang="en-US" sz="950" dirty="0"/>
          </a:p>
        </p:txBody>
      </p:sp>
      <p:sp>
        <p:nvSpPr>
          <p:cNvPr id="3" name="Shape 1"/>
          <p:cNvSpPr/>
          <p:nvPr/>
        </p:nvSpPr>
        <p:spPr>
          <a:xfrm>
            <a:off x="566928" y="694944"/>
            <a:ext cx="11057839" cy="0"/>
          </a:xfrm>
          <a:prstGeom prst="line">
            <a:avLst/>
          </a:prstGeom>
          <a:noFill/>
          <a:ln w="9525">
            <a:solidFill>
              <a:srgbClr val="000000"/>
            </a:solidFill>
            <a:prstDash val="solid"/>
          </a:ln>
        </p:spPr>
      </p:sp>
      <p:sp>
        <p:nvSpPr>
          <p:cNvPr id="4" name="Text 2"/>
          <p:cNvSpPr/>
          <p:nvPr/>
        </p:nvSpPr>
        <p:spPr>
          <a:xfrm>
            <a:off x="10344607" y="246888"/>
            <a:ext cx="1280160" cy="219456"/>
          </a:xfrm>
          <a:prstGeom prst="rect">
            <a:avLst/>
          </a:prstGeom>
          <a:noFill/>
          <a:ln/>
        </p:spPr>
        <p:txBody>
          <a:bodyPr wrap="square" lIns="0" tIns="0" rIns="0" bIns="0" rtlCol="0" anchor="ctr"/>
          <a:lstStyle/>
          <a:p>
            <a:pPr algn="r" indent="0" marL="0">
              <a:buNone/>
            </a:pPr>
            <a:r>
              <a:rPr lang="en-US" sz="1100" spc="500" kern="0" dirty="0">
                <a:solidFill>
                  <a:srgbClr val="000000"/>
                </a:solidFill>
                <a:latin typeface="Work Sans" pitchFamily="34" charset="0"/>
                <a:ea typeface="Work Sans" pitchFamily="34" charset="-122"/>
                <a:cs typeface="Work Sans" pitchFamily="34" charset="-120"/>
              </a:rPr>
              <a:t>SATIS</a:t>
            </a:r>
            <a:endParaRPr lang="en-US" sz="1100" dirty="0"/>
          </a:p>
        </p:txBody>
      </p:sp>
      <p:sp>
        <p:nvSpPr>
          <p:cNvPr id="5" name="Text 3"/>
          <p:cNvSpPr/>
          <p:nvPr/>
        </p:nvSpPr>
        <p:spPr>
          <a:xfrm>
            <a:off x="10344607" y="457200"/>
            <a:ext cx="1280160" cy="146304"/>
          </a:xfrm>
          <a:prstGeom prst="rect">
            <a:avLst/>
          </a:prstGeom>
          <a:noFill/>
          <a:ln/>
        </p:spPr>
        <p:txBody>
          <a:bodyPr wrap="square" lIns="0" tIns="0" rIns="0" bIns="0" rtlCol="0" anchor="ctr"/>
          <a:lstStyle/>
          <a:p>
            <a:pPr algn="r" indent="0" marL="0">
              <a:buNone/>
            </a:pPr>
            <a:r>
              <a:rPr lang="en-US" sz="550" spc="340" kern="0" dirty="0">
                <a:solidFill>
                  <a:srgbClr val="5C6366"/>
                </a:solidFill>
                <a:latin typeface="Work Sans" pitchFamily="34" charset="0"/>
                <a:ea typeface="Work Sans" pitchFamily="34" charset="-122"/>
                <a:cs typeface="Work Sans" pitchFamily="34" charset="-120"/>
              </a:rPr>
              <a:t>GROUP</a:t>
            </a:r>
            <a:endParaRPr lang="en-US" sz="550" dirty="0"/>
          </a:p>
        </p:txBody>
      </p:sp>
      <p:sp>
        <p:nvSpPr>
          <p:cNvPr id="6" name="Text 4"/>
          <p:cNvSpPr/>
          <p:nvPr/>
        </p:nvSpPr>
        <p:spPr>
          <a:xfrm>
            <a:off x="566928" y="6473952"/>
            <a:ext cx="6400800" cy="201168"/>
          </a:xfrm>
          <a:prstGeom prst="rect">
            <a:avLst/>
          </a:prstGeom>
          <a:noFill/>
          <a:ln/>
        </p:spPr>
        <p:txBody>
          <a:bodyPr wrap="square" lIns="0" tIns="0" rIns="0" bIns="0" rtlCol="0" anchor="ctr"/>
          <a:lstStyle/>
          <a:p>
            <a:pPr indent="0" marL="0">
              <a:buNone/>
            </a:pPr>
            <a:r>
              <a:rPr lang="en-US" sz="700" spc="200" kern="0" dirty="0">
                <a:solidFill>
                  <a:srgbClr val="9AA0A2"/>
                </a:solidFill>
                <a:latin typeface="Work Sans" pitchFamily="34" charset="0"/>
                <a:ea typeface="Work Sans" pitchFamily="34" charset="-122"/>
                <a:cs typeface="Work Sans" pitchFamily="34" charset="-120"/>
              </a:rPr>
              <a:t>SATIS GROUP — THE SATIS APPRAISAL AGENT</a:t>
            </a:r>
            <a:endParaRPr lang="en-US" sz="700" dirty="0"/>
          </a:p>
        </p:txBody>
      </p:sp>
      <p:sp>
        <p:nvSpPr>
          <p:cNvPr id="7" name="Text 5"/>
          <p:cNvSpPr/>
          <p:nvPr/>
        </p:nvSpPr>
        <p:spPr>
          <a:xfrm>
            <a:off x="10710367" y="6473952"/>
            <a:ext cx="914400" cy="201168"/>
          </a:xfrm>
          <a:prstGeom prst="rect">
            <a:avLst/>
          </a:prstGeom>
          <a:noFill/>
          <a:ln/>
        </p:spPr>
        <p:txBody>
          <a:bodyPr wrap="square" lIns="0" tIns="0" rIns="0" bIns="0" rtlCol="0" anchor="ctr"/>
          <a:lstStyle/>
          <a:p>
            <a:pPr algn="r" indent="0" marL="0">
              <a:buNone/>
            </a:pPr>
            <a:r>
              <a:rPr lang="en-US" sz="800" spc="100" kern="0" dirty="0">
                <a:solidFill>
                  <a:srgbClr val="9AA0A2"/>
                </a:solidFill>
                <a:latin typeface="Work Sans" pitchFamily="34" charset="0"/>
                <a:ea typeface="Work Sans" pitchFamily="34" charset="-122"/>
                <a:cs typeface="Work Sans" pitchFamily="34" charset="-120"/>
              </a:rPr>
              <a:t>05</a:t>
            </a:r>
            <a:endParaRPr lang="en-US" sz="800" dirty="0"/>
          </a:p>
        </p:txBody>
      </p:sp>
      <p:sp>
        <p:nvSpPr>
          <p:cNvPr id="8" name="Text 6"/>
          <p:cNvSpPr/>
          <p:nvPr/>
        </p:nvSpPr>
        <p:spPr>
          <a:xfrm>
            <a:off x="566928" y="932688"/>
            <a:ext cx="11057839" cy="566928"/>
          </a:xfrm>
          <a:prstGeom prst="rect">
            <a:avLst/>
          </a:prstGeom>
          <a:noFill/>
          <a:ln/>
        </p:spPr>
        <p:txBody>
          <a:bodyPr wrap="square" lIns="0" tIns="0" rIns="0" bIns="0" rtlCol="0" anchor="ctr"/>
          <a:lstStyle/>
          <a:p>
            <a:pPr algn="l" indent="0" marL="0">
              <a:buNone/>
            </a:pPr>
            <a:r>
              <a:rPr lang="en-US" sz="2500" dirty="0">
                <a:solidFill>
                  <a:srgbClr val="000000"/>
                </a:solidFill>
                <a:latin typeface="Work Sans" pitchFamily="34" charset="0"/>
                <a:ea typeface="Work Sans" pitchFamily="34" charset="-122"/>
                <a:cs typeface="Work Sans" pitchFamily="34" charset="-120"/>
              </a:rPr>
              <a:t>Installing — and the one-time security prompt.</a:t>
            </a:r>
            <a:endParaRPr lang="en-US" sz="2500" dirty="0"/>
          </a:p>
        </p:txBody>
      </p:sp>
      <p:sp>
        <p:nvSpPr>
          <p:cNvPr id="9" name="Text 7"/>
          <p:cNvSpPr/>
          <p:nvPr/>
        </p:nvSpPr>
        <p:spPr>
          <a:xfrm>
            <a:off x="566928" y="1517904"/>
            <a:ext cx="9509760" cy="475488"/>
          </a:xfrm>
          <a:prstGeom prst="rect">
            <a:avLst/>
          </a:prstGeom>
          <a:noFill/>
          <a:ln/>
        </p:spPr>
        <p:txBody>
          <a:bodyPr wrap="square" lIns="0" tIns="0" rIns="0" bIns="0" rtlCol="0" anchor="ctr"/>
          <a:lstStyle/>
          <a:p>
            <a:pPr indent="0" marL="0">
              <a:lnSpc>
                <a:spcPts val="1600"/>
              </a:lnSpc>
              <a:buNone/>
            </a:pPr>
            <a:r>
              <a:rPr lang="en-US" sz="1150" dirty="0">
                <a:solidFill>
                  <a:srgbClr val="5C6366"/>
                </a:solidFill>
                <a:latin typeface="Work Sans" pitchFamily="34" charset="0"/>
                <a:ea typeface="Work Sans" pitchFamily="34" charset="-122"/>
                <a:cs typeface="Work Sans" pitchFamily="34" charset="-120"/>
              </a:rPr>
              <a:t>The app is distributed privately by Satis Group rather than through the Microsoft Store or App Store, so each system asks once for confirmation. This is expected — here is exactly what to click:</a:t>
            </a:r>
            <a:endParaRPr lang="en-US" sz="1150" dirty="0"/>
          </a:p>
        </p:txBody>
      </p:sp>
      <p:sp>
        <p:nvSpPr>
          <p:cNvPr id="10" name="Text 8"/>
          <p:cNvSpPr/>
          <p:nvPr/>
        </p:nvSpPr>
        <p:spPr>
          <a:xfrm>
            <a:off x="566928" y="2240280"/>
            <a:ext cx="5208880" cy="219456"/>
          </a:xfrm>
          <a:prstGeom prst="rect">
            <a:avLst/>
          </a:prstGeom>
          <a:noFill/>
          <a:ln/>
        </p:spPr>
        <p:txBody>
          <a:bodyPr wrap="square" lIns="0" tIns="0" rIns="0" bIns="0" rtlCol="0" anchor="ctr"/>
          <a:lstStyle/>
          <a:p>
            <a:pPr indent="0" marL="0">
              <a:buNone/>
            </a:pPr>
            <a:r>
              <a:rPr lang="en-US" sz="900" spc="220" kern="0" dirty="0">
                <a:solidFill>
                  <a:srgbClr val="5C6366"/>
                </a:solidFill>
                <a:latin typeface="Work Sans" pitchFamily="34" charset="0"/>
                <a:ea typeface="Work Sans" pitchFamily="34" charset="-122"/>
                <a:cs typeface="Work Sans" pitchFamily="34" charset="-120"/>
              </a:rPr>
              <a:t>WINDOWS</a:t>
            </a:r>
            <a:endParaRPr lang="en-US" sz="900" dirty="0"/>
          </a:p>
        </p:txBody>
      </p:sp>
      <p:sp>
        <p:nvSpPr>
          <p:cNvPr id="11" name="Shape 9"/>
          <p:cNvSpPr/>
          <p:nvPr/>
        </p:nvSpPr>
        <p:spPr>
          <a:xfrm>
            <a:off x="566928" y="2551176"/>
            <a:ext cx="5208880" cy="0"/>
          </a:xfrm>
          <a:prstGeom prst="line">
            <a:avLst/>
          </a:prstGeom>
          <a:noFill/>
          <a:ln w="9525">
            <a:solidFill>
              <a:srgbClr val="CED1D2"/>
            </a:solidFill>
            <a:prstDash val="solid"/>
          </a:ln>
        </p:spPr>
      </p:sp>
      <p:sp>
        <p:nvSpPr>
          <p:cNvPr id="12" name="Text 10"/>
          <p:cNvSpPr/>
          <p:nvPr/>
        </p:nvSpPr>
        <p:spPr>
          <a:xfrm>
            <a:off x="585216" y="2697480"/>
            <a:ext cx="5163160" cy="3749040"/>
          </a:xfrm>
          <a:prstGeom prst="rect">
            <a:avLst/>
          </a:prstGeom>
          <a:noFill/>
          <a:ln/>
        </p:spPr>
        <p:txBody>
          <a:bodyPr wrap="square" lIns="0" tIns="0" rIns="0" bIns="0" rtlCol="0" anchor="t"/>
          <a:lstStyle/>
          <a:p>
            <a:pPr marL="203200" indent="-203200">
              <a:lnSpc>
                <a:spcPts val="1500"/>
              </a:lnSpc>
              <a:spcAft>
                <a:spcPts val="900"/>
              </a:spcAft>
              <a:buSzPct val="100000"/>
              <a:buFont typeface="+mj-lt"/>
              <a:buAutoNum type="arabicPeriod" startAt="1"/>
            </a:pPr>
            <a:r>
              <a:rPr lang="en-US" sz="1050" dirty="0">
                <a:solidFill>
                  <a:srgbClr val="000000"/>
                </a:solidFill>
                <a:latin typeface="Work Sans" pitchFamily="34" charset="0"/>
                <a:ea typeface="Work Sans" pitchFamily="34" charset="-122"/>
                <a:cs typeface="Work Sans" pitchFamily="34" charset="-120"/>
              </a:rPr>
              <a:t>Click the Windows button — Satis-Appraisal-Setup.exe saves to Downloads.</a:t>
            </a:r>
            <a:endParaRPr lang="en-US" sz="1050" dirty="0"/>
          </a:p>
          <a:p>
            <a:pPr marL="203200" indent="-203200">
              <a:lnSpc>
                <a:spcPts val="1500"/>
              </a:lnSpc>
              <a:spcAft>
                <a:spcPts val="900"/>
              </a:spcAft>
              <a:buSzPct val="100000"/>
              <a:buFont typeface="+mj-lt"/>
              <a:buAutoNum type="arabicPeriod" startAt="1"/>
            </a:pPr>
            <a:r>
              <a:rPr lang="en-US" sz="1050" dirty="0">
                <a:solidFill>
                  <a:srgbClr val="000000"/>
                </a:solidFill>
                <a:latin typeface="Work Sans" pitchFamily="34" charset="0"/>
                <a:ea typeface="Work Sans" pitchFamily="34" charset="-122"/>
                <a:cs typeface="Work Sans" pitchFamily="34" charset="-120"/>
              </a:rPr>
              <a:t>Double-click the file in Downloads.</a:t>
            </a:r>
            <a:endParaRPr lang="en-US" sz="1050" dirty="0"/>
          </a:p>
          <a:p>
            <a:pPr marL="203200" indent="-203200">
              <a:lnSpc>
                <a:spcPts val="1500"/>
              </a:lnSpc>
              <a:spcAft>
                <a:spcPts val="900"/>
              </a:spcAft>
              <a:buSzPct val="100000"/>
              <a:buFont typeface="+mj-lt"/>
              <a:buAutoNum type="arabicPeriod" startAt="1"/>
            </a:pPr>
            <a:r>
              <a:rPr lang="en-US" sz="1050" dirty="0">
                <a:solidFill>
                  <a:srgbClr val="000000"/>
                </a:solidFill>
                <a:latin typeface="Work Sans" pitchFamily="34" charset="0"/>
                <a:ea typeface="Work Sans" pitchFamily="34" charset="-122"/>
                <a:cs typeface="Work Sans" pitchFamily="34" charset="-120"/>
              </a:rPr>
              <a:t>If a blue “Windows protected your PC” message appears: click “More info”, then “Run anyway”.</a:t>
            </a:r>
            <a:endParaRPr lang="en-US" sz="1050" dirty="0"/>
          </a:p>
          <a:p>
            <a:pPr marL="203200" indent="-203200">
              <a:lnSpc>
                <a:spcPts val="1500"/>
              </a:lnSpc>
              <a:spcAft>
                <a:spcPts val="900"/>
              </a:spcAft>
              <a:buSzPct val="100000"/>
              <a:buFont typeface="+mj-lt"/>
              <a:buAutoNum type="arabicPeriod" startAt="1"/>
            </a:pPr>
            <a:r>
              <a:rPr lang="en-US" sz="1050" dirty="0">
                <a:solidFill>
                  <a:srgbClr val="000000"/>
                </a:solidFill>
                <a:latin typeface="Work Sans" pitchFamily="34" charset="0"/>
                <a:ea typeface="Work Sans" pitchFamily="34" charset="-122"/>
                <a:cs typeface="Work Sans" pitchFamily="34" charset="-120"/>
              </a:rPr>
              <a:t>Follow the installer — Next, choose the suggested folder, Install.</a:t>
            </a:r>
            <a:endParaRPr lang="en-US" sz="1050" dirty="0"/>
          </a:p>
          <a:p>
            <a:pPr marL="203200" indent="-203200">
              <a:lnSpc>
                <a:spcPts val="1500"/>
              </a:lnSpc>
              <a:spcAft>
                <a:spcPts val="900"/>
              </a:spcAft>
              <a:buSzPct val="100000"/>
              <a:buFont typeface="+mj-lt"/>
              <a:buAutoNum type="arabicPeriod" startAt="1"/>
            </a:pPr>
            <a:r>
              <a:rPr lang="en-US" sz="1050" dirty="0">
                <a:solidFill>
                  <a:srgbClr val="000000"/>
                </a:solidFill>
                <a:latin typeface="Work Sans" pitchFamily="34" charset="0"/>
                <a:ea typeface="Work Sans" pitchFamily="34" charset="-122"/>
                <a:cs typeface="Work Sans" pitchFamily="34" charset="-120"/>
              </a:rPr>
              <a:t>Satis Appraisal appears in the Start menu like any other program.</a:t>
            </a:r>
            <a:endParaRPr lang="en-US" sz="1050" dirty="0"/>
          </a:p>
        </p:txBody>
      </p:sp>
      <p:sp>
        <p:nvSpPr>
          <p:cNvPr id="13" name="Text 11"/>
          <p:cNvSpPr/>
          <p:nvPr/>
        </p:nvSpPr>
        <p:spPr>
          <a:xfrm>
            <a:off x="6415888" y="2240280"/>
            <a:ext cx="5208880" cy="219456"/>
          </a:xfrm>
          <a:prstGeom prst="rect">
            <a:avLst/>
          </a:prstGeom>
          <a:noFill/>
          <a:ln/>
        </p:spPr>
        <p:txBody>
          <a:bodyPr wrap="square" lIns="0" tIns="0" rIns="0" bIns="0" rtlCol="0" anchor="ctr"/>
          <a:lstStyle/>
          <a:p>
            <a:pPr indent="0" marL="0">
              <a:buNone/>
            </a:pPr>
            <a:r>
              <a:rPr lang="en-US" sz="900" spc="220" kern="0" dirty="0">
                <a:solidFill>
                  <a:srgbClr val="5C6366"/>
                </a:solidFill>
                <a:latin typeface="Work Sans" pitchFamily="34" charset="0"/>
                <a:ea typeface="Work Sans" pitchFamily="34" charset="-122"/>
                <a:cs typeface="Work Sans" pitchFamily="34" charset="-120"/>
              </a:rPr>
              <a:t>MAC</a:t>
            </a:r>
            <a:endParaRPr lang="en-US" sz="900" dirty="0"/>
          </a:p>
        </p:txBody>
      </p:sp>
      <p:sp>
        <p:nvSpPr>
          <p:cNvPr id="14" name="Shape 12"/>
          <p:cNvSpPr/>
          <p:nvPr/>
        </p:nvSpPr>
        <p:spPr>
          <a:xfrm>
            <a:off x="6415888" y="2551176"/>
            <a:ext cx="5208880" cy="0"/>
          </a:xfrm>
          <a:prstGeom prst="line">
            <a:avLst/>
          </a:prstGeom>
          <a:noFill/>
          <a:ln w="9525">
            <a:solidFill>
              <a:srgbClr val="CED1D2"/>
            </a:solidFill>
            <a:prstDash val="solid"/>
          </a:ln>
        </p:spPr>
      </p:sp>
      <p:sp>
        <p:nvSpPr>
          <p:cNvPr id="15" name="Text 13"/>
          <p:cNvSpPr/>
          <p:nvPr/>
        </p:nvSpPr>
        <p:spPr>
          <a:xfrm>
            <a:off x="6434176" y="2697480"/>
            <a:ext cx="5163160" cy="3749040"/>
          </a:xfrm>
          <a:prstGeom prst="rect">
            <a:avLst/>
          </a:prstGeom>
          <a:noFill/>
          <a:ln/>
        </p:spPr>
        <p:txBody>
          <a:bodyPr wrap="square" lIns="0" tIns="0" rIns="0" bIns="0" rtlCol="0" anchor="t"/>
          <a:lstStyle/>
          <a:p>
            <a:pPr marL="203200" indent="-203200">
              <a:lnSpc>
                <a:spcPts val="1500"/>
              </a:lnSpc>
              <a:spcAft>
                <a:spcPts val="900"/>
              </a:spcAft>
              <a:buSzPct val="100000"/>
              <a:buFont typeface="+mj-lt"/>
              <a:buAutoNum type="arabicPeriod" startAt="1"/>
            </a:pPr>
            <a:r>
              <a:rPr lang="en-US" sz="1050" dirty="0">
                <a:solidFill>
                  <a:srgbClr val="000000"/>
                </a:solidFill>
                <a:latin typeface="Work Sans" pitchFamily="34" charset="0"/>
                <a:ea typeface="Work Sans" pitchFamily="34" charset="-122"/>
                <a:cs typeface="Work Sans" pitchFamily="34" charset="-120"/>
              </a:rPr>
              <a:t>Click the Mac button — Satis-Appraisal.dmg saves to Downloads.</a:t>
            </a:r>
            <a:endParaRPr lang="en-US" sz="1050" dirty="0"/>
          </a:p>
          <a:p>
            <a:pPr marL="203200" indent="-203200">
              <a:lnSpc>
                <a:spcPts val="1500"/>
              </a:lnSpc>
              <a:spcAft>
                <a:spcPts val="900"/>
              </a:spcAft>
              <a:buSzPct val="100000"/>
              <a:buFont typeface="+mj-lt"/>
              <a:buAutoNum type="arabicPeriod" startAt="1"/>
            </a:pPr>
            <a:r>
              <a:rPr lang="en-US" sz="1050" dirty="0">
                <a:solidFill>
                  <a:srgbClr val="000000"/>
                </a:solidFill>
                <a:latin typeface="Work Sans" pitchFamily="34" charset="0"/>
                <a:ea typeface="Work Sans" pitchFamily="34" charset="-122"/>
                <a:cs typeface="Work Sans" pitchFamily="34" charset="-120"/>
              </a:rPr>
              <a:t>Double-click the file, then drag Satis Appraisal into the Applications folder shown next to it.</a:t>
            </a:r>
            <a:endParaRPr lang="en-US" sz="1050" dirty="0"/>
          </a:p>
          <a:p>
            <a:pPr marL="203200" indent="-203200">
              <a:lnSpc>
                <a:spcPts val="1500"/>
              </a:lnSpc>
              <a:spcAft>
                <a:spcPts val="900"/>
              </a:spcAft>
              <a:buSzPct val="100000"/>
              <a:buFont typeface="+mj-lt"/>
              <a:buAutoNum type="arabicPeriod" startAt="1"/>
            </a:pPr>
            <a:r>
              <a:rPr lang="en-US" sz="1050" dirty="0">
                <a:solidFill>
                  <a:srgbClr val="000000"/>
                </a:solidFill>
                <a:latin typeface="Work Sans" pitchFamily="34" charset="0"/>
                <a:ea typeface="Work Sans" pitchFamily="34" charset="-122"/>
                <a:cs typeface="Work Sans" pitchFamily="34" charset="-120"/>
              </a:rPr>
              <a:t>First launch only: hold Control, click Satis Appraisal, choose “Open”, and confirm.</a:t>
            </a:r>
            <a:endParaRPr lang="en-US" sz="1050" dirty="0"/>
          </a:p>
          <a:p>
            <a:pPr marL="203200" indent="-203200">
              <a:lnSpc>
                <a:spcPts val="1500"/>
              </a:lnSpc>
              <a:spcAft>
                <a:spcPts val="900"/>
              </a:spcAft>
              <a:buSzPct val="100000"/>
              <a:buFont typeface="+mj-lt"/>
              <a:buAutoNum type="arabicPeriod" startAt="1"/>
            </a:pPr>
            <a:r>
              <a:rPr lang="en-US" sz="1050" dirty="0">
                <a:solidFill>
                  <a:srgbClr val="000000"/>
                </a:solidFill>
                <a:latin typeface="Work Sans" pitchFamily="34" charset="0"/>
                <a:ea typeface="Work Sans" pitchFamily="34" charset="-122"/>
                <a:cs typeface="Work Sans" pitchFamily="34" charset="-120"/>
              </a:rPr>
              <a:t>After that it opens normally from Launchpad or Applications.</a:t>
            </a:r>
            <a:endParaRPr lang="en-US" sz="1050" dirty="0"/>
          </a:p>
        </p:txBody>
      </p:sp>
      <p:sp>
        <p:nvSpPr>
          <p:cNvPr id="16" name="Shape 14"/>
          <p:cNvSpPr/>
          <p:nvPr/>
        </p:nvSpPr>
        <p:spPr>
          <a:xfrm>
            <a:off x="566928" y="5440680"/>
            <a:ext cx="11057839" cy="868680"/>
          </a:xfrm>
          <a:prstGeom prst="rect">
            <a:avLst/>
          </a:prstGeom>
          <a:solidFill>
            <a:srgbClr val="ECEEEE"/>
          </a:solidFill>
          <a:ln/>
        </p:spPr>
      </p:sp>
      <p:sp>
        <p:nvSpPr>
          <p:cNvPr id="17" name="Text 15"/>
          <p:cNvSpPr/>
          <p:nvPr/>
        </p:nvSpPr>
        <p:spPr>
          <a:xfrm>
            <a:off x="786384" y="5586984"/>
            <a:ext cx="10618927" cy="182880"/>
          </a:xfrm>
          <a:prstGeom prst="rect">
            <a:avLst/>
          </a:prstGeom>
          <a:noFill/>
          <a:ln/>
        </p:spPr>
        <p:txBody>
          <a:bodyPr wrap="square" lIns="0" tIns="0" rIns="0" bIns="0" rtlCol="0" anchor="ctr"/>
          <a:lstStyle/>
          <a:p>
            <a:pPr indent="0" marL="0">
              <a:buNone/>
            </a:pPr>
            <a:r>
              <a:rPr lang="en-US" sz="750" spc="200" kern="0" dirty="0">
                <a:solidFill>
                  <a:srgbClr val="5C6366"/>
                </a:solidFill>
                <a:latin typeface="Work Sans" pitchFamily="34" charset="0"/>
                <a:ea typeface="Work Sans" pitchFamily="34" charset="-122"/>
                <a:cs typeface="Work Sans" pitchFamily="34" charset="-120"/>
              </a:rPr>
              <a:t>GOOD TO KNOW</a:t>
            </a:r>
            <a:endParaRPr lang="en-US" sz="750" dirty="0"/>
          </a:p>
        </p:txBody>
      </p:sp>
      <p:sp>
        <p:nvSpPr>
          <p:cNvPr id="18" name="Text 16"/>
          <p:cNvSpPr/>
          <p:nvPr/>
        </p:nvSpPr>
        <p:spPr>
          <a:xfrm>
            <a:off x="786384" y="5806440"/>
            <a:ext cx="10618927" cy="365760"/>
          </a:xfrm>
          <a:prstGeom prst="rect">
            <a:avLst/>
          </a:prstGeom>
          <a:noFill/>
          <a:ln/>
        </p:spPr>
        <p:txBody>
          <a:bodyPr wrap="square" lIns="0" tIns="0" rIns="0" bIns="0" rtlCol="0" anchor="t"/>
          <a:lstStyle/>
          <a:p>
            <a:pPr indent="0" marL="0">
              <a:lnSpc>
                <a:spcPts val="1380"/>
              </a:lnSpc>
              <a:spcAft>
                <a:spcPts val="200"/>
              </a:spcAft>
              <a:buNone/>
            </a:pPr>
            <a:r>
              <a:rPr lang="en-US" sz="1100" b="1" dirty="0">
                <a:solidFill>
                  <a:srgbClr val="000000"/>
                </a:solidFill>
                <a:latin typeface="Work Sans" pitchFamily="34" charset="0"/>
                <a:ea typeface="Work Sans" pitchFamily="34" charset="-122"/>
                <a:cs typeface="Work Sans" pitchFamily="34" charset="-120"/>
              </a:rPr>
              <a:t>The same steps are printed on the download page
</a:t>
            </a:r>
            <a:pPr indent="0" marL="0">
              <a:lnSpc>
                <a:spcPts val="1380"/>
              </a:lnSpc>
              <a:spcAft>
                <a:spcPts val="500"/>
              </a:spcAft>
              <a:buNone/>
            </a:pPr>
            <a:r>
              <a:rPr lang="en-US" sz="1000" dirty="0">
                <a:solidFill>
                  <a:srgbClr val="5C6366"/>
                </a:solidFill>
                <a:latin typeface="Work Sans" pitchFamily="34" charset="0"/>
                <a:ea typeface="Work Sans" pitchFamily="34" charset="-122"/>
                <a:cs typeface="Work Sans" pitchFamily="34" charset="-120"/>
              </a:rPr>
              <a:t>No need to memorise — /admin/appraisal carries this walkthrough, so installers always have it to hand.</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310896"/>
            <a:ext cx="9777679" cy="256032"/>
          </a:xfrm>
          <a:prstGeom prst="rect">
            <a:avLst/>
          </a:prstGeom>
          <a:noFill/>
          <a:ln/>
        </p:spPr>
        <p:txBody>
          <a:bodyPr wrap="square" lIns="0" tIns="0" rIns="0" bIns="0" rtlCol="0" anchor="ctr"/>
          <a:lstStyle/>
          <a:p>
            <a:pPr algn="l" indent="0" marL="0">
              <a:buNone/>
            </a:pPr>
            <a:r>
              <a:rPr lang="en-US" sz="950" spc="260" kern="0" dirty="0">
                <a:solidFill>
                  <a:srgbClr val="5C6366"/>
                </a:solidFill>
                <a:latin typeface="Work Sans" pitchFamily="34" charset="0"/>
                <a:ea typeface="Work Sans" pitchFamily="34" charset="-122"/>
                <a:cs typeface="Work Sans" pitchFamily="34" charset="-120"/>
              </a:rPr>
              <a:t>FIRST RUN</a:t>
            </a:r>
            <a:endParaRPr lang="en-US" sz="950" dirty="0"/>
          </a:p>
        </p:txBody>
      </p:sp>
      <p:sp>
        <p:nvSpPr>
          <p:cNvPr id="3" name="Shape 1"/>
          <p:cNvSpPr/>
          <p:nvPr/>
        </p:nvSpPr>
        <p:spPr>
          <a:xfrm>
            <a:off x="566928" y="694944"/>
            <a:ext cx="11057839" cy="0"/>
          </a:xfrm>
          <a:prstGeom prst="line">
            <a:avLst/>
          </a:prstGeom>
          <a:noFill/>
          <a:ln w="9525">
            <a:solidFill>
              <a:srgbClr val="000000"/>
            </a:solidFill>
            <a:prstDash val="solid"/>
          </a:ln>
        </p:spPr>
      </p:sp>
      <p:sp>
        <p:nvSpPr>
          <p:cNvPr id="4" name="Text 2"/>
          <p:cNvSpPr/>
          <p:nvPr/>
        </p:nvSpPr>
        <p:spPr>
          <a:xfrm>
            <a:off x="10344607" y="246888"/>
            <a:ext cx="1280160" cy="219456"/>
          </a:xfrm>
          <a:prstGeom prst="rect">
            <a:avLst/>
          </a:prstGeom>
          <a:noFill/>
          <a:ln/>
        </p:spPr>
        <p:txBody>
          <a:bodyPr wrap="square" lIns="0" tIns="0" rIns="0" bIns="0" rtlCol="0" anchor="ctr"/>
          <a:lstStyle/>
          <a:p>
            <a:pPr algn="r" indent="0" marL="0">
              <a:buNone/>
            </a:pPr>
            <a:r>
              <a:rPr lang="en-US" sz="1100" spc="500" kern="0" dirty="0">
                <a:solidFill>
                  <a:srgbClr val="000000"/>
                </a:solidFill>
                <a:latin typeface="Work Sans" pitchFamily="34" charset="0"/>
                <a:ea typeface="Work Sans" pitchFamily="34" charset="-122"/>
                <a:cs typeface="Work Sans" pitchFamily="34" charset="-120"/>
              </a:rPr>
              <a:t>SATIS</a:t>
            </a:r>
            <a:endParaRPr lang="en-US" sz="1100" dirty="0"/>
          </a:p>
        </p:txBody>
      </p:sp>
      <p:sp>
        <p:nvSpPr>
          <p:cNvPr id="5" name="Text 3"/>
          <p:cNvSpPr/>
          <p:nvPr/>
        </p:nvSpPr>
        <p:spPr>
          <a:xfrm>
            <a:off x="10344607" y="457200"/>
            <a:ext cx="1280160" cy="146304"/>
          </a:xfrm>
          <a:prstGeom prst="rect">
            <a:avLst/>
          </a:prstGeom>
          <a:noFill/>
          <a:ln/>
        </p:spPr>
        <p:txBody>
          <a:bodyPr wrap="square" lIns="0" tIns="0" rIns="0" bIns="0" rtlCol="0" anchor="ctr"/>
          <a:lstStyle/>
          <a:p>
            <a:pPr algn="r" indent="0" marL="0">
              <a:buNone/>
            </a:pPr>
            <a:r>
              <a:rPr lang="en-US" sz="550" spc="340" kern="0" dirty="0">
                <a:solidFill>
                  <a:srgbClr val="5C6366"/>
                </a:solidFill>
                <a:latin typeface="Work Sans" pitchFamily="34" charset="0"/>
                <a:ea typeface="Work Sans" pitchFamily="34" charset="-122"/>
                <a:cs typeface="Work Sans" pitchFamily="34" charset="-120"/>
              </a:rPr>
              <a:t>GROUP</a:t>
            </a:r>
            <a:endParaRPr lang="en-US" sz="550" dirty="0"/>
          </a:p>
        </p:txBody>
      </p:sp>
      <p:sp>
        <p:nvSpPr>
          <p:cNvPr id="6" name="Text 4"/>
          <p:cNvSpPr/>
          <p:nvPr/>
        </p:nvSpPr>
        <p:spPr>
          <a:xfrm>
            <a:off x="566928" y="6473952"/>
            <a:ext cx="6400800" cy="201168"/>
          </a:xfrm>
          <a:prstGeom prst="rect">
            <a:avLst/>
          </a:prstGeom>
          <a:noFill/>
          <a:ln/>
        </p:spPr>
        <p:txBody>
          <a:bodyPr wrap="square" lIns="0" tIns="0" rIns="0" bIns="0" rtlCol="0" anchor="ctr"/>
          <a:lstStyle/>
          <a:p>
            <a:pPr indent="0" marL="0">
              <a:buNone/>
            </a:pPr>
            <a:r>
              <a:rPr lang="en-US" sz="700" spc="200" kern="0" dirty="0">
                <a:solidFill>
                  <a:srgbClr val="9AA0A2"/>
                </a:solidFill>
                <a:latin typeface="Work Sans" pitchFamily="34" charset="0"/>
                <a:ea typeface="Work Sans" pitchFamily="34" charset="-122"/>
                <a:cs typeface="Work Sans" pitchFamily="34" charset="-120"/>
              </a:rPr>
              <a:t>SATIS GROUP — THE SATIS APPRAISAL AGENT</a:t>
            </a:r>
            <a:endParaRPr lang="en-US" sz="700" dirty="0"/>
          </a:p>
        </p:txBody>
      </p:sp>
      <p:sp>
        <p:nvSpPr>
          <p:cNvPr id="7" name="Text 5"/>
          <p:cNvSpPr/>
          <p:nvPr/>
        </p:nvSpPr>
        <p:spPr>
          <a:xfrm>
            <a:off x="10710367" y="6473952"/>
            <a:ext cx="914400" cy="201168"/>
          </a:xfrm>
          <a:prstGeom prst="rect">
            <a:avLst/>
          </a:prstGeom>
          <a:noFill/>
          <a:ln/>
        </p:spPr>
        <p:txBody>
          <a:bodyPr wrap="square" lIns="0" tIns="0" rIns="0" bIns="0" rtlCol="0" anchor="ctr"/>
          <a:lstStyle/>
          <a:p>
            <a:pPr algn="r" indent="0" marL="0">
              <a:buNone/>
            </a:pPr>
            <a:r>
              <a:rPr lang="en-US" sz="800" spc="100" kern="0" dirty="0">
                <a:solidFill>
                  <a:srgbClr val="9AA0A2"/>
                </a:solidFill>
                <a:latin typeface="Work Sans" pitchFamily="34" charset="0"/>
                <a:ea typeface="Work Sans" pitchFamily="34" charset="-122"/>
                <a:cs typeface="Work Sans" pitchFamily="34" charset="-120"/>
              </a:rPr>
              <a:t>06</a:t>
            </a:r>
            <a:endParaRPr lang="en-US" sz="800" dirty="0"/>
          </a:p>
        </p:txBody>
      </p:sp>
      <p:sp>
        <p:nvSpPr>
          <p:cNvPr id="8" name="Text 6"/>
          <p:cNvSpPr/>
          <p:nvPr/>
        </p:nvSpPr>
        <p:spPr>
          <a:xfrm>
            <a:off x="566928" y="932688"/>
            <a:ext cx="11057839" cy="566928"/>
          </a:xfrm>
          <a:prstGeom prst="rect">
            <a:avLst/>
          </a:prstGeom>
          <a:noFill/>
          <a:ln/>
        </p:spPr>
        <p:txBody>
          <a:bodyPr wrap="square" lIns="0" tIns="0" rIns="0" bIns="0" rtlCol="0" anchor="ctr"/>
          <a:lstStyle/>
          <a:p>
            <a:pPr algn="l" indent="0" marL="0">
              <a:buNone/>
            </a:pPr>
            <a:r>
              <a:rPr lang="en-US" sz="2500" dirty="0">
                <a:solidFill>
                  <a:srgbClr val="000000"/>
                </a:solidFill>
                <a:latin typeface="Work Sans" pitchFamily="34" charset="0"/>
                <a:ea typeface="Work Sans" pitchFamily="34" charset="-122"/>
                <a:cs typeface="Work Sans" pitchFamily="34" charset="-120"/>
              </a:rPr>
              <a:t>Connecting the AI features.</a:t>
            </a:r>
            <a:endParaRPr lang="en-US" sz="2500" dirty="0"/>
          </a:p>
        </p:txBody>
      </p:sp>
      <p:sp>
        <p:nvSpPr>
          <p:cNvPr id="9" name="Text 7"/>
          <p:cNvSpPr/>
          <p:nvPr/>
        </p:nvSpPr>
        <p:spPr>
          <a:xfrm>
            <a:off x="566928" y="1517904"/>
            <a:ext cx="9509760" cy="475488"/>
          </a:xfrm>
          <a:prstGeom prst="rect">
            <a:avLst/>
          </a:prstGeom>
          <a:noFill/>
          <a:ln/>
        </p:spPr>
        <p:txBody>
          <a:bodyPr wrap="square" lIns="0" tIns="0" rIns="0" bIns="0" rtlCol="0" anchor="ctr"/>
          <a:lstStyle/>
          <a:p>
            <a:pPr indent="0" marL="0">
              <a:lnSpc>
                <a:spcPts val="1600"/>
              </a:lnSpc>
              <a:buNone/>
            </a:pPr>
            <a:r>
              <a:rPr lang="en-US" sz="1150" dirty="0">
                <a:solidFill>
                  <a:srgbClr val="5C6366"/>
                </a:solidFill>
                <a:latin typeface="Work Sans" pitchFamily="34" charset="0"/>
                <a:ea typeface="Work Sans" pitchFamily="34" charset="-122"/>
                <a:cs typeface="Work Sans" pitchFamily="34" charset="-120"/>
              </a:rPr>
              <a:t>The AI features — reading floorplans from PDFs and photos, and pricing research — need a Claude connection, set up once inside the app:</a:t>
            </a:r>
            <a:endParaRPr lang="en-US" sz="1150" dirty="0"/>
          </a:p>
        </p:txBody>
      </p:sp>
      <p:sp>
        <p:nvSpPr>
          <p:cNvPr id="10" name="Shape 8"/>
          <p:cNvSpPr/>
          <p:nvPr/>
        </p:nvSpPr>
        <p:spPr>
          <a:xfrm>
            <a:off x="566928" y="2212848"/>
            <a:ext cx="3478682" cy="2331720"/>
          </a:xfrm>
          <a:prstGeom prst="rect">
            <a:avLst/>
          </a:prstGeom>
          <a:solidFill>
            <a:srgbClr val="FFFFFF"/>
          </a:solidFill>
          <a:ln w="9525">
            <a:solidFill>
              <a:srgbClr val="CED1D2"/>
            </a:solidFill>
            <a:prstDash val="solid"/>
          </a:ln>
        </p:spPr>
      </p:sp>
      <p:sp>
        <p:nvSpPr>
          <p:cNvPr id="11" name="Text 9"/>
          <p:cNvSpPr/>
          <p:nvPr/>
        </p:nvSpPr>
        <p:spPr>
          <a:xfrm>
            <a:off x="786384" y="2377440"/>
            <a:ext cx="3039770" cy="2002536"/>
          </a:xfrm>
          <a:prstGeom prst="rect">
            <a:avLst/>
          </a:prstGeom>
          <a:noFill/>
          <a:ln/>
        </p:spPr>
        <p:txBody>
          <a:bodyPr wrap="square" lIns="0" tIns="0" rIns="0" bIns="0" rtlCol="0" anchor="t"/>
          <a:lstStyle/>
          <a:p>
            <a:pPr indent="0" marL="0">
              <a:lnSpc>
                <a:spcPts val="1380"/>
              </a:lnSpc>
              <a:spcAft>
                <a:spcPts val="200"/>
              </a:spcAft>
              <a:buNone/>
            </a:pPr>
            <a:r>
              <a:rPr lang="en-US" sz="1100" b="1" dirty="0">
                <a:solidFill>
                  <a:srgbClr val="000000"/>
                </a:solidFill>
                <a:latin typeface="Work Sans" pitchFamily="34" charset="0"/>
                <a:ea typeface="Work Sans" pitchFamily="34" charset="-122"/>
                <a:cs typeface="Work Sans" pitchFamily="34" charset="-120"/>
              </a:rPr>
              <a:t>Option A — sign in with Claude
</a:t>
            </a:r>
            <a:pPr indent="0" marL="0">
              <a:lnSpc>
                <a:spcPts val="1380"/>
              </a:lnSpc>
              <a:spcAft>
                <a:spcPts val="500"/>
              </a:spcAft>
              <a:buNone/>
            </a:pPr>
            <a:r>
              <a:rPr lang="en-US" sz="1000" dirty="0">
                <a:solidFill>
                  <a:srgbClr val="5C6366"/>
                </a:solidFill>
                <a:latin typeface="Work Sans" pitchFamily="34" charset="0"/>
                <a:ea typeface="Work Sans" pitchFamily="34" charset="-122"/>
                <a:cs typeface="Work Sans" pitchFamily="34" charset="-120"/>
              </a:rPr>
              <a:t>Open Settings inside the app and connect a Claude account through your browser. The app then fetches everything it needs by itself. Recommended.</a:t>
            </a:r>
            <a:endParaRPr lang="en-US" sz="1100" dirty="0"/>
          </a:p>
        </p:txBody>
      </p:sp>
      <p:sp>
        <p:nvSpPr>
          <p:cNvPr id="12" name="Shape 10"/>
          <p:cNvSpPr/>
          <p:nvPr/>
        </p:nvSpPr>
        <p:spPr>
          <a:xfrm>
            <a:off x="4356506" y="2212848"/>
            <a:ext cx="3478682" cy="2331720"/>
          </a:xfrm>
          <a:prstGeom prst="rect">
            <a:avLst/>
          </a:prstGeom>
          <a:solidFill>
            <a:srgbClr val="FFFFFF"/>
          </a:solidFill>
          <a:ln w="9525">
            <a:solidFill>
              <a:srgbClr val="CED1D2"/>
            </a:solidFill>
            <a:prstDash val="solid"/>
          </a:ln>
        </p:spPr>
      </p:sp>
      <p:sp>
        <p:nvSpPr>
          <p:cNvPr id="13" name="Text 11"/>
          <p:cNvSpPr/>
          <p:nvPr/>
        </p:nvSpPr>
        <p:spPr>
          <a:xfrm>
            <a:off x="4575962" y="2377440"/>
            <a:ext cx="3039770" cy="2002536"/>
          </a:xfrm>
          <a:prstGeom prst="rect">
            <a:avLst/>
          </a:prstGeom>
          <a:noFill/>
          <a:ln/>
        </p:spPr>
        <p:txBody>
          <a:bodyPr wrap="square" lIns="0" tIns="0" rIns="0" bIns="0" rtlCol="0" anchor="t"/>
          <a:lstStyle/>
          <a:p>
            <a:pPr indent="0" marL="0">
              <a:lnSpc>
                <a:spcPts val="1380"/>
              </a:lnSpc>
              <a:spcAft>
                <a:spcPts val="200"/>
              </a:spcAft>
              <a:buNone/>
            </a:pPr>
            <a:r>
              <a:rPr lang="en-US" sz="1100" b="1" dirty="0">
                <a:solidFill>
                  <a:srgbClr val="000000"/>
                </a:solidFill>
                <a:latin typeface="Work Sans" pitchFamily="34" charset="0"/>
                <a:ea typeface="Work Sans" pitchFamily="34" charset="-122"/>
                <a:cs typeface="Work Sans" pitchFamily="34" charset="-120"/>
              </a:rPr>
              <a:t>Option B — paste an API key
</a:t>
            </a:r>
            <a:pPr indent="0" marL="0">
              <a:lnSpc>
                <a:spcPts val="1380"/>
              </a:lnSpc>
              <a:spcAft>
                <a:spcPts val="500"/>
              </a:spcAft>
              <a:buNone/>
            </a:pPr>
            <a:r>
              <a:rPr lang="en-US" sz="1000" dirty="0">
                <a:solidFill>
                  <a:srgbClr val="5C6366"/>
                </a:solidFill>
                <a:latin typeface="Work Sans" pitchFamily="34" charset="0"/>
                <a:ea typeface="Work Sans" pitchFamily="34" charset="-122"/>
                <a:cs typeface="Work Sans" pitchFamily="34" charset="-120"/>
              </a:rPr>
              <a:t>If you have an Anthropic API key, paste it in Settings instead. Settings shows which connection is in use and can test it.</a:t>
            </a:r>
            <a:endParaRPr lang="en-US" sz="1100" dirty="0"/>
          </a:p>
        </p:txBody>
      </p:sp>
      <p:sp>
        <p:nvSpPr>
          <p:cNvPr id="14" name="Shape 12"/>
          <p:cNvSpPr/>
          <p:nvPr/>
        </p:nvSpPr>
        <p:spPr>
          <a:xfrm>
            <a:off x="8146085" y="2212848"/>
            <a:ext cx="3478682" cy="2331720"/>
          </a:xfrm>
          <a:prstGeom prst="rect">
            <a:avLst/>
          </a:prstGeom>
          <a:solidFill>
            <a:srgbClr val="FFFFFF"/>
          </a:solidFill>
          <a:ln w="9525">
            <a:solidFill>
              <a:srgbClr val="CED1D2"/>
            </a:solidFill>
            <a:prstDash val="solid"/>
          </a:ln>
        </p:spPr>
      </p:sp>
      <p:sp>
        <p:nvSpPr>
          <p:cNvPr id="15" name="Text 13"/>
          <p:cNvSpPr/>
          <p:nvPr/>
        </p:nvSpPr>
        <p:spPr>
          <a:xfrm>
            <a:off x="8365541" y="2377440"/>
            <a:ext cx="3039770" cy="2002536"/>
          </a:xfrm>
          <a:prstGeom prst="rect">
            <a:avLst/>
          </a:prstGeom>
          <a:noFill/>
          <a:ln/>
        </p:spPr>
        <p:txBody>
          <a:bodyPr wrap="square" lIns="0" tIns="0" rIns="0" bIns="0" rtlCol="0" anchor="t"/>
          <a:lstStyle/>
          <a:p>
            <a:pPr indent="0" marL="0">
              <a:lnSpc>
                <a:spcPts val="1380"/>
              </a:lnSpc>
              <a:spcAft>
                <a:spcPts val="200"/>
              </a:spcAft>
              <a:buNone/>
            </a:pPr>
            <a:r>
              <a:rPr lang="en-US" sz="1100" b="1" dirty="0">
                <a:solidFill>
                  <a:srgbClr val="000000"/>
                </a:solidFill>
                <a:latin typeface="Work Sans" pitchFamily="34" charset="0"/>
                <a:ea typeface="Work Sans" pitchFamily="34" charset="-122"/>
                <a:cs typeface="Work Sans" pitchFamily="34" charset="-120"/>
              </a:rPr>
              <a:t>No connection? Still useful
</a:t>
            </a:r>
            <a:pPr indent="0" marL="0">
              <a:lnSpc>
                <a:spcPts val="1380"/>
              </a:lnSpc>
              <a:spcAft>
                <a:spcPts val="500"/>
              </a:spcAft>
              <a:buNone/>
            </a:pPr>
            <a:r>
              <a:rPr lang="en-US" sz="1000" dirty="0">
                <a:solidFill>
                  <a:srgbClr val="5C6366"/>
                </a:solidFill>
                <a:latin typeface="Work Sans" pitchFamily="34" charset="0"/>
                <a:ea typeface="Work Sans" pitchFamily="34" charset="-122"/>
                <a:cs typeface="Work Sans" pitchFamily="34" charset="-120"/>
              </a:rPr>
              <a:t>DXF floorplan files and manual floor entry work without any AI connection — only PDF/photo reading and pricing research need one.</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310896"/>
            <a:ext cx="9777679" cy="256032"/>
          </a:xfrm>
          <a:prstGeom prst="rect">
            <a:avLst/>
          </a:prstGeom>
          <a:noFill/>
          <a:ln/>
        </p:spPr>
        <p:txBody>
          <a:bodyPr wrap="square" lIns="0" tIns="0" rIns="0" bIns="0" rtlCol="0" anchor="ctr"/>
          <a:lstStyle/>
          <a:p>
            <a:pPr algn="l" indent="0" marL="0">
              <a:buNone/>
            </a:pPr>
            <a:r>
              <a:rPr lang="en-US" sz="950" spc="260" kern="0" dirty="0">
                <a:solidFill>
                  <a:srgbClr val="5C6366"/>
                </a:solidFill>
                <a:latin typeface="Work Sans" pitchFamily="34" charset="0"/>
                <a:ea typeface="Work Sans" pitchFamily="34" charset="-122"/>
                <a:cs typeface="Work Sans" pitchFamily="34" charset="-120"/>
              </a:rPr>
              <a:t>THE PRICING STEP</a:t>
            </a:r>
            <a:endParaRPr lang="en-US" sz="950" dirty="0"/>
          </a:p>
        </p:txBody>
      </p:sp>
      <p:sp>
        <p:nvSpPr>
          <p:cNvPr id="3" name="Shape 1"/>
          <p:cNvSpPr/>
          <p:nvPr/>
        </p:nvSpPr>
        <p:spPr>
          <a:xfrm>
            <a:off x="566928" y="694944"/>
            <a:ext cx="11057839" cy="0"/>
          </a:xfrm>
          <a:prstGeom prst="line">
            <a:avLst/>
          </a:prstGeom>
          <a:noFill/>
          <a:ln w="9525">
            <a:solidFill>
              <a:srgbClr val="000000"/>
            </a:solidFill>
            <a:prstDash val="solid"/>
          </a:ln>
        </p:spPr>
      </p:sp>
      <p:sp>
        <p:nvSpPr>
          <p:cNvPr id="4" name="Text 2"/>
          <p:cNvSpPr/>
          <p:nvPr/>
        </p:nvSpPr>
        <p:spPr>
          <a:xfrm>
            <a:off x="10344607" y="246888"/>
            <a:ext cx="1280160" cy="219456"/>
          </a:xfrm>
          <a:prstGeom prst="rect">
            <a:avLst/>
          </a:prstGeom>
          <a:noFill/>
          <a:ln/>
        </p:spPr>
        <p:txBody>
          <a:bodyPr wrap="square" lIns="0" tIns="0" rIns="0" bIns="0" rtlCol="0" anchor="ctr"/>
          <a:lstStyle/>
          <a:p>
            <a:pPr algn="r" indent="0" marL="0">
              <a:buNone/>
            </a:pPr>
            <a:r>
              <a:rPr lang="en-US" sz="1100" spc="500" kern="0" dirty="0">
                <a:solidFill>
                  <a:srgbClr val="000000"/>
                </a:solidFill>
                <a:latin typeface="Work Sans" pitchFamily="34" charset="0"/>
                <a:ea typeface="Work Sans" pitchFamily="34" charset="-122"/>
                <a:cs typeface="Work Sans" pitchFamily="34" charset="-120"/>
              </a:rPr>
              <a:t>SATIS</a:t>
            </a:r>
            <a:endParaRPr lang="en-US" sz="1100" dirty="0"/>
          </a:p>
        </p:txBody>
      </p:sp>
      <p:sp>
        <p:nvSpPr>
          <p:cNvPr id="5" name="Text 3"/>
          <p:cNvSpPr/>
          <p:nvPr/>
        </p:nvSpPr>
        <p:spPr>
          <a:xfrm>
            <a:off x="10344607" y="457200"/>
            <a:ext cx="1280160" cy="146304"/>
          </a:xfrm>
          <a:prstGeom prst="rect">
            <a:avLst/>
          </a:prstGeom>
          <a:noFill/>
          <a:ln/>
        </p:spPr>
        <p:txBody>
          <a:bodyPr wrap="square" lIns="0" tIns="0" rIns="0" bIns="0" rtlCol="0" anchor="ctr"/>
          <a:lstStyle/>
          <a:p>
            <a:pPr algn="r" indent="0" marL="0">
              <a:buNone/>
            </a:pPr>
            <a:r>
              <a:rPr lang="en-US" sz="550" spc="340" kern="0" dirty="0">
                <a:solidFill>
                  <a:srgbClr val="5C6366"/>
                </a:solidFill>
                <a:latin typeface="Work Sans" pitchFamily="34" charset="0"/>
                <a:ea typeface="Work Sans" pitchFamily="34" charset="-122"/>
                <a:cs typeface="Work Sans" pitchFamily="34" charset="-120"/>
              </a:rPr>
              <a:t>GROUP</a:t>
            </a:r>
            <a:endParaRPr lang="en-US" sz="550" dirty="0"/>
          </a:p>
        </p:txBody>
      </p:sp>
      <p:sp>
        <p:nvSpPr>
          <p:cNvPr id="6" name="Text 4"/>
          <p:cNvSpPr/>
          <p:nvPr/>
        </p:nvSpPr>
        <p:spPr>
          <a:xfrm>
            <a:off x="566928" y="6473952"/>
            <a:ext cx="6400800" cy="201168"/>
          </a:xfrm>
          <a:prstGeom prst="rect">
            <a:avLst/>
          </a:prstGeom>
          <a:noFill/>
          <a:ln/>
        </p:spPr>
        <p:txBody>
          <a:bodyPr wrap="square" lIns="0" tIns="0" rIns="0" bIns="0" rtlCol="0" anchor="ctr"/>
          <a:lstStyle/>
          <a:p>
            <a:pPr indent="0" marL="0">
              <a:buNone/>
            </a:pPr>
            <a:r>
              <a:rPr lang="en-US" sz="700" spc="200" kern="0" dirty="0">
                <a:solidFill>
                  <a:srgbClr val="9AA0A2"/>
                </a:solidFill>
                <a:latin typeface="Work Sans" pitchFamily="34" charset="0"/>
                <a:ea typeface="Work Sans" pitchFamily="34" charset="-122"/>
                <a:cs typeface="Work Sans" pitchFamily="34" charset="-120"/>
              </a:rPr>
              <a:t>SATIS GROUP — THE SATIS APPRAISAL AGENT</a:t>
            </a:r>
            <a:endParaRPr lang="en-US" sz="700" dirty="0"/>
          </a:p>
        </p:txBody>
      </p:sp>
      <p:sp>
        <p:nvSpPr>
          <p:cNvPr id="7" name="Text 5"/>
          <p:cNvSpPr/>
          <p:nvPr/>
        </p:nvSpPr>
        <p:spPr>
          <a:xfrm>
            <a:off x="10710367" y="6473952"/>
            <a:ext cx="914400" cy="201168"/>
          </a:xfrm>
          <a:prstGeom prst="rect">
            <a:avLst/>
          </a:prstGeom>
          <a:noFill/>
          <a:ln/>
        </p:spPr>
        <p:txBody>
          <a:bodyPr wrap="square" lIns="0" tIns="0" rIns="0" bIns="0" rtlCol="0" anchor="ctr"/>
          <a:lstStyle/>
          <a:p>
            <a:pPr algn="r" indent="0" marL="0">
              <a:buNone/>
            </a:pPr>
            <a:r>
              <a:rPr lang="en-US" sz="800" spc="100" kern="0" dirty="0">
                <a:solidFill>
                  <a:srgbClr val="9AA0A2"/>
                </a:solidFill>
                <a:latin typeface="Work Sans" pitchFamily="34" charset="0"/>
                <a:ea typeface="Work Sans" pitchFamily="34" charset="-122"/>
                <a:cs typeface="Work Sans" pitchFamily="34" charset="-120"/>
              </a:rPr>
              <a:t>07</a:t>
            </a:r>
            <a:endParaRPr lang="en-US" sz="800" dirty="0"/>
          </a:p>
        </p:txBody>
      </p:sp>
      <p:sp>
        <p:nvSpPr>
          <p:cNvPr id="8" name="Text 6"/>
          <p:cNvSpPr/>
          <p:nvPr/>
        </p:nvSpPr>
        <p:spPr>
          <a:xfrm>
            <a:off x="566928" y="932688"/>
            <a:ext cx="11057839" cy="566928"/>
          </a:xfrm>
          <a:prstGeom prst="rect">
            <a:avLst/>
          </a:prstGeom>
          <a:noFill/>
          <a:ln/>
        </p:spPr>
        <p:txBody>
          <a:bodyPr wrap="square" lIns="0" tIns="0" rIns="0" bIns="0" rtlCol="0" anchor="ctr"/>
          <a:lstStyle/>
          <a:p>
            <a:pPr algn="l" indent="0" marL="0">
              <a:buNone/>
            </a:pPr>
            <a:r>
              <a:rPr lang="en-US" sz="2500" dirty="0">
                <a:solidFill>
                  <a:srgbClr val="000000"/>
                </a:solidFill>
                <a:latin typeface="Work Sans" pitchFamily="34" charset="0"/>
                <a:ea typeface="Work Sans" pitchFamily="34" charset="-122"/>
                <a:cs typeface="Work Sans" pitchFamily="34" charset="-120"/>
              </a:rPr>
              <a:t>Live market evidence — suggested, sourced, never imposed.</a:t>
            </a:r>
            <a:endParaRPr lang="en-US" sz="2500" dirty="0"/>
          </a:p>
        </p:txBody>
      </p:sp>
      <p:sp>
        <p:nvSpPr>
          <p:cNvPr id="9" name="Text 7"/>
          <p:cNvSpPr/>
          <p:nvPr/>
        </p:nvSpPr>
        <p:spPr>
          <a:xfrm>
            <a:off x="566928" y="1517904"/>
            <a:ext cx="7040880" cy="475488"/>
          </a:xfrm>
          <a:prstGeom prst="rect">
            <a:avLst/>
          </a:prstGeom>
          <a:noFill/>
          <a:ln/>
        </p:spPr>
        <p:txBody>
          <a:bodyPr wrap="square" lIns="0" tIns="0" rIns="0" bIns="0" rtlCol="0" anchor="ctr"/>
          <a:lstStyle/>
          <a:p>
            <a:pPr indent="0" marL="0">
              <a:lnSpc>
                <a:spcPts val="1600"/>
              </a:lnSpc>
              <a:buNone/>
            </a:pPr>
            <a:r>
              <a:rPr lang="en-US" sz="1150" dirty="0">
                <a:solidFill>
                  <a:srgbClr val="5C6366"/>
                </a:solidFill>
                <a:latin typeface="Work Sans" pitchFamily="34" charset="0"/>
                <a:ea typeface="Work Sans" pitchFamily="34" charset="-122"/>
                <a:cs typeface="Work Sans" pitchFamily="34" charset="-120"/>
              </a:rPr>
              <a:t>With AI connected, the Pricing step can research live market evidence for a project:</a:t>
            </a:r>
            <a:endParaRPr lang="en-US" sz="1150" dirty="0"/>
          </a:p>
        </p:txBody>
      </p:sp>
      <p:sp>
        <p:nvSpPr>
          <p:cNvPr id="10" name="Shape 8"/>
          <p:cNvSpPr/>
          <p:nvPr/>
        </p:nvSpPr>
        <p:spPr>
          <a:xfrm>
            <a:off x="566928" y="2116836"/>
            <a:ext cx="246888" cy="246888"/>
          </a:xfrm>
          <a:prstGeom prst="ellipse">
            <a:avLst/>
          </a:prstGeom>
          <a:solidFill>
            <a:srgbClr val="B3400C"/>
          </a:solidFill>
          <a:ln/>
        </p:spPr>
      </p:sp>
      <p:sp>
        <p:nvSpPr>
          <p:cNvPr id="11" name="Text 9"/>
          <p:cNvSpPr/>
          <p:nvPr/>
        </p:nvSpPr>
        <p:spPr>
          <a:xfrm>
            <a:off x="521208" y="2091233"/>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1</a:t>
            </a:r>
            <a:endParaRPr lang="en-US" sz="1050" dirty="0"/>
          </a:p>
        </p:txBody>
      </p:sp>
      <p:sp>
        <p:nvSpPr>
          <p:cNvPr id="12" name="Text 10"/>
          <p:cNvSpPr/>
          <p:nvPr/>
        </p:nvSpPr>
        <p:spPr>
          <a:xfrm>
            <a:off x="987552" y="2103120"/>
            <a:ext cx="6803136"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It gathers the evidence</a:t>
            </a:r>
            <a:endParaRPr lang="en-US" sz="1200" dirty="0"/>
          </a:p>
        </p:txBody>
      </p:sp>
      <p:sp>
        <p:nvSpPr>
          <p:cNvPr id="13" name="Text 11"/>
          <p:cNvSpPr/>
          <p:nvPr/>
        </p:nvSpPr>
        <p:spPr>
          <a:xfrm>
            <a:off x="987552" y="2377440"/>
            <a:ext cx="6803136" cy="415290"/>
          </a:xfrm>
          <a:prstGeom prst="rect">
            <a:avLst/>
          </a:prstGeom>
          <a:noFill/>
          <a:ln/>
        </p:spPr>
        <p:txBody>
          <a:bodyPr wrap="square" lIns="0" tIns="0" rIns="0" bIns="0" rtlCol="0" anchor="ctr"/>
          <a:lstStyle/>
          <a:p>
            <a:pPr indent="0" marL="0">
              <a:lnSpc>
                <a:spcPts val="1491"/>
              </a:lnSpc>
              <a:buNone/>
            </a:pPr>
            <a:r>
              <a:rPr lang="en-US" sz="1050" dirty="0">
                <a:solidFill>
                  <a:srgbClr val="5C6366"/>
                </a:solidFill>
                <a:latin typeface="Work Sans" pitchFamily="34" charset="0"/>
                <a:ea typeface="Work Sans" pitchFamily="34" charset="-122"/>
                <a:cs typeface="Work Sans" pitchFamily="34" charset="-120"/>
              </a:rPr>
              <a:t>Local sale and rent comparables, build cost benchmarks and current finance rates — with a progress bar showing each web search as it happens.</a:t>
            </a:r>
            <a:endParaRPr lang="en-US" sz="1050" dirty="0"/>
          </a:p>
        </p:txBody>
      </p:sp>
      <p:sp>
        <p:nvSpPr>
          <p:cNvPr id="14" name="Shape 12"/>
          <p:cNvSpPr/>
          <p:nvPr/>
        </p:nvSpPr>
        <p:spPr>
          <a:xfrm>
            <a:off x="566928" y="2952750"/>
            <a:ext cx="246888" cy="246888"/>
          </a:xfrm>
          <a:prstGeom prst="ellipse">
            <a:avLst/>
          </a:prstGeom>
          <a:solidFill>
            <a:srgbClr val="B3400C"/>
          </a:solidFill>
          <a:ln/>
        </p:spPr>
      </p:sp>
      <p:sp>
        <p:nvSpPr>
          <p:cNvPr id="15" name="Text 13"/>
          <p:cNvSpPr/>
          <p:nvPr/>
        </p:nvSpPr>
        <p:spPr>
          <a:xfrm>
            <a:off x="521208" y="2927147"/>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2</a:t>
            </a:r>
            <a:endParaRPr lang="en-US" sz="1050" dirty="0"/>
          </a:p>
        </p:txBody>
      </p:sp>
      <p:sp>
        <p:nvSpPr>
          <p:cNvPr id="16" name="Text 14"/>
          <p:cNvSpPr/>
          <p:nvPr/>
        </p:nvSpPr>
        <p:spPr>
          <a:xfrm>
            <a:off x="987552" y="2939034"/>
            <a:ext cx="6803136"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Every figure arrives as a suggestion</a:t>
            </a:r>
            <a:endParaRPr lang="en-US" sz="1200" dirty="0"/>
          </a:p>
        </p:txBody>
      </p:sp>
      <p:sp>
        <p:nvSpPr>
          <p:cNvPr id="17" name="Text 15"/>
          <p:cNvSpPr/>
          <p:nvPr/>
        </p:nvSpPr>
        <p:spPr>
          <a:xfrm>
            <a:off x="987552" y="3213354"/>
            <a:ext cx="6803136" cy="225933"/>
          </a:xfrm>
          <a:prstGeom prst="rect">
            <a:avLst/>
          </a:prstGeom>
          <a:noFill/>
          <a:ln/>
        </p:spPr>
        <p:txBody>
          <a:bodyPr wrap="square" lIns="0" tIns="0" rIns="0" bIns="0" rtlCol="0" anchor="ctr"/>
          <a:lstStyle/>
          <a:p>
            <a:pPr indent="0" marL="0">
              <a:lnSpc>
                <a:spcPts val="1491"/>
              </a:lnSpc>
              <a:buNone/>
            </a:pPr>
            <a:r>
              <a:rPr lang="en-US" sz="1050" dirty="0">
                <a:solidFill>
                  <a:srgbClr val="5C6366"/>
                </a:solidFill>
                <a:latin typeface="Work Sans" pitchFamily="34" charset="0"/>
                <a:ea typeface="Work Sans" pitchFamily="34" charset="-122"/>
                <a:cs typeface="Work Sans" pitchFamily="34" charset="-120"/>
              </a:rPr>
              <a:t>With its range, reasoning and sources. Nothing is applied until you choose to apply it.</a:t>
            </a:r>
            <a:endParaRPr lang="en-US" sz="1050" dirty="0"/>
          </a:p>
        </p:txBody>
      </p:sp>
      <p:sp>
        <p:nvSpPr>
          <p:cNvPr id="18" name="Shape 16"/>
          <p:cNvSpPr/>
          <p:nvPr/>
        </p:nvSpPr>
        <p:spPr>
          <a:xfrm>
            <a:off x="566928" y="3599307"/>
            <a:ext cx="246888" cy="246888"/>
          </a:xfrm>
          <a:prstGeom prst="ellipse">
            <a:avLst/>
          </a:prstGeom>
          <a:solidFill>
            <a:srgbClr val="B3400C"/>
          </a:solidFill>
          <a:ln/>
        </p:spPr>
      </p:sp>
      <p:sp>
        <p:nvSpPr>
          <p:cNvPr id="19" name="Text 17"/>
          <p:cNvSpPr/>
          <p:nvPr/>
        </p:nvSpPr>
        <p:spPr>
          <a:xfrm>
            <a:off x="521208" y="3573704"/>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3</a:t>
            </a:r>
            <a:endParaRPr lang="en-US" sz="1050" dirty="0"/>
          </a:p>
        </p:txBody>
      </p:sp>
      <p:sp>
        <p:nvSpPr>
          <p:cNvPr id="20" name="Text 18"/>
          <p:cNvSpPr/>
          <p:nvPr/>
        </p:nvSpPr>
        <p:spPr>
          <a:xfrm>
            <a:off x="987552" y="3585591"/>
            <a:ext cx="6803136"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Your own evidence anchors it</a:t>
            </a:r>
            <a:endParaRPr lang="en-US" sz="1200" dirty="0"/>
          </a:p>
        </p:txBody>
      </p:sp>
      <p:sp>
        <p:nvSpPr>
          <p:cNvPr id="21" name="Text 19"/>
          <p:cNvSpPr/>
          <p:nvPr/>
        </p:nvSpPr>
        <p:spPr>
          <a:xfrm>
            <a:off x="987552" y="3859911"/>
            <a:ext cx="6803136" cy="415290"/>
          </a:xfrm>
          <a:prstGeom prst="rect">
            <a:avLst/>
          </a:prstGeom>
          <a:noFill/>
          <a:ln/>
        </p:spPr>
        <p:txBody>
          <a:bodyPr wrap="square" lIns="0" tIns="0" rIns="0" bIns="0" rtlCol="0" anchor="ctr"/>
          <a:lstStyle/>
          <a:p>
            <a:pPr indent="0" marL="0">
              <a:lnSpc>
                <a:spcPts val="1491"/>
              </a:lnSpc>
              <a:buNone/>
            </a:pPr>
            <a:r>
              <a:rPr lang="en-US" sz="1050" dirty="0">
                <a:solidFill>
                  <a:srgbClr val="5C6366"/>
                </a:solidFill>
                <a:latin typeface="Work Sans" pitchFamily="34" charset="0"/>
                <a:ea typeface="Work Sans" pitchFamily="34" charset="-122"/>
                <a:cs typeface="Work Sans" pitchFamily="34" charset="-120"/>
              </a:rPr>
              <a:t>Record tender results and lender term sheets in Settings — the estimates then anchor to your real numbers.</a:t>
            </a:r>
            <a:endParaRPr lang="en-US" sz="1050" dirty="0"/>
          </a:p>
        </p:txBody>
      </p:sp>
      <p:sp>
        <p:nvSpPr>
          <p:cNvPr id="22" name="Shape 20"/>
          <p:cNvSpPr/>
          <p:nvPr/>
        </p:nvSpPr>
        <p:spPr>
          <a:xfrm>
            <a:off x="566928" y="4435221"/>
            <a:ext cx="246888" cy="246888"/>
          </a:xfrm>
          <a:prstGeom prst="ellipse">
            <a:avLst/>
          </a:prstGeom>
          <a:solidFill>
            <a:srgbClr val="B3400C"/>
          </a:solidFill>
          <a:ln/>
        </p:spPr>
      </p:sp>
      <p:sp>
        <p:nvSpPr>
          <p:cNvPr id="23" name="Text 21"/>
          <p:cNvSpPr/>
          <p:nvPr/>
        </p:nvSpPr>
        <p:spPr>
          <a:xfrm>
            <a:off x="521208" y="4409618"/>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4</a:t>
            </a:r>
            <a:endParaRPr lang="en-US" sz="1050" dirty="0"/>
          </a:p>
        </p:txBody>
      </p:sp>
      <p:sp>
        <p:nvSpPr>
          <p:cNvPr id="24" name="Text 22"/>
          <p:cNvSpPr/>
          <p:nvPr/>
        </p:nvSpPr>
        <p:spPr>
          <a:xfrm>
            <a:off x="987552" y="4421505"/>
            <a:ext cx="6803136"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Stamp duty needs no research</a:t>
            </a:r>
            <a:endParaRPr lang="en-US" sz="1200" dirty="0"/>
          </a:p>
        </p:txBody>
      </p:sp>
      <p:sp>
        <p:nvSpPr>
          <p:cNvPr id="25" name="Text 23"/>
          <p:cNvSpPr/>
          <p:nvPr/>
        </p:nvSpPr>
        <p:spPr>
          <a:xfrm>
            <a:off x="987552" y="4695825"/>
            <a:ext cx="6803136" cy="225933"/>
          </a:xfrm>
          <a:prstGeom prst="rect">
            <a:avLst/>
          </a:prstGeom>
          <a:noFill/>
          <a:ln/>
        </p:spPr>
        <p:txBody>
          <a:bodyPr wrap="square" lIns="0" tIns="0" rIns="0" bIns="0" rtlCol="0" anchor="ctr"/>
          <a:lstStyle/>
          <a:p>
            <a:pPr indent="0" marL="0">
              <a:lnSpc>
                <a:spcPts val="1491"/>
              </a:lnSpc>
              <a:buNone/>
            </a:pPr>
            <a:r>
              <a:rPr lang="en-US" sz="1050" dirty="0">
                <a:solidFill>
                  <a:srgbClr val="5C6366"/>
                </a:solidFill>
                <a:latin typeface="Work Sans" pitchFamily="34" charset="0"/>
                <a:ea typeface="Work Sans" pitchFamily="34" charset="-122"/>
                <a:cs typeface="Work Sans" pitchFamily="34" charset="-120"/>
              </a:rPr>
              <a:t>It calculates itself from HMRC bands.</a:t>
            </a:r>
            <a:endParaRPr lang="en-US" sz="1050" dirty="0"/>
          </a:p>
        </p:txBody>
      </p:sp>
      <p:sp>
        <p:nvSpPr>
          <p:cNvPr id="26" name="Shape 24"/>
          <p:cNvSpPr/>
          <p:nvPr/>
        </p:nvSpPr>
        <p:spPr>
          <a:xfrm>
            <a:off x="8247888" y="1618488"/>
            <a:ext cx="3376879" cy="1783080"/>
          </a:xfrm>
          <a:prstGeom prst="rect">
            <a:avLst/>
          </a:prstGeom>
          <a:solidFill>
            <a:srgbClr val="000000"/>
          </a:solidFill>
          <a:ln/>
        </p:spPr>
      </p:sp>
      <p:sp>
        <p:nvSpPr>
          <p:cNvPr id="27" name="Text 25"/>
          <p:cNvSpPr/>
          <p:nvPr/>
        </p:nvSpPr>
        <p:spPr>
          <a:xfrm>
            <a:off x="8467344" y="1764792"/>
            <a:ext cx="2937967" cy="182880"/>
          </a:xfrm>
          <a:prstGeom prst="rect">
            <a:avLst/>
          </a:prstGeom>
          <a:noFill/>
          <a:ln/>
        </p:spPr>
        <p:txBody>
          <a:bodyPr wrap="square" lIns="0" tIns="0" rIns="0" bIns="0" rtlCol="0" anchor="ctr"/>
          <a:lstStyle/>
          <a:p>
            <a:pPr indent="0" marL="0">
              <a:buNone/>
            </a:pPr>
            <a:r>
              <a:rPr lang="en-US" sz="750" spc="200" kern="0" dirty="0">
                <a:solidFill>
                  <a:srgbClr val="B9BDBE"/>
                </a:solidFill>
                <a:latin typeface="Work Sans" pitchFamily="34" charset="0"/>
                <a:ea typeface="Work Sans" pitchFamily="34" charset="-122"/>
                <a:cs typeface="Work Sans" pitchFamily="34" charset="-120"/>
              </a:rPr>
              <a:t>TAKE CARE</a:t>
            </a:r>
            <a:endParaRPr lang="en-US" sz="750" dirty="0"/>
          </a:p>
        </p:txBody>
      </p:sp>
      <p:sp>
        <p:nvSpPr>
          <p:cNvPr id="28" name="Text 26"/>
          <p:cNvSpPr/>
          <p:nvPr/>
        </p:nvSpPr>
        <p:spPr>
          <a:xfrm>
            <a:off x="8467344" y="1984248"/>
            <a:ext cx="2937967" cy="1280160"/>
          </a:xfrm>
          <a:prstGeom prst="rect">
            <a:avLst/>
          </a:prstGeom>
          <a:noFill/>
          <a:ln/>
        </p:spPr>
        <p:txBody>
          <a:bodyPr wrap="square" lIns="0" tIns="0" rIns="0" bIns="0" rtlCol="0" anchor="t"/>
          <a:lstStyle/>
          <a:p>
            <a:pPr indent="0" marL="0">
              <a:lnSpc>
                <a:spcPts val="1380"/>
              </a:lnSpc>
              <a:spcAft>
                <a:spcPts val="200"/>
              </a:spcAft>
              <a:buNone/>
            </a:pPr>
            <a:r>
              <a:rPr lang="en-US" sz="1100" b="1" dirty="0">
                <a:solidFill>
                  <a:srgbClr val="FFFFFF"/>
                </a:solidFill>
                <a:latin typeface="Work Sans" pitchFamily="34" charset="0"/>
                <a:ea typeface="Work Sans" pitchFamily="34" charset="-122"/>
                <a:cs typeface="Work Sans" pitchFamily="34" charset="-120"/>
              </a:rPr>
              <a:t>Judgement stays with you
</a:t>
            </a:r>
            <a:pPr indent="0" marL="0">
              <a:lnSpc>
                <a:spcPts val="1380"/>
              </a:lnSpc>
              <a:spcAft>
                <a:spcPts val="500"/>
              </a:spcAft>
              <a:buNone/>
            </a:pPr>
            <a:r>
              <a:rPr lang="en-US" sz="1000" dirty="0">
                <a:solidFill>
                  <a:srgbClr val="B9BDBE"/>
                </a:solidFill>
                <a:latin typeface="Work Sans" pitchFamily="34" charset="0"/>
                <a:ea typeface="Work Sans" pitchFamily="34" charset="-122"/>
                <a:cs typeface="Work Sans" pitchFamily="34" charset="-120"/>
              </a:rPr>
              <a:t>Research accelerates an appraisal; it does not sign one off. Check the sources on any figure that drives a decision.</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310896"/>
            <a:ext cx="9777679" cy="256032"/>
          </a:xfrm>
          <a:prstGeom prst="rect">
            <a:avLst/>
          </a:prstGeom>
          <a:noFill/>
          <a:ln/>
        </p:spPr>
        <p:txBody>
          <a:bodyPr wrap="square" lIns="0" tIns="0" rIns="0" bIns="0" rtlCol="0" anchor="ctr"/>
          <a:lstStyle/>
          <a:p>
            <a:pPr algn="l" indent="0" marL="0">
              <a:buNone/>
            </a:pPr>
            <a:r>
              <a:rPr lang="en-US" sz="950" spc="260" kern="0" dirty="0">
                <a:solidFill>
                  <a:srgbClr val="5C6366"/>
                </a:solidFill>
                <a:latin typeface="Work Sans" pitchFamily="34" charset="0"/>
                <a:ea typeface="Work Sans" pitchFamily="34" charset="-122"/>
                <a:cs typeface="Work Sans" pitchFamily="34" charset="-120"/>
              </a:rPr>
              <a:t>STAYING CURRENT</a:t>
            </a:r>
            <a:endParaRPr lang="en-US" sz="950" dirty="0"/>
          </a:p>
        </p:txBody>
      </p:sp>
      <p:sp>
        <p:nvSpPr>
          <p:cNvPr id="3" name="Shape 1"/>
          <p:cNvSpPr/>
          <p:nvPr/>
        </p:nvSpPr>
        <p:spPr>
          <a:xfrm>
            <a:off x="566928" y="694944"/>
            <a:ext cx="11057839" cy="0"/>
          </a:xfrm>
          <a:prstGeom prst="line">
            <a:avLst/>
          </a:prstGeom>
          <a:noFill/>
          <a:ln w="9525">
            <a:solidFill>
              <a:srgbClr val="000000"/>
            </a:solidFill>
            <a:prstDash val="solid"/>
          </a:ln>
        </p:spPr>
      </p:sp>
      <p:sp>
        <p:nvSpPr>
          <p:cNvPr id="4" name="Text 2"/>
          <p:cNvSpPr/>
          <p:nvPr/>
        </p:nvSpPr>
        <p:spPr>
          <a:xfrm>
            <a:off x="10344607" y="246888"/>
            <a:ext cx="1280160" cy="219456"/>
          </a:xfrm>
          <a:prstGeom prst="rect">
            <a:avLst/>
          </a:prstGeom>
          <a:noFill/>
          <a:ln/>
        </p:spPr>
        <p:txBody>
          <a:bodyPr wrap="square" lIns="0" tIns="0" rIns="0" bIns="0" rtlCol="0" anchor="ctr"/>
          <a:lstStyle/>
          <a:p>
            <a:pPr algn="r" indent="0" marL="0">
              <a:buNone/>
            </a:pPr>
            <a:r>
              <a:rPr lang="en-US" sz="1100" spc="500" kern="0" dirty="0">
                <a:solidFill>
                  <a:srgbClr val="000000"/>
                </a:solidFill>
                <a:latin typeface="Work Sans" pitchFamily="34" charset="0"/>
                <a:ea typeface="Work Sans" pitchFamily="34" charset="-122"/>
                <a:cs typeface="Work Sans" pitchFamily="34" charset="-120"/>
              </a:rPr>
              <a:t>SATIS</a:t>
            </a:r>
            <a:endParaRPr lang="en-US" sz="1100" dirty="0"/>
          </a:p>
        </p:txBody>
      </p:sp>
      <p:sp>
        <p:nvSpPr>
          <p:cNvPr id="5" name="Text 3"/>
          <p:cNvSpPr/>
          <p:nvPr/>
        </p:nvSpPr>
        <p:spPr>
          <a:xfrm>
            <a:off x="10344607" y="457200"/>
            <a:ext cx="1280160" cy="146304"/>
          </a:xfrm>
          <a:prstGeom prst="rect">
            <a:avLst/>
          </a:prstGeom>
          <a:noFill/>
          <a:ln/>
        </p:spPr>
        <p:txBody>
          <a:bodyPr wrap="square" lIns="0" tIns="0" rIns="0" bIns="0" rtlCol="0" anchor="ctr"/>
          <a:lstStyle/>
          <a:p>
            <a:pPr algn="r" indent="0" marL="0">
              <a:buNone/>
            </a:pPr>
            <a:r>
              <a:rPr lang="en-US" sz="550" spc="340" kern="0" dirty="0">
                <a:solidFill>
                  <a:srgbClr val="5C6366"/>
                </a:solidFill>
                <a:latin typeface="Work Sans" pitchFamily="34" charset="0"/>
                <a:ea typeface="Work Sans" pitchFamily="34" charset="-122"/>
                <a:cs typeface="Work Sans" pitchFamily="34" charset="-120"/>
              </a:rPr>
              <a:t>GROUP</a:t>
            </a:r>
            <a:endParaRPr lang="en-US" sz="550" dirty="0"/>
          </a:p>
        </p:txBody>
      </p:sp>
      <p:sp>
        <p:nvSpPr>
          <p:cNvPr id="6" name="Text 4"/>
          <p:cNvSpPr/>
          <p:nvPr/>
        </p:nvSpPr>
        <p:spPr>
          <a:xfrm>
            <a:off x="566928" y="6473952"/>
            <a:ext cx="6400800" cy="201168"/>
          </a:xfrm>
          <a:prstGeom prst="rect">
            <a:avLst/>
          </a:prstGeom>
          <a:noFill/>
          <a:ln/>
        </p:spPr>
        <p:txBody>
          <a:bodyPr wrap="square" lIns="0" tIns="0" rIns="0" bIns="0" rtlCol="0" anchor="ctr"/>
          <a:lstStyle/>
          <a:p>
            <a:pPr indent="0" marL="0">
              <a:buNone/>
            </a:pPr>
            <a:r>
              <a:rPr lang="en-US" sz="700" spc="200" kern="0" dirty="0">
                <a:solidFill>
                  <a:srgbClr val="9AA0A2"/>
                </a:solidFill>
                <a:latin typeface="Work Sans" pitchFamily="34" charset="0"/>
                <a:ea typeface="Work Sans" pitchFamily="34" charset="-122"/>
                <a:cs typeface="Work Sans" pitchFamily="34" charset="-120"/>
              </a:rPr>
              <a:t>SATIS GROUP — THE SATIS APPRAISAL AGENT</a:t>
            </a:r>
            <a:endParaRPr lang="en-US" sz="700" dirty="0"/>
          </a:p>
        </p:txBody>
      </p:sp>
      <p:sp>
        <p:nvSpPr>
          <p:cNvPr id="7" name="Text 5"/>
          <p:cNvSpPr/>
          <p:nvPr/>
        </p:nvSpPr>
        <p:spPr>
          <a:xfrm>
            <a:off x="10710367" y="6473952"/>
            <a:ext cx="914400" cy="201168"/>
          </a:xfrm>
          <a:prstGeom prst="rect">
            <a:avLst/>
          </a:prstGeom>
          <a:noFill/>
          <a:ln/>
        </p:spPr>
        <p:txBody>
          <a:bodyPr wrap="square" lIns="0" tIns="0" rIns="0" bIns="0" rtlCol="0" anchor="ctr"/>
          <a:lstStyle/>
          <a:p>
            <a:pPr algn="r" indent="0" marL="0">
              <a:buNone/>
            </a:pPr>
            <a:r>
              <a:rPr lang="en-US" sz="800" spc="100" kern="0" dirty="0">
                <a:solidFill>
                  <a:srgbClr val="9AA0A2"/>
                </a:solidFill>
                <a:latin typeface="Work Sans" pitchFamily="34" charset="0"/>
                <a:ea typeface="Work Sans" pitchFamily="34" charset="-122"/>
                <a:cs typeface="Work Sans" pitchFamily="34" charset="-120"/>
              </a:rPr>
              <a:t>08</a:t>
            </a:r>
            <a:endParaRPr lang="en-US" sz="800" dirty="0"/>
          </a:p>
        </p:txBody>
      </p:sp>
      <p:sp>
        <p:nvSpPr>
          <p:cNvPr id="8" name="Text 6"/>
          <p:cNvSpPr/>
          <p:nvPr/>
        </p:nvSpPr>
        <p:spPr>
          <a:xfrm>
            <a:off x="566928" y="932688"/>
            <a:ext cx="11057839" cy="566928"/>
          </a:xfrm>
          <a:prstGeom prst="rect">
            <a:avLst/>
          </a:prstGeom>
          <a:noFill/>
          <a:ln/>
        </p:spPr>
        <p:txBody>
          <a:bodyPr wrap="square" lIns="0" tIns="0" rIns="0" bIns="0" rtlCol="0" anchor="ctr"/>
          <a:lstStyle/>
          <a:p>
            <a:pPr algn="l" indent="0" marL="0">
              <a:buNone/>
            </a:pPr>
            <a:r>
              <a:rPr lang="en-US" sz="2500" dirty="0">
                <a:solidFill>
                  <a:srgbClr val="000000"/>
                </a:solidFill>
                <a:latin typeface="Work Sans" pitchFamily="34" charset="0"/>
                <a:ea typeface="Work Sans" pitchFamily="34" charset="-122"/>
                <a:cs typeface="Work Sans" pitchFamily="34" charset="-120"/>
              </a:rPr>
              <a:t>Updates, versions, and where the app lives.</a:t>
            </a:r>
            <a:endParaRPr lang="en-US" sz="2500" dirty="0"/>
          </a:p>
        </p:txBody>
      </p:sp>
      <p:sp>
        <p:nvSpPr>
          <p:cNvPr id="9" name="Shape 7"/>
          <p:cNvSpPr/>
          <p:nvPr/>
        </p:nvSpPr>
        <p:spPr>
          <a:xfrm>
            <a:off x="566928" y="1664208"/>
            <a:ext cx="3478682" cy="2286000"/>
          </a:xfrm>
          <a:prstGeom prst="rect">
            <a:avLst/>
          </a:prstGeom>
          <a:solidFill>
            <a:srgbClr val="FFFFFF"/>
          </a:solidFill>
          <a:ln w="9525">
            <a:solidFill>
              <a:srgbClr val="CED1D2"/>
            </a:solidFill>
            <a:prstDash val="solid"/>
          </a:ln>
        </p:spPr>
      </p:sp>
      <p:sp>
        <p:nvSpPr>
          <p:cNvPr id="10" name="Text 8"/>
          <p:cNvSpPr/>
          <p:nvPr/>
        </p:nvSpPr>
        <p:spPr>
          <a:xfrm>
            <a:off x="786384" y="1828800"/>
            <a:ext cx="3039770" cy="1956816"/>
          </a:xfrm>
          <a:prstGeom prst="rect">
            <a:avLst/>
          </a:prstGeom>
          <a:noFill/>
          <a:ln/>
        </p:spPr>
        <p:txBody>
          <a:bodyPr wrap="square" lIns="0" tIns="0" rIns="0" bIns="0" rtlCol="0" anchor="t"/>
          <a:lstStyle/>
          <a:p>
            <a:pPr indent="0" marL="0">
              <a:lnSpc>
                <a:spcPts val="1380"/>
              </a:lnSpc>
              <a:spcAft>
                <a:spcPts val="200"/>
              </a:spcAft>
              <a:buNone/>
            </a:pPr>
            <a:r>
              <a:rPr lang="en-US" sz="1100" b="1" dirty="0">
                <a:solidFill>
                  <a:srgbClr val="000000"/>
                </a:solidFill>
                <a:latin typeface="Work Sans" pitchFamily="34" charset="0"/>
                <a:ea typeface="Work Sans" pitchFamily="34" charset="-122"/>
                <a:cs typeface="Work Sans" pitchFamily="34" charset="-120"/>
              </a:rPr>
              <a:t>Updating
</a:t>
            </a:r>
            <a:pPr indent="0" marL="0">
              <a:lnSpc>
                <a:spcPts val="1380"/>
              </a:lnSpc>
              <a:spcAft>
                <a:spcPts val="500"/>
              </a:spcAft>
              <a:buNone/>
            </a:pPr>
            <a:r>
              <a:rPr lang="en-US" sz="1000" dirty="0">
                <a:solidFill>
                  <a:srgbClr val="5C6366"/>
                </a:solidFill>
                <a:latin typeface="Work Sans" pitchFamily="34" charset="0"/>
                <a:ea typeface="Work Sans" pitchFamily="34" charset="-122"/>
                <a:cs typeface="Work Sans" pitchFamily="34" charset="-120"/>
              </a:rPr>
              <a:t>Download and run the installer again from /admin/appraisal — same buttons, newest version, settings kept.</a:t>
            </a:r>
            <a:endParaRPr lang="en-US" sz="1100" dirty="0"/>
          </a:p>
        </p:txBody>
      </p:sp>
      <p:sp>
        <p:nvSpPr>
          <p:cNvPr id="11" name="Shape 9"/>
          <p:cNvSpPr/>
          <p:nvPr/>
        </p:nvSpPr>
        <p:spPr>
          <a:xfrm>
            <a:off x="4356506" y="1664208"/>
            <a:ext cx="3478682" cy="2286000"/>
          </a:xfrm>
          <a:prstGeom prst="rect">
            <a:avLst/>
          </a:prstGeom>
          <a:solidFill>
            <a:srgbClr val="FFFFFF"/>
          </a:solidFill>
          <a:ln w="9525">
            <a:solidFill>
              <a:srgbClr val="CED1D2"/>
            </a:solidFill>
            <a:prstDash val="solid"/>
          </a:ln>
        </p:spPr>
      </p:sp>
      <p:sp>
        <p:nvSpPr>
          <p:cNvPr id="12" name="Text 10"/>
          <p:cNvSpPr/>
          <p:nvPr/>
        </p:nvSpPr>
        <p:spPr>
          <a:xfrm>
            <a:off x="4575962" y="1828800"/>
            <a:ext cx="3039770" cy="1956816"/>
          </a:xfrm>
          <a:prstGeom prst="rect">
            <a:avLst/>
          </a:prstGeom>
          <a:noFill/>
          <a:ln/>
        </p:spPr>
        <p:txBody>
          <a:bodyPr wrap="square" lIns="0" tIns="0" rIns="0" bIns="0" rtlCol="0" anchor="t"/>
          <a:lstStyle/>
          <a:p>
            <a:pPr indent="0" marL="0">
              <a:lnSpc>
                <a:spcPts val="1380"/>
              </a:lnSpc>
              <a:spcAft>
                <a:spcPts val="200"/>
              </a:spcAft>
              <a:buNone/>
            </a:pPr>
            <a:r>
              <a:rPr lang="en-US" sz="1100" b="1" dirty="0">
                <a:solidFill>
                  <a:srgbClr val="000000"/>
                </a:solidFill>
                <a:latin typeface="Work Sans" pitchFamily="34" charset="0"/>
                <a:ea typeface="Work Sans" pitchFamily="34" charset="-122"/>
                <a:cs typeface="Work Sans" pitchFamily="34" charset="-120"/>
              </a:rPr>
              <a:t>Version in use
</a:t>
            </a:r>
            <a:pPr indent="0" marL="0">
              <a:lnSpc>
                <a:spcPts val="1380"/>
              </a:lnSpc>
              <a:spcAft>
                <a:spcPts val="500"/>
              </a:spcAft>
              <a:buNone/>
            </a:pPr>
            <a:r>
              <a:rPr lang="en-US" sz="1000" dirty="0">
                <a:solidFill>
                  <a:srgbClr val="5C6366"/>
                </a:solidFill>
                <a:latin typeface="Work Sans" pitchFamily="34" charset="0"/>
                <a:ea typeface="Work Sans" pitchFamily="34" charset="-122"/>
                <a:cs typeface="Work Sans" pitchFamily="34" charset="-120"/>
              </a:rPr>
              <a:t>The download page shows the latest version number. Comparing it with Help/About in the app tells you if someone is behind.</a:t>
            </a:r>
            <a:endParaRPr lang="en-US" sz="1100" dirty="0"/>
          </a:p>
        </p:txBody>
      </p:sp>
      <p:sp>
        <p:nvSpPr>
          <p:cNvPr id="13" name="Shape 11"/>
          <p:cNvSpPr/>
          <p:nvPr/>
        </p:nvSpPr>
        <p:spPr>
          <a:xfrm>
            <a:off x="8146085" y="1664208"/>
            <a:ext cx="3478682" cy="2286000"/>
          </a:xfrm>
          <a:prstGeom prst="rect">
            <a:avLst/>
          </a:prstGeom>
          <a:solidFill>
            <a:srgbClr val="FFFFFF"/>
          </a:solidFill>
          <a:ln w="9525">
            <a:solidFill>
              <a:srgbClr val="CED1D2"/>
            </a:solidFill>
            <a:prstDash val="solid"/>
          </a:ln>
        </p:spPr>
      </p:sp>
      <p:sp>
        <p:nvSpPr>
          <p:cNvPr id="14" name="Text 12"/>
          <p:cNvSpPr/>
          <p:nvPr/>
        </p:nvSpPr>
        <p:spPr>
          <a:xfrm>
            <a:off x="8365541" y="1828800"/>
            <a:ext cx="3039770" cy="1956816"/>
          </a:xfrm>
          <a:prstGeom prst="rect">
            <a:avLst/>
          </a:prstGeom>
          <a:noFill/>
          <a:ln/>
        </p:spPr>
        <p:txBody>
          <a:bodyPr wrap="square" lIns="0" tIns="0" rIns="0" bIns="0" rtlCol="0" anchor="t"/>
          <a:lstStyle/>
          <a:p>
            <a:pPr indent="0" marL="0">
              <a:lnSpc>
                <a:spcPts val="1380"/>
              </a:lnSpc>
              <a:spcAft>
                <a:spcPts val="200"/>
              </a:spcAft>
              <a:buNone/>
            </a:pPr>
            <a:r>
              <a:rPr lang="en-US" sz="1100" b="1" dirty="0">
                <a:solidFill>
                  <a:srgbClr val="000000"/>
                </a:solidFill>
                <a:latin typeface="Work Sans" pitchFamily="34" charset="0"/>
                <a:ea typeface="Work Sans" pitchFamily="34" charset="-122"/>
                <a:cs typeface="Work Sans" pitchFamily="34" charset="-120"/>
              </a:rPr>
              <a:t>Where it lives
</a:t>
            </a:r>
            <a:pPr indent="0" marL="0">
              <a:lnSpc>
                <a:spcPts val="1380"/>
              </a:lnSpc>
              <a:spcAft>
                <a:spcPts val="500"/>
              </a:spcAft>
              <a:buNone/>
            </a:pPr>
            <a:r>
              <a:rPr lang="en-US" sz="1000" dirty="0">
                <a:solidFill>
                  <a:srgbClr val="5C6366"/>
                </a:solidFill>
                <a:latin typeface="Work Sans" pitchFamily="34" charset="0"/>
                <a:ea typeface="Work Sans" pitchFamily="34" charset="-122"/>
                <a:cs typeface="Work Sans" pitchFamily="34" charset="-120"/>
              </a:rPr>
              <a:t>The app is built from its own repository — Satisgroup-1/Appraisalapplication on GitHub — separate from the website. Earlier versions stay available on its releases page.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66928" y="310896"/>
            <a:ext cx="9777679" cy="256032"/>
          </a:xfrm>
          <a:prstGeom prst="rect">
            <a:avLst/>
          </a:prstGeom>
          <a:noFill/>
          <a:ln/>
        </p:spPr>
        <p:txBody>
          <a:bodyPr wrap="square" lIns="0" tIns="0" rIns="0" bIns="0" rtlCol="0" anchor="ctr"/>
          <a:lstStyle/>
          <a:p>
            <a:pPr algn="l" indent="0" marL="0">
              <a:buNone/>
            </a:pPr>
            <a:r>
              <a:rPr lang="en-US" sz="950" spc="260" kern="0" dirty="0">
                <a:solidFill>
                  <a:srgbClr val="B9BDBE"/>
                </a:solidFill>
                <a:latin typeface="Work Sans" pitchFamily="34" charset="0"/>
                <a:ea typeface="Work Sans" pitchFamily="34" charset="-122"/>
                <a:cs typeface="Work Sans" pitchFamily="34" charset="-120"/>
              </a:rPr>
              <a:t>RECAP</a:t>
            </a:r>
            <a:endParaRPr lang="en-US" sz="950" dirty="0"/>
          </a:p>
        </p:txBody>
      </p:sp>
      <p:sp>
        <p:nvSpPr>
          <p:cNvPr id="3" name="Shape 1"/>
          <p:cNvSpPr/>
          <p:nvPr/>
        </p:nvSpPr>
        <p:spPr>
          <a:xfrm>
            <a:off x="566928" y="694944"/>
            <a:ext cx="11057839" cy="0"/>
          </a:xfrm>
          <a:prstGeom prst="line">
            <a:avLst/>
          </a:prstGeom>
          <a:noFill/>
          <a:ln w="9525">
            <a:solidFill>
              <a:srgbClr val="3A3A3A"/>
            </a:solidFill>
            <a:prstDash val="solid"/>
          </a:ln>
        </p:spPr>
      </p:sp>
      <p:sp>
        <p:nvSpPr>
          <p:cNvPr id="4" name="Text 2"/>
          <p:cNvSpPr/>
          <p:nvPr/>
        </p:nvSpPr>
        <p:spPr>
          <a:xfrm>
            <a:off x="10344607" y="246888"/>
            <a:ext cx="1280160" cy="219456"/>
          </a:xfrm>
          <a:prstGeom prst="rect">
            <a:avLst/>
          </a:prstGeom>
          <a:noFill/>
          <a:ln/>
        </p:spPr>
        <p:txBody>
          <a:bodyPr wrap="square" lIns="0" tIns="0" rIns="0" bIns="0" rtlCol="0" anchor="ctr"/>
          <a:lstStyle/>
          <a:p>
            <a:pPr algn="r" indent="0" marL="0">
              <a:buNone/>
            </a:pPr>
            <a:r>
              <a:rPr lang="en-US" sz="1100" spc="500" kern="0" dirty="0">
                <a:solidFill>
                  <a:srgbClr val="FFFFFF"/>
                </a:solidFill>
                <a:latin typeface="Work Sans" pitchFamily="34" charset="0"/>
                <a:ea typeface="Work Sans" pitchFamily="34" charset="-122"/>
                <a:cs typeface="Work Sans" pitchFamily="34" charset="-120"/>
              </a:rPr>
              <a:t>SATIS</a:t>
            </a:r>
            <a:endParaRPr lang="en-US" sz="1100" dirty="0"/>
          </a:p>
        </p:txBody>
      </p:sp>
      <p:sp>
        <p:nvSpPr>
          <p:cNvPr id="5" name="Text 3"/>
          <p:cNvSpPr/>
          <p:nvPr/>
        </p:nvSpPr>
        <p:spPr>
          <a:xfrm>
            <a:off x="10344607" y="457200"/>
            <a:ext cx="1280160" cy="146304"/>
          </a:xfrm>
          <a:prstGeom prst="rect">
            <a:avLst/>
          </a:prstGeom>
          <a:noFill/>
          <a:ln/>
        </p:spPr>
        <p:txBody>
          <a:bodyPr wrap="square" lIns="0" tIns="0" rIns="0" bIns="0" rtlCol="0" anchor="ctr"/>
          <a:lstStyle/>
          <a:p>
            <a:pPr algn="r" indent="0" marL="0">
              <a:buNone/>
            </a:pPr>
            <a:r>
              <a:rPr lang="en-US" sz="550" spc="340" kern="0" dirty="0">
                <a:solidFill>
                  <a:srgbClr val="B9BDBE"/>
                </a:solidFill>
                <a:latin typeface="Work Sans" pitchFamily="34" charset="0"/>
                <a:ea typeface="Work Sans" pitchFamily="34" charset="-122"/>
                <a:cs typeface="Work Sans" pitchFamily="34" charset="-120"/>
              </a:rPr>
              <a:t>GROUP</a:t>
            </a:r>
            <a:endParaRPr lang="en-US" sz="550" dirty="0"/>
          </a:p>
        </p:txBody>
      </p:sp>
      <p:sp>
        <p:nvSpPr>
          <p:cNvPr id="6" name="Text 4"/>
          <p:cNvSpPr/>
          <p:nvPr/>
        </p:nvSpPr>
        <p:spPr>
          <a:xfrm>
            <a:off x="566928" y="6473952"/>
            <a:ext cx="6400800" cy="201168"/>
          </a:xfrm>
          <a:prstGeom prst="rect">
            <a:avLst/>
          </a:prstGeom>
          <a:noFill/>
          <a:ln/>
        </p:spPr>
        <p:txBody>
          <a:bodyPr wrap="square" lIns="0" tIns="0" rIns="0" bIns="0" rtlCol="0" anchor="ctr"/>
          <a:lstStyle/>
          <a:p>
            <a:pPr indent="0" marL="0">
              <a:buNone/>
            </a:pPr>
            <a:r>
              <a:rPr lang="en-US" sz="700" spc="200" kern="0" dirty="0">
                <a:solidFill>
                  <a:srgbClr val="B9BDBE"/>
                </a:solidFill>
                <a:latin typeface="Work Sans" pitchFamily="34" charset="0"/>
                <a:ea typeface="Work Sans" pitchFamily="34" charset="-122"/>
                <a:cs typeface="Work Sans" pitchFamily="34" charset="-120"/>
              </a:rPr>
              <a:t>SATIS GROUP — THE SATIS APPRAISAL AGENT</a:t>
            </a:r>
            <a:endParaRPr lang="en-US" sz="700" dirty="0"/>
          </a:p>
        </p:txBody>
      </p:sp>
      <p:sp>
        <p:nvSpPr>
          <p:cNvPr id="7" name="Text 5"/>
          <p:cNvSpPr/>
          <p:nvPr/>
        </p:nvSpPr>
        <p:spPr>
          <a:xfrm>
            <a:off x="10710367" y="6473952"/>
            <a:ext cx="914400" cy="201168"/>
          </a:xfrm>
          <a:prstGeom prst="rect">
            <a:avLst/>
          </a:prstGeom>
          <a:noFill/>
          <a:ln/>
        </p:spPr>
        <p:txBody>
          <a:bodyPr wrap="square" lIns="0" tIns="0" rIns="0" bIns="0" rtlCol="0" anchor="ctr"/>
          <a:lstStyle/>
          <a:p>
            <a:pPr algn="r" indent="0" marL="0">
              <a:buNone/>
            </a:pPr>
            <a:r>
              <a:rPr lang="en-US" sz="800" spc="100" kern="0" dirty="0">
                <a:solidFill>
                  <a:srgbClr val="B9BDBE"/>
                </a:solidFill>
                <a:latin typeface="Work Sans" pitchFamily="34" charset="0"/>
                <a:ea typeface="Work Sans" pitchFamily="34" charset="-122"/>
                <a:cs typeface="Work Sans" pitchFamily="34" charset="-120"/>
              </a:rPr>
              <a:t>09</a:t>
            </a:r>
            <a:endParaRPr lang="en-US" sz="800" dirty="0"/>
          </a:p>
        </p:txBody>
      </p:sp>
      <p:sp>
        <p:nvSpPr>
          <p:cNvPr id="8" name="Text 6"/>
          <p:cNvSpPr/>
          <p:nvPr/>
        </p:nvSpPr>
        <p:spPr>
          <a:xfrm>
            <a:off x="566928" y="969264"/>
            <a:ext cx="11057839" cy="548640"/>
          </a:xfrm>
          <a:prstGeom prst="rect">
            <a:avLst/>
          </a:prstGeom>
          <a:noFill/>
          <a:ln/>
        </p:spPr>
        <p:txBody>
          <a:bodyPr wrap="square" lIns="0" tIns="0" rIns="0" bIns="0" rtlCol="0" anchor="ctr"/>
          <a:lstStyle/>
          <a:p>
            <a:pPr indent="0" marL="0">
              <a:buNone/>
            </a:pPr>
            <a:r>
              <a:rPr lang="en-US" sz="2400" dirty="0">
                <a:solidFill>
                  <a:srgbClr val="FFFFFF"/>
                </a:solidFill>
                <a:latin typeface="Work Sans" pitchFamily="34" charset="0"/>
                <a:ea typeface="Work Sans" pitchFamily="34" charset="-122"/>
                <a:cs typeface="Work Sans" pitchFamily="34" charset="-120"/>
              </a:rPr>
              <a:t>What to remember.</a:t>
            </a:r>
            <a:endParaRPr lang="en-US" sz="2400" dirty="0"/>
          </a:p>
        </p:txBody>
      </p:sp>
      <p:sp>
        <p:nvSpPr>
          <p:cNvPr id="9" name="Text 7"/>
          <p:cNvSpPr/>
          <p:nvPr/>
        </p:nvSpPr>
        <p:spPr>
          <a:xfrm>
            <a:off x="612648" y="1783080"/>
            <a:ext cx="6675120" cy="4023360"/>
          </a:xfrm>
          <a:prstGeom prst="rect">
            <a:avLst/>
          </a:prstGeom>
          <a:noFill/>
          <a:ln/>
        </p:spPr>
        <p:txBody>
          <a:bodyPr wrap="square" lIns="0" tIns="0" rIns="0" bIns="0" rtlCol="0" anchor="t"/>
          <a:lstStyle/>
          <a:p>
            <a:pPr marL="177800" indent="-177800">
              <a:lnSpc>
                <a:spcPts val="1800"/>
              </a:lnSpc>
              <a:spcAft>
                <a:spcPts val="1200"/>
              </a:spcAft>
              <a:buSzPct val="100000"/>
              <a:buChar char="•"/>
            </a:pPr>
            <a:r>
              <a:rPr lang="en-US" sz="1250" dirty="0">
                <a:solidFill>
                  <a:srgbClr val="FFFFFF"/>
                </a:solidFill>
                <a:latin typeface="Work Sans" pitchFamily="34" charset="0"/>
                <a:ea typeface="Work Sans" pitchFamily="34" charset="-122"/>
                <a:cs typeface="Work Sans" pitchFamily="34" charset="-120"/>
              </a:rPr>
              <a:t>Floorplans in → compliant conversion options → a full appraisal of each. Mirrors the Appraisal Model workbook.</a:t>
            </a:r>
            <a:endParaRPr lang="en-US" sz="1250" dirty="0"/>
          </a:p>
          <a:p>
            <a:pPr marL="177800" indent="-177800">
              <a:lnSpc>
                <a:spcPts val="1800"/>
              </a:lnSpc>
              <a:spcAft>
                <a:spcPts val="1200"/>
              </a:spcAft>
              <a:buSzPct val="100000"/>
              <a:buChar char="•"/>
            </a:pPr>
            <a:r>
              <a:rPr lang="en-US" sz="1250" dirty="0">
                <a:solidFill>
                  <a:srgbClr val="FFFFFF"/>
                </a:solidFill>
                <a:latin typeface="Work Sans" pitchFamily="34" charset="0"/>
                <a:ea typeface="Work Sans" pitchFamily="34" charset="-122"/>
                <a:cs typeface="Work Sans" pitchFamily="34" charset="-120"/>
              </a:rPr>
              <a:t>Always download from /admin/appraisal — the buttons always give the newest version.</a:t>
            </a:r>
            <a:endParaRPr lang="en-US" sz="1250" dirty="0"/>
          </a:p>
          <a:p>
            <a:pPr marL="177800" indent="-177800">
              <a:lnSpc>
                <a:spcPts val="1800"/>
              </a:lnSpc>
              <a:spcAft>
                <a:spcPts val="1200"/>
              </a:spcAft>
              <a:buSzPct val="100000"/>
              <a:buChar char="•"/>
            </a:pPr>
            <a:r>
              <a:rPr lang="en-US" sz="1250" dirty="0">
                <a:solidFill>
                  <a:srgbClr val="FFFFFF"/>
                </a:solidFill>
                <a:latin typeface="Work Sans" pitchFamily="34" charset="0"/>
                <a:ea typeface="Work Sans" pitchFamily="34" charset="-122"/>
                <a:cs typeface="Work Sans" pitchFamily="34" charset="-120"/>
              </a:rPr>
              <a:t>The security prompts are expected: “More info → Run anyway” / Control-click → Open, once.</a:t>
            </a:r>
            <a:endParaRPr lang="en-US" sz="1250" dirty="0"/>
          </a:p>
          <a:p>
            <a:pPr marL="177800" indent="-177800">
              <a:lnSpc>
                <a:spcPts val="1800"/>
              </a:lnSpc>
              <a:spcAft>
                <a:spcPts val="1200"/>
              </a:spcAft>
              <a:buSzPct val="100000"/>
              <a:buChar char="•"/>
            </a:pPr>
            <a:r>
              <a:rPr lang="en-US" sz="1250" dirty="0">
                <a:solidFill>
                  <a:srgbClr val="FFFFFF"/>
                </a:solidFill>
                <a:latin typeface="Work Sans" pitchFamily="34" charset="0"/>
                <a:ea typeface="Work Sans" pitchFamily="34" charset="-122"/>
                <a:cs typeface="Work Sans" pitchFamily="34" charset="-120"/>
              </a:rPr>
              <a:t>AI features need a Claude account or API key, set in the app's Settings; DXF and manual entry work without.</a:t>
            </a:r>
            <a:endParaRPr lang="en-US" sz="1250" dirty="0"/>
          </a:p>
          <a:p>
            <a:pPr marL="177800" indent="-177800">
              <a:lnSpc>
                <a:spcPts val="1800"/>
              </a:lnSpc>
              <a:spcAft>
                <a:spcPts val="1200"/>
              </a:spcAft>
              <a:buSzPct val="100000"/>
              <a:buChar char="•"/>
            </a:pPr>
            <a:r>
              <a:rPr lang="en-US" sz="1250" dirty="0">
                <a:solidFill>
                  <a:srgbClr val="FFFFFF"/>
                </a:solidFill>
                <a:latin typeface="Work Sans" pitchFamily="34" charset="0"/>
                <a:ea typeface="Work Sans" pitchFamily="34" charset="-122"/>
                <a:cs typeface="Work Sans" pitchFamily="34" charset="-120"/>
              </a:rPr>
              <a:t>Pricing research is suggested and sourced — applied only when you choose.</a:t>
            </a:r>
            <a:endParaRPr lang="en-US" sz="1250" dirty="0"/>
          </a:p>
        </p:txBody>
      </p:sp>
      <p:sp>
        <p:nvSpPr>
          <p:cNvPr id="10" name="Shape 8"/>
          <p:cNvSpPr/>
          <p:nvPr/>
        </p:nvSpPr>
        <p:spPr>
          <a:xfrm>
            <a:off x="7818120" y="1828800"/>
            <a:ext cx="0" cy="3291840"/>
          </a:xfrm>
          <a:prstGeom prst="line">
            <a:avLst/>
          </a:prstGeom>
          <a:noFill/>
          <a:ln w="9525">
            <a:solidFill>
              <a:srgbClr val="3A3A3A"/>
            </a:solidFill>
            <a:prstDash val="solid"/>
          </a:ln>
        </p:spPr>
      </p:sp>
      <p:sp>
        <p:nvSpPr>
          <p:cNvPr id="11" name="Text 9"/>
          <p:cNvSpPr/>
          <p:nvPr/>
        </p:nvSpPr>
        <p:spPr>
          <a:xfrm>
            <a:off x="8183880" y="1828800"/>
            <a:ext cx="3383280" cy="219456"/>
          </a:xfrm>
          <a:prstGeom prst="rect">
            <a:avLst/>
          </a:prstGeom>
          <a:noFill/>
          <a:ln/>
        </p:spPr>
        <p:txBody>
          <a:bodyPr wrap="square" lIns="0" tIns="0" rIns="0" bIns="0" rtlCol="0" anchor="ctr"/>
          <a:lstStyle/>
          <a:p>
            <a:pPr indent="0" marL="0">
              <a:buNone/>
            </a:pPr>
            <a:r>
              <a:rPr lang="en-US" sz="850" spc="240" kern="0" dirty="0">
                <a:solidFill>
                  <a:srgbClr val="B9BDBE"/>
                </a:solidFill>
                <a:latin typeface="Work Sans" pitchFamily="34" charset="0"/>
                <a:ea typeface="Work Sans" pitchFamily="34" charset="-122"/>
                <a:cs typeface="Work Sans" pitchFamily="34" charset="-120"/>
              </a:rPr>
              <a:t>WHERE TO GET HELP</a:t>
            </a:r>
            <a:endParaRPr lang="en-US" sz="850" dirty="0"/>
          </a:p>
        </p:txBody>
      </p:sp>
      <p:sp>
        <p:nvSpPr>
          <p:cNvPr id="12" name="Text 10"/>
          <p:cNvSpPr/>
          <p:nvPr/>
        </p:nvSpPr>
        <p:spPr>
          <a:xfrm>
            <a:off x="8183880" y="2194560"/>
            <a:ext cx="3429000" cy="3108960"/>
          </a:xfrm>
          <a:prstGeom prst="rect">
            <a:avLst/>
          </a:prstGeom>
          <a:noFill/>
          <a:ln/>
        </p:spPr>
        <p:txBody>
          <a:bodyPr wrap="square" lIns="0" tIns="0" rIns="0" bIns="0" rtlCol="0" anchor="t"/>
          <a:lstStyle/>
          <a:p>
            <a:pPr indent="0" marL="0">
              <a:lnSpc>
                <a:spcPts val="1500"/>
              </a:lnSpc>
              <a:spcAft>
                <a:spcPts val="1000"/>
              </a:spcAft>
              <a:buNone/>
            </a:pPr>
            <a:r>
              <a:rPr lang="en-US" sz="1050" dirty="0">
                <a:solidFill>
                  <a:srgbClr val="B9BDBE"/>
                </a:solidFill>
                <a:latin typeface="Work Sans" pitchFamily="34" charset="0"/>
                <a:ea typeface="Work Sans" pitchFamily="34" charset="-122"/>
                <a:cs typeface="Work Sans" pitchFamily="34" charset="-120"/>
              </a:rPr>
              <a:t>Install steps are printed on the download page itself.</a:t>
            </a:r>
            <a:endParaRPr lang="en-US" sz="1050" dirty="0"/>
          </a:p>
          <a:p>
            <a:pPr indent="0" marL="0">
              <a:lnSpc>
                <a:spcPts val="1500"/>
              </a:lnSpc>
              <a:spcAft>
                <a:spcPts val="1000"/>
              </a:spcAft>
              <a:buNone/>
            </a:pPr>
            <a:r>
              <a:rPr lang="en-US" sz="1050" dirty="0">
                <a:solidFill>
                  <a:srgbClr val="B9BDBE"/>
                </a:solidFill>
                <a:latin typeface="Work Sans" pitchFamily="34" charset="0"/>
                <a:ea typeface="Work Sans" pitchFamily="34" charset="-122"/>
                <a:cs typeface="Work Sans" pitchFamily="34" charset="-120"/>
              </a:rPr>
              <a:t>App questions or ideas: a Claude session on Satisgroup-1/Appraisalapplication.</a:t>
            </a:r>
            <a:endParaRPr lang="en-US" sz="1050" dirty="0"/>
          </a:p>
          <a:p>
            <a:pPr indent="0" marL="0">
              <a:lnSpc>
                <a:spcPts val="1500"/>
              </a:lnSpc>
              <a:spcAft>
                <a:spcPts val="1000"/>
              </a:spcAft>
              <a:buNone/>
            </a:pPr>
            <a:r>
              <a:rPr lang="en-US" sz="1050" dirty="0">
                <a:solidFill>
                  <a:srgbClr val="B9BDBE"/>
                </a:solidFill>
                <a:latin typeface="Work Sans" pitchFamily="34" charset="0"/>
                <a:ea typeface="Work Sans" pitchFamily="34" charset="-122"/>
                <a:cs typeface="Work Sans" pitchFamily="34" charset="-120"/>
              </a:rPr>
              <a:t>Connection problems: Settings inside the app can test the Claude link.</a:t>
            </a:r>
            <a:endParaRPr lang="en-US" sz="1050" dirty="0"/>
          </a:p>
        </p:txBody>
      </p:sp>
      <p:sp>
        <p:nvSpPr>
          <p:cNvPr id="13" name="Text 11"/>
          <p:cNvSpPr/>
          <p:nvPr/>
        </p:nvSpPr>
        <p:spPr>
          <a:xfrm>
            <a:off x="0" y="5806440"/>
            <a:ext cx="12191695" cy="457200"/>
          </a:xfrm>
          <a:prstGeom prst="rect">
            <a:avLst/>
          </a:prstGeom>
          <a:noFill/>
          <a:ln/>
        </p:spPr>
        <p:txBody>
          <a:bodyPr wrap="square" lIns="0" tIns="0" rIns="0" bIns="0" rtlCol="0" anchor="ctr"/>
          <a:lstStyle/>
          <a:p>
            <a:pPr algn="ctr" indent="0" marL="0">
              <a:buNone/>
            </a:pPr>
            <a:r>
              <a:rPr lang="en-US" sz="2000" spc="1500" kern="0" dirty="0">
                <a:solidFill>
                  <a:srgbClr val="FFFFFF"/>
                </a:solidFill>
                <a:latin typeface="Work Sans" pitchFamily="34" charset="0"/>
                <a:ea typeface="Work Sans" pitchFamily="34" charset="-122"/>
                <a:cs typeface="Work Sans" pitchFamily="34" charset="-120"/>
              </a:rPr>
              <a:t>SATIS</a:t>
            </a:r>
            <a:endParaRPr lang="en-US" sz="2000" dirty="0"/>
          </a:p>
        </p:txBody>
      </p:sp>
      <p:sp>
        <p:nvSpPr>
          <p:cNvPr id="14" name="Text 12"/>
          <p:cNvSpPr/>
          <p:nvPr/>
        </p:nvSpPr>
        <p:spPr>
          <a:xfrm>
            <a:off x="0" y="6236208"/>
            <a:ext cx="12191695" cy="219456"/>
          </a:xfrm>
          <a:prstGeom prst="rect">
            <a:avLst/>
          </a:prstGeom>
          <a:noFill/>
          <a:ln/>
        </p:spPr>
        <p:txBody>
          <a:bodyPr wrap="square" lIns="0" tIns="0" rIns="0" bIns="0" rtlCol="0" anchor="ctr"/>
          <a:lstStyle/>
          <a:p>
            <a:pPr algn="ctr" indent="0" marL="0">
              <a:buNone/>
            </a:pPr>
            <a:r>
              <a:rPr lang="en-US" sz="750" spc="600" kern="0" dirty="0">
                <a:solidFill>
                  <a:srgbClr val="B9BDBE"/>
                </a:solidFill>
                <a:latin typeface="Work Sans" pitchFamily="34" charset="0"/>
                <a:ea typeface="Work Sans" pitchFamily="34" charset="-122"/>
                <a:cs typeface="Work Sans" pitchFamily="34" charset="-120"/>
              </a:rPr>
              <a:t>GROUP</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Satis Group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Satis Appraisal agent.</dc:title>
  <dc:subject>PptxGenJS Presentation</dc:subject>
  <dc:creator>Satis Group</dc:creator>
  <cp:lastModifiedBy>Satis Group</cp:lastModifiedBy>
  <cp:revision>1</cp:revision>
  <dcterms:created xsi:type="dcterms:W3CDTF">2026-08-19T17:30:33Z</dcterms:created>
  <dcterms:modified xsi:type="dcterms:W3CDTF">2026-08-19T17:30:33Z</dcterms:modified>
</cp:coreProperties>
</file>