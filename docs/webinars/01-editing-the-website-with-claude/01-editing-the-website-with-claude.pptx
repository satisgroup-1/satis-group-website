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8" r:id="rId19"/>
    <p:sldId id="269" r:id="rId20"/>
    <p:sldId id="260" r:id="rId6"/>
    <p:sldId id="261" r:id="rId7"/>
    <p:sldId id="262" r:id="rId8"/>
    <p:sldId id="270" r:id="rId21"/>
    <p:sldId id="271" r:id="rId22"/>
    <p:sldId id="263" r:id="rId9"/>
    <p:sldId id="264" r:id="rId10"/>
    <p:sldId id="272" r:id="rId23"/>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session shows how we make changes to satisgroup.co.uk without a developer on call: we describe the change to Claude in plain English, and it edits the website's master copy for us. By the end you'll be able to request any content change yourself. No technical background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 agenda quickly. Two sections are new since the last run of this webinar: connecting a different GitHub account (03), and previewing a change on its own web address before it reaches the live site (06). Emphasise the promise: by the end of the session everyone here can change the website themselves,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mental model comes from the operations guide and explains every behaviour they'll meet: why changes take a minute to appear, why nothing can be broken by browsing, and why every change is traceable. Repeat the brochure line. It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 room: a Claude session is a conversation, not a control panel. Nothing they type goes live by itself. There is a deliberate step (commit, then the automatic republish) between conversation and the public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examples come straight from the operations guide and cover 90% of day-to-day requests. Encourage people to include the page name and exact wording they want. Precision in, precision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 and push” is the one phrase worth memorising. Explain the audit trail: this is why the repository approach is safer than editing a live site. Every version of every page,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expectation of a few minutes' delay. It prevents the “it didn't work” moment when a change hasn't propagated yet. The verification habit (always look at the live page) catches misunderstandings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guide's own recipe. The point to land: gather the five ingredients before starting, then it's one message and under an hour, most of which is Claude working, not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of gentle demystification. The takeaway isn't the file names. It's that the site is structured data plus a design system, which is why plain-English requests work so reliably.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examples are verbatim from the guide's Claude agents &amp; skills chapter. Quarterly habit worth suggesting: an SEO audit and an accessibility audit cost one sentence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fear. The three safety properties: visibility before commit, audit trail after, rollback always. Invite the room to try one small real request this week, like a typo fix or a status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takeaways, answer questions, and point everyone at the written guide. The two new lines are the third and fourth: the connected GitHub account is the answer to almost every "I cannot see the repository", and asking for a branch is how you look before you leap. Invite the room to try one small real request this week — a typo fix or a status change — and to open its preview before merging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that comes up whenever somebody joins with a personal GitHub login. The model to give them: Claude sees exactly what the connected GitHub account sees, no more and no less. So "I cannot find the repository" is almost always "I am connected as the wrong account". Step three is where people get stuck — the browser silently reuses the old GitHub session, so tell them to sign out of github.com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screens, two questions. The first is about the owner and the second about the repositories. Recommend "Only select repositories" over "All repositories" — it is the safer default and it costs one extra tick. The line worth repeating is the last one: this is all reversible at any time from GitHub Settings, Applications, Claude, Configure.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changes behaviour. Until now people have asked for a change and hoped; from here they can look first. Make the distinction explicit: a preview is a full working copy of the site at a different address, not a screenshot and not a staging server anyone has to maintain. Land the last point hard — the quickest route to a preview is to ask Claude, in the same session, for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along the two screenshots, left to right. The one thing worth memorising is the shape of the preview address: the project name, then -git-, then the branch, then the team. Anyone who sees that in a browser bar knows straight away they are looking at a preview and not the live site. Amber means still building, and that is the single most common "the link is broken"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 skill in one sentence and move on: it is a written procedure, not a plug-in and not a piece of software to install. Nobody in this room needs to install anything — the repository already carries all 105, which is why an accessibility audit or an SEO sweep is a one-sentence request. The account-level settings page only matters to people who also use Claude outside this website. Demonstrate the slash menu live if the connection allows; it lands better than the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added-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added-2.png"/><Relationship Id="rId2" Type="http://schemas.openxmlformats.org/officeDocument/2006/relationships/image" Target="../media/image-added-3.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added-4.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added-5.png"/><Relationship Id="rId2" Type="http://schemas.openxmlformats.org/officeDocument/2006/relationships/image" Target="../media/image-added-6.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added-7.png"/><Relationship Id="rId2" Type="http://schemas.openxmlformats.org/officeDocument/2006/relationships/image" Target="../media/image-added-8.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tmp/claude-0/-home-user-satis-group-website/ff8ab6f4-f9c2-556a-89f3-8bea05ba205c/build/assets/cover-claud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p:spPr>
      </p:sp>
      <p:sp>
        <p:nvSpPr>
          <p:cNvPr id="4" name="Shape 1"/>
          <p:cNvSpPr/>
          <p:nvPr/>
        </p:nvSpPr>
        <p:spPr>
          <a:xfrm>
            <a:off x="566928" y="566928"/>
            <a:ext cx="11057839" cy="0"/>
          </a:xfrm>
          <a:prstGeom prst="line">
            <a:avLst/>
          </a:prstGeom>
          <a:noFill/>
          <a:ln w="9525">
            <a:solidFill>
              <a:srgbClr val="FFFFFF"/>
            </a:solidFill>
            <a:prstDash val="solid"/>
          </a:ln>
        </p:spPr>
      </p:sp>
      <p:sp>
        <p:nvSpPr>
          <p:cNvPr id="5" name="Text 2"/>
          <p:cNvSpPr/>
          <p:nvPr/>
        </p:nvSpPr>
        <p:spPr>
          <a:xfrm>
            <a:off x="566928" y="713232"/>
            <a:ext cx="11057839" cy="274320"/>
          </a:xfrm>
          <a:prstGeom prst="rect">
            <a:avLst/>
          </a:prstGeom>
          <a:noFill/>
          <a:ln/>
        </p:spPr>
        <p:txBody>
          <a:bodyPr wrap="square" lIns="0" tIns="0" rIns="0" bIns="0" rtlCol="0" anchor="ctr"/>
          <a:lstStyle/>
          <a:p>
            <a:pPr indent="0" marL="0">
              <a:buNone/>
            </a:pPr>
            <a:r>
              <a:rPr lang="en-US" sz="950" spc="300" kern="0" dirty="0">
                <a:solidFill>
                  <a:srgbClr val="FFFFFF"/>
                </a:solidFill>
                <a:latin typeface="Work Sans" pitchFamily="34" charset="0"/>
                <a:ea typeface="Work Sans" pitchFamily="34" charset="-122"/>
                <a:cs typeface="Work Sans" pitchFamily="34" charset="-120"/>
              </a:rPr>
              <a:t>SATIS GROUP · BACKEND WEBINAR SERIES</a:t>
            </a:r>
            <a:endParaRPr lang="en-US" sz="950" dirty="0"/>
          </a:p>
        </p:txBody>
      </p:sp>
      <p:sp>
        <p:nvSpPr>
          <p:cNvPr id="6" name="Text 3"/>
          <p:cNvSpPr/>
          <p:nvPr/>
        </p:nvSpPr>
        <p:spPr>
          <a:xfrm>
            <a:off x="0" y="2304288"/>
            <a:ext cx="12191695" cy="777240"/>
          </a:xfrm>
          <a:prstGeom prst="rect">
            <a:avLst/>
          </a:prstGeom>
          <a:noFill/>
          <a:ln/>
        </p:spPr>
        <p:txBody>
          <a:bodyPr wrap="square" lIns="0" tIns="0" rIns="0" bIns="0" rtlCol="0" anchor="ctr"/>
          <a:lstStyle/>
          <a:p>
            <a:pPr algn="ctr" indent="0" marL="0">
              <a:buNone/>
            </a:pPr>
            <a:r>
              <a:rPr lang="en-US" sz="4000" spc="3000" kern="0" dirty="0">
                <a:solidFill>
                  <a:srgbClr val="FFFFFF"/>
                </a:solidFill>
                <a:latin typeface="Work Sans" pitchFamily="34" charset="0"/>
                <a:ea typeface="Work Sans" pitchFamily="34" charset="-122"/>
                <a:cs typeface="Work Sans" pitchFamily="34" charset="-120"/>
              </a:rPr>
              <a:t>SATIS</a:t>
            </a:r>
            <a:endParaRPr lang="en-US" sz="4000" dirty="0"/>
          </a:p>
        </p:txBody>
      </p:sp>
      <p:sp>
        <p:nvSpPr>
          <p:cNvPr id="7" name="Text 4"/>
          <p:cNvSpPr/>
          <p:nvPr/>
        </p:nvSpPr>
        <p:spPr>
          <a:xfrm>
            <a:off x="0" y="3090672"/>
            <a:ext cx="12191695" cy="274320"/>
          </a:xfrm>
          <a:prstGeom prst="rect">
            <a:avLst/>
          </a:prstGeom>
          <a:noFill/>
          <a:ln/>
        </p:spPr>
        <p:txBody>
          <a:bodyPr wrap="square" lIns="0" tIns="0" rIns="0" bIns="0" rtlCol="0" anchor="ctr"/>
          <a:lstStyle/>
          <a:p>
            <a:pPr algn="ctr" indent="0" marL="0">
              <a:buNone/>
            </a:pPr>
            <a:r>
              <a:rPr lang="en-US" sz="1250" spc="1100" kern="0" dirty="0">
                <a:solidFill>
                  <a:srgbClr val="FFFFFF"/>
                </a:solidFill>
                <a:latin typeface="Work Sans" pitchFamily="34" charset="0"/>
                <a:ea typeface="Work Sans" pitchFamily="34" charset="-122"/>
                <a:cs typeface="Work Sans" pitchFamily="34" charset="-120"/>
              </a:rPr>
              <a:t>GROUP</a:t>
            </a:r>
            <a:endParaRPr lang="en-US" sz="1250" dirty="0"/>
          </a:p>
        </p:txBody>
      </p:sp>
      <p:sp>
        <p:nvSpPr>
          <p:cNvPr id="8" name="Text 5"/>
          <p:cNvSpPr/>
          <p:nvPr/>
        </p:nvSpPr>
        <p:spPr>
          <a:xfrm>
            <a:off x="1371600" y="3913632"/>
            <a:ext cx="9448495" cy="640080"/>
          </a:xfrm>
          <a:prstGeom prst="rect">
            <a:avLst/>
          </a:prstGeom>
          <a:noFill/>
          <a:ln/>
        </p:spPr>
        <p:txBody>
          <a:bodyPr wrap="square" lIns="0" tIns="0" rIns="0" bIns="0" rtlCol="0" anchor="ctr"/>
          <a:lstStyle/>
          <a:p>
            <a:pPr algn="ctr" indent="0" marL="0">
              <a:buNone/>
            </a:pPr>
            <a:r>
              <a:rPr lang="en-US" sz="2700" dirty="0">
                <a:solidFill>
                  <a:srgbClr val="FFFFFF"/>
                </a:solidFill>
                <a:latin typeface="Work Sans" pitchFamily="34" charset="0"/>
                <a:ea typeface="Work Sans" pitchFamily="34" charset="-122"/>
                <a:cs typeface="Work Sans" pitchFamily="34" charset="-120"/>
              </a:rPr>
              <a:t>Editing the website with Claude.</a:t>
            </a:r>
            <a:endParaRPr lang="en-US" sz="2700" dirty="0"/>
          </a:p>
        </p:txBody>
      </p:sp>
      <p:sp>
        <p:nvSpPr>
          <p:cNvPr id="9" name="Text 6"/>
          <p:cNvSpPr/>
          <p:nvPr/>
        </p:nvSpPr>
        <p:spPr>
          <a:xfrm>
            <a:off x="2194560" y="4590288"/>
            <a:ext cx="7802575" cy="566928"/>
          </a:xfrm>
          <a:prstGeom prst="rect">
            <a:avLst/>
          </a:prstGeom>
          <a:noFill/>
          <a:ln/>
        </p:spPr>
        <p:txBody>
          <a:bodyPr wrap="square" lIns="0" tIns="0" rIns="0" bIns="0" rtlCol="0" anchor="ctr"/>
          <a:lstStyle/>
          <a:p>
            <a:pPr algn="ctr" indent="0" marL="0">
              <a:lnSpc>
                <a:spcPts val="1700"/>
              </a:lnSpc>
              <a:buNone/>
            </a:pPr>
            <a:r>
              <a:rPr lang="en-US" sz="1200" dirty="0">
                <a:solidFill>
                  <a:srgbClr val="E8EAEA"/>
                </a:solidFill>
                <a:latin typeface="Work Sans" pitchFamily="34" charset="0"/>
                <a:ea typeface="Work Sans" pitchFamily="34" charset="-122"/>
                <a:cs typeface="Work Sans" pitchFamily="34" charset="-120"/>
              </a:rPr>
              <a:t>How anyone on the team changes pages, photos and copy, just by describing the change in plain English.</a:t>
            </a:r>
            <a:endParaRPr lang="en-US" sz="1200" dirty="0"/>
          </a:p>
        </p:txBody>
      </p:sp>
      <p:sp>
        <p:nvSpPr>
          <p:cNvPr id="10" name="Text 7"/>
          <p:cNvSpPr/>
          <p:nvPr/>
        </p:nvSpPr>
        <p:spPr>
          <a:xfrm>
            <a:off x="566928" y="6327648"/>
            <a:ext cx="11057839" cy="237744"/>
          </a:xfrm>
          <a:prstGeom prst="rect">
            <a:avLst/>
          </a:prstGeom>
          <a:noFill/>
          <a:ln/>
        </p:spPr>
        <p:txBody>
          <a:bodyPr wrap="square" lIns="0" tIns="0" rIns="0" bIns="0" rtlCol="0" anchor="ctr"/>
          <a:lstStyle/>
          <a:p>
            <a:pPr algn="ctr" indent="0" marL="0">
              <a:buNone/>
            </a:pPr>
            <a:r>
              <a:rPr lang="en-US" sz="850" spc="300" kern="0" dirty="0">
                <a:solidFill>
                  <a:srgbClr val="D8DADA"/>
                </a:solidFill>
                <a:latin typeface="Work Sans" pitchFamily="34" charset="0"/>
                <a:ea typeface="Work Sans" pitchFamily="34" charset="-122"/>
                <a:cs typeface="Work Sans" pitchFamily="34" charset="-120"/>
              </a:rPr>
              <a:t>BACKEND WEBINAR 01 OF 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IN THIS WEBINAR</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02</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What this session covers.</a:t>
            </a:r>
            <a:endParaRPr lang="en-US" sz="2500" dirty="0"/>
          </a:p>
        </p:txBody>
      </p:sp>
      <p:sp>
        <p:nvSpPr>
          <p:cNvPr id="9" name="Text 7"/>
          <p:cNvSpPr/>
          <p:nvPr/>
        </p:nvSpPr>
        <p:spPr>
          <a:xfrm>
            <a:off x="566928" y="1517904"/>
            <a:ext cx="87782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Under an hour, no technical background needed. By the end you can request any website change yourself — and look at it before anyone else does.</a:t>
            </a:r>
            <a:endParaRPr lang="en-US" sz="1150" dirty="0"/>
          </a:p>
        </p:txBody>
      </p:sp>
      <p:sp>
        <p:nvSpPr>
          <p:cNvPr id="10" name="Text 8"/>
          <p:cNvSpPr/>
          <p:nvPr/>
        </p:nvSpPr>
        <p:spPr>
          <a:xfrm>
            <a:off x="566928" y="2231136"/>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01</a:t>
            </a:r>
            <a:endParaRPr lang="en-US" sz="1100" dirty="0"/>
          </a:p>
        </p:txBody>
      </p:sp>
      <p:sp>
        <p:nvSpPr>
          <p:cNvPr id="11" name="Text 9"/>
          <p:cNvSpPr/>
          <p:nvPr/>
        </p:nvSpPr>
        <p:spPr>
          <a:xfrm>
            <a:off x="1069848" y="2212848"/>
            <a:ext cx="4774997"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The one idea behind everything</a:t>
            </a:r>
            <a:endParaRPr lang="en-US" sz="1250" dirty="0"/>
          </a:p>
        </p:txBody>
      </p:sp>
      <p:sp>
        <p:nvSpPr>
          <p:cNvPr id="12" name="Text 10"/>
          <p:cNvSpPr/>
          <p:nvPr/>
        </p:nvSpPr>
        <p:spPr>
          <a:xfrm>
            <a:off x="1069848" y="2487168"/>
            <a:ext cx="4774997" cy="384048"/>
          </a:xfrm>
          <a:prstGeom prst="rect">
            <a:avLst/>
          </a:prstGeom>
          <a:noFill/>
          <a:ln/>
        </p:spPr>
        <p:txBody>
          <a:bodyPr wrap="square" lIns="0" tIns="0" rIns="0" bIns="0" rtlCol="0" anchor="t"/>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The live site is a printed brochure: you change the master copy, not the print.</a:t>
            </a:r>
            <a:endParaRPr lang="en-US" sz="950" dirty="0"/>
          </a:p>
        </p:txBody>
      </p:sp>
      <p:sp>
        <p:nvSpPr>
          <p:cNvPr id="13" name="Text 11"/>
          <p:cNvSpPr/>
          <p:nvPr/>
        </p:nvSpPr>
        <p:spPr>
          <a:xfrm>
            <a:off x="566928" y="3072384"/>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02</a:t>
            </a:r>
            <a:endParaRPr lang="en-US" sz="1100" dirty="0"/>
          </a:p>
        </p:txBody>
      </p:sp>
      <p:sp>
        <p:nvSpPr>
          <p:cNvPr id="14" name="Text 12"/>
          <p:cNvSpPr/>
          <p:nvPr/>
        </p:nvSpPr>
        <p:spPr>
          <a:xfrm>
            <a:off x="1069848" y="3054096"/>
            <a:ext cx="4774997"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Starting a Claude session</a:t>
            </a:r>
            <a:endParaRPr lang="en-US" sz="1250" dirty="0"/>
          </a:p>
        </p:txBody>
      </p:sp>
      <p:sp>
        <p:nvSpPr>
          <p:cNvPr id="15" name="Text 13"/>
          <p:cNvSpPr/>
          <p:nvPr/>
        </p:nvSpPr>
        <p:spPr>
          <a:xfrm>
            <a:off x="1069848" y="3328416"/>
            <a:ext cx="4774997" cy="384048"/>
          </a:xfrm>
          <a:prstGeom prst="rect">
            <a:avLst/>
          </a:prstGeom>
          <a:noFill/>
          <a:ln/>
        </p:spPr>
        <p:txBody>
          <a:bodyPr wrap="square" lIns="0" tIns="0" rIns="0" bIns="0" rtlCol="0" anchor="t"/>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Where to go, what to click, what you need access to.</a:t>
            </a:r>
            <a:endParaRPr lang="en-US" sz="950" dirty="0"/>
          </a:p>
        </p:txBody>
      </p:sp>
      <p:sp>
        <p:nvSpPr>
          <p:cNvPr id="16" name="Text 14"/>
          <p:cNvSpPr/>
          <p:nvPr/>
        </p:nvSpPr>
        <p:spPr>
          <a:xfrm>
            <a:off x="566928" y="3913632"/>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03</a:t>
            </a:r>
            <a:endParaRPr lang="en-US" sz="1100" dirty="0"/>
          </a:p>
        </p:txBody>
      </p:sp>
      <p:sp>
        <p:nvSpPr>
          <p:cNvPr id="17" name="Text 15"/>
          <p:cNvSpPr/>
          <p:nvPr/>
        </p:nvSpPr>
        <p:spPr>
          <a:xfrm>
            <a:off x="1069848" y="3895344"/>
            <a:ext cx="4774997"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Connecting a different GitHub account</a:t>
            </a:r>
            <a:endParaRPr lang="en-US" sz="1250" dirty="0"/>
          </a:p>
        </p:txBody>
      </p:sp>
      <p:sp>
        <p:nvSpPr>
          <p:cNvPr id="18" name="Text 16"/>
          <p:cNvSpPr/>
          <p:nvPr/>
        </p:nvSpPr>
        <p:spPr>
          <a:xfrm>
            <a:off x="1069848" y="4169664"/>
            <a:ext cx="4774997" cy="384048"/>
          </a:xfrm>
          <a:prstGeom prst="rect">
            <a:avLst/>
          </a:prstGeom>
          <a:noFill/>
          <a:ln/>
        </p:spPr>
        <p:txBody>
          <a:bodyPr wrap="square" lIns="0" tIns="0" rIns="0" bIns="0" rtlCol="0" anchor="t"/>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Pointing Claude at a repository another account or organisation owns.</a:t>
            </a:r>
            <a:endParaRPr lang="en-US" sz="950" dirty="0"/>
          </a:p>
        </p:txBody>
      </p:sp>
      <p:sp>
        <p:nvSpPr>
          <p:cNvPr id="19" name="Text 17"/>
          <p:cNvSpPr/>
          <p:nvPr/>
        </p:nvSpPr>
        <p:spPr>
          <a:xfrm>
            <a:off x="566928" y="4754880"/>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04</a:t>
            </a:r>
            <a:endParaRPr lang="en-US" sz="1100" dirty="0"/>
          </a:p>
        </p:txBody>
      </p:sp>
      <p:sp>
        <p:nvSpPr>
          <p:cNvPr id="20" name="Text 18"/>
          <p:cNvSpPr/>
          <p:nvPr/>
        </p:nvSpPr>
        <p:spPr>
          <a:xfrm>
            <a:off x="1069848" y="4736592"/>
            <a:ext cx="4774997"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How to ask for changes</a:t>
            </a:r>
            <a:endParaRPr lang="en-US" sz="1250" dirty="0"/>
          </a:p>
        </p:txBody>
      </p:sp>
      <p:sp>
        <p:nvSpPr>
          <p:cNvPr id="21" name="Text 19"/>
          <p:cNvSpPr/>
          <p:nvPr/>
        </p:nvSpPr>
        <p:spPr>
          <a:xfrm>
            <a:off x="1069848" y="5010912"/>
            <a:ext cx="4774997" cy="384048"/>
          </a:xfrm>
          <a:prstGeom prst="rect">
            <a:avLst/>
          </a:prstGeom>
          <a:noFill/>
          <a:ln/>
        </p:spPr>
        <p:txBody>
          <a:bodyPr wrap="square" lIns="0" tIns="0" rIns="0" bIns="0" rtlCol="0" anchor="t"/>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Proven plain-English requests you can copy verbatim.</a:t>
            </a:r>
            <a:endParaRPr lang="en-US" sz="950" dirty="0"/>
          </a:p>
        </p:txBody>
      </p:sp>
      <p:sp>
        <p:nvSpPr>
          <p:cNvPr id="22" name="Text 20"/>
          <p:cNvSpPr/>
          <p:nvPr/>
        </p:nvSpPr>
        <p:spPr>
          <a:xfrm>
            <a:off x="6347765" y="2231136"/>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05</a:t>
            </a:r>
            <a:endParaRPr lang="en-US" sz="1100" dirty="0"/>
          </a:p>
        </p:txBody>
      </p:sp>
      <p:sp>
        <p:nvSpPr>
          <p:cNvPr id="23" name="Text 21"/>
          <p:cNvSpPr/>
          <p:nvPr/>
        </p:nvSpPr>
        <p:spPr>
          <a:xfrm>
            <a:off x="6850685" y="2212848"/>
            <a:ext cx="4774997"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The magic words</a:t>
            </a:r>
            <a:endParaRPr lang="en-US" sz="1250" dirty="0"/>
          </a:p>
        </p:txBody>
      </p:sp>
      <p:sp>
        <p:nvSpPr>
          <p:cNvPr id="24" name="Text 22"/>
          <p:cNvSpPr/>
          <p:nvPr/>
        </p:nvSpPr>
        <p:spPr>
          <a:xfrm>
            <a:off x="6850685" y="2487168"/>
            <a:ext cx="4774997" cy="384048"/>
          </a:xfrm>
          <a:prstGeom prst="rect">
            <a:avLst/>
          </a:prstGeom>
          <a:noFill/>
          <a:ln/>
        </p:spPr>
        <p:txBody>
          <a:bodyPr wrap="square" lIns="0" tIns="0" rIns="0" bIns="0" rtlCol="0" anchor="t"/>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“…then commit and push the change”, and what happens next.</a:t>
            </a:r>
            <a:endParaRPr lang="en-US" sz="950" dirty="0"/>
          </a:p>
        </p:txBody>
      </p:sp>
      <p:sp>
        <p:nvSpPr>
          <p:cNvPr id="25" name="Text 23"/>
          <p:cNvSpPr/>
          <p:nvPr/>
        </p:nvSpPr>
        <p:spPr>
          <a:xfrm>
            <a:off x="6347765" y="3072384"/>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06</a:t>
            </a:r>
            <a:endParaRPr lang="en-US" sz="1100" dirty="0"/>
          </a:p>
        </p:txBody>
      </p:sp>
      <p:sp>
        <p:nvSpPr>
          <p:cNvPr id="26" name="Text 24"/>
          <p:cNvSpPr/>
          <p:nvPr/>
        </p:nvSpPr>
        <p:spPr>
          <a:xfrm>
            <a:off x="6850685" y="3054096"/>
            <a:ext cx="4774997"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Previewing before it goes live</a:t>
            </a:r>
            <a:endParaRPr lang="en-US" sz="1250" dirty="0"/>
          </a:p>
        </p:txBody>
      </p:sp>
      <p:sp>
        <p:nvSpPr>
          <p:cNvPr id="27" name="Text 25"/>
          <p:cNvSpPr/>
          <p:nvPr/>
        </p:nvSpPr>
        <p:spPr>
          <a:xfrm>
            <a:off x="6850685" y="3328416"/>
            <a:ext cx="4774997" cy="384048"/>
          </a:xfrm>
          <a:prstGeom prst="rect">
            <a:avLst/>
          </a:prstGeom>
          <a:noFill/>
          <a:ln/>
        </p:spPr>
        <p:txBody>
          <a:bodyPr wrap="square" lIns="0" tIns="0" rIns="0" bIns="0" rtlCol="0" anchor="t"/>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Branch previews on Vercel, and how to find one.</a:t>
            </a:r>
            <a:endParaRPr lang="en-US" sz="950" dirty="0"/>
          </a:p>
        </p:txBody>
      </p:sp>
      <p:sp>
        <p:nvSpPr>
          <p:cNvPr id="28" name="Text 26"/>
          <p:cNvSpPr/>
          <p:nvPr/>
        </p:nvSpPr>
        <p:spPr>
          <a:xfrm>
            <a:off x="6347765" y="3913632"/>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07</a:t>
            </a:r>
            <a:endParaRPr lang="en-US" sz="1100" dirty="0"/>
          </a:p>
        </p:txBody>
      </p:sp>
      <p:sp>
        <p:nvSpPr>
          <p:cNvPr id="29" name="Text 27"/>
          <p:cNvSpPr/>
          <p:nvPr/>
        </p:nvSpPr>
        <p:spPr>
          <a:xfrm>
            <a:off x="6850685" y="3895344"/>
            <a:ext cx="4774997"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Bigger jobs</a:t>
            </a:r>
            <a:endParaRPr lang="en-US" sz="1250" dirty="0"/>
          </a:p>
        </p:txBody>
      </p:sp>
      <p:sp>
        <p:nvSpPr>
          <p:cNvPr id="30" name="Text 28"/>
          <p:cNvSpPr/>
          <p:nvPr/>
        </p:nvSpPr>
        <p:spPr>
          <a:xfrm>
            <a:off x="6850685" y="4169664"/>
            <a:ext cx="4774997" cy="384048"/>
          </a:xfrm>
          <a:prstGeom prst="rect">
            <a:avLst/>
          </a:prstGeom>
          <a:noFill/>
          <a:ln/>
        </p:spPr>
        <p:txBody>
          <a:bodyPr wrap="square" lIns="0" tIns="0" rIns="0" bIns="0" rtlCol="0" anchor="t"/>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Adding a whole new development in one request.</a:t>
            </a:r>
            <a:endParaRPr lang="en-US" sz="950" dirty="0"/>
          </a:p>
        </p:txBody>
      </p:sp>
      <p:sp>
        <p:nvSpPr>
          <p:cNvPr id="31" name="Text 29"/>
          <p:cNvSpPr/>
          <p:nvPr/>
        </p:nvSpPr>
        <p:spPr>
          <a:xfrm>
            <a:off x="6347765" y="4754880"/>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08</a:t>
            </a:r>
            <a:endParaRPr lang="en-US" sz="1100" dirty="0"/>
          </a:p>
        </p:txBody>
      </p:sp>
      <p:sp>
        <p:nvSpPr>
          <p:cNvPr id="32" name="Text 30"/>
          <p:cNvSpPr/>
          <p:nvPr/>
        </p:nvSpPr>
        <p:spPr>
          <a:xfrm>
            <a:off x="6850685" y="4736592"/>
            <a:ext cx="4774997"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Skills and safety nets</a:t>
            </a:r>
            <a:endParaRPr lang="en-US" sz="1250" dirty="0"/>
          </a:p>
        </p:txBody>
      </p:sp>
      <p:sp>
        <p:nvSpPr>
          <p:cNvPr id="33" name="Text 31"/>
          <p:cNvSpPr/>
          <p:nvPr/>
        </p:nvSpPr>
        <p:spPr>
          <a:xfrm>
            <a:off x="6850685" y="5010912"/>
            <a:ext cx="4774997" cy="384048"/>
          </a:xfrm>
          <a:prstGeom prst="rect">
            <a:avLst/>
          </a:prstGeom>
          <a:noFill/>
          <a:ln/>
        </p:spPr>
        <p:txBody>
          <a:bodyPr wrap="square" lIns="0" tIns="0" rIns="0" bIns="0" rtlCol="0" anchor="t"/>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Where the 105 playbooks live, and how nothing is ever lost.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THE BIG IDEA</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03</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The live site is a printed brochure.</a:t>
            </a:r>
            <a:endParaRPr lang="en-US" sz="2500" dirty="0"/>
          </a:p>
        </p:txBody>
      </p:sp>
      <p:sp>
        <p:nvSpPr>
          <p:cNvPr id="9" name="Text 7"/>
          <p:cNvSpPr/>
          <p:nvPr/>
        </p:nvSpPr>
        <p:spPr>
          <a:xfrm>
            <a:off x="566928" y="1517904"/>
            <a:ext cx="96926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You cannot scribble on a printed brochure: you change the master copy and print a new one. The master copy of this website lives in a shared, version-tracked folder called the repository, and the live site reprints itself automatically whenever the master changes.</a:t>
            </a:r>
            <a:endParaRPr lang="en-US" sz="1150" dirty="0"/>
          </a:p>
        </p:txBody>
      </p:sp>
      <p:sp>
        <p:nvSpPr>
          <p:cNvPr id="10" name="Shape 8"/>
          <p:cNvSpPr/>
          <p:nvPr/>
        </p:nvSpPr>
        <p:spPr>
          <a:xfrm>
            <a:off x="749808" y="3200400"/>
            <a:ext cx="2331720" cy="960120"/>
          </a:xfrm>
          <a:prstGeom prst="rect">
            <a:avLst/>
          </a:prstGeom>
          <a:solidFill>
            <a:srgbClr val="FFFFFF"/>
          </a:solidFill>
          <a:ln w="12700">
            <a:solidFill>
              <a:srgbClr val="000000"/>
            </a:solidFill>
            <a:prstDash val="solid"/>
          </a:ln>
        </p:spPr>
      </p:sp>
      <p:sp>
        <p:nvSpPr>
          <p:cNvPr id="11" name="Text 9"/>
          <p:cNvSpPr/>
          <p:nvPr/>
        </p:nvSpPr>
        <p:spPr>
          <a:xfrm>
            <a:off x="822960" y="3200400"/>
            <a:ext cx="2185416" cy="960120"/>
          </a:xfrm>
          <a:prstGeom prst="rect">
            <a:avLst/>
          </a:prstGeom>
          <a:noFill/>
          <a:ln/>
        </p:spPr>
        <p:txBody>
          <a:bodyPr wrap="square" lIns="0" tIns="0" rIns="0" bIns="0" rtlCol="0" anchor="ctr"/>
          <a:lstStyle/>
          <a:p>
            <a:pPr algn="ctr" indent="0" marL="0">
              <a:lnSpc>
                <a:spcPts val="1300"/>
              </a:lnSpc>
              <a:buNone/>
            </a:pPr>
            <a:r>
              <a:rPr lang="en-US" sz="1100" b="1" dirty="0">
                <a:solidFill>
                  <a:srgbClr val="000000"/>
                </a:solidFill>
                <a:latin typeface="Work Sans" pitchFamily="34" charset="0"/>
                <a:ea typeface="Work Sans" pitchFamily="34" charset="-122"/>
                <a:cs typeface="Work Sans" pitchFamily="34" charset="-120"/>
              </a:rPr>
              <a:t>You describe a change</a:t>
            </a:r>
            <a:pPr algn="ctr" indent="0" marL="0">
              <a:lnSpc>
                <a:spcPts val="1300"/>
              </a:lnSpc>
              <a:buNone/>
            </a:pPr>
            <a:endParaRPr lang="en-US" sz="1100" dirty="0"/>
          </a:p>
          <a:p>
            <a:pPr algn="ctr" indent="0" marL="0">
              <a:lnSpc>
                <a:spcPts val="1300"/>
              </a:lnSpc>
              <a:buNone/>
            </a:pPr>
            <a:r>
              <a:rPr lang="en-US" sz="850" dirty="0">
                <a:solidFill>
                  <a:srgbClr val="5C6366"/>
                </a:solidFill>
                <a:latin typeface="Work Sans" pitchFamily="34" charset="0"/>
                <a:ea typeface="Work Sans" pitchFamily="34" charset="-122"/>
                <a:cs typeface="Work Sans" pitchFamily="34" charset="-120"/>
              </a:rPr>
              <a:t>in plain English, to Claude</a:t>
            </a:r>
            <a:endParaRPr lang="en-US" sz="1100" dirty="0"/>
          </a:p>
        </p:txBody>
      </p:sp>
      <p:sp>
        <p:nvSpPr>
          <p:cNvPr id="12" name="Shape 10"/>
          <p:cNvSpPr/>
          <p:nvPr/>
        </p:nvSpPr>
        <p:spPr>
          <a:xfrm>
            <a:off x="3648456" y="3200400"/>
            <a:ext cx="2331720" cy="960120"/>
          </a:xfrm>
          <a:prstGeom prst="rect">
            <a:avLst/>
          </a:prstGeom>
          <a:solidFill>
            <a:srgbClr val="000000"/>
          </a:solidFill>
          <a:ln w="12700">
            <a:solidFill>
              <a:srgbClr val="000000"/>
            </a:solidFill>
            <a:prstDash val="solid"/>
          </a:ln>
        </p:spPr>
      </p:sp>
      <p:sp>
        <p:nvSpPr>
          <p:cNvPr id="13" name="Text 11"/>
          <p:cNvSpPr/>
          <p:nvPr/>
        </p:nvSpPr>
        <p:spPr>
          <a:xfrm>
            <a:off x="3721608" y="3200400"/>
            <a:ext cx="2185416" cy="960120"/>
          </a:xfrm>
          <a:prstGeom prst="rect">
            <a:avLst/>
          </a:prstGeom>
          <a:noFill/>
          <a:ln/>
        </p:spPr>
        <p:txBody>
          <a:bodyPr wrap="square" lIns="0" tIns="0" rIns="0" bIns="0" rtlCol="0" anchor="ctr"/>
          <a:lstStyle/>
          <a:p>
            <a:pPr algn="ctr" indent="0" marL="0">
              <a:lnSpc>
                <a:spcPts val="1300"/>
              </a:lnSpc>
              <a:buNone/>
            </a:pPr>
            <a:r>
              <a:rPr lang="en-US" sz="1100" b="1" dirty="0">
                <a:solidFill>
                  <a:srgbClr val="FFFFFF"/>
                </a:solidFill>
                <a:latin typeface="Work Sans" pitchFamily="34" charset="0"/>
                <a:ea typeface="Work Sans" pitchFamily="34" charset="-122"/>
                <a:cs typeface="Work Sans" pitchFamily="34" charset="-120"/>
              </a:rPr>
              <a:t>Claude edits the master copy</a:t>
            </a:r>
            <a:pPr algn="ctr" indent="0" marL="0">
              <a:lnSpc>
                <a:spcPts val="1300"/>
              </a:lnSpc>
              <a:buNone/>
            </a:pPr>
            <a:endParaRPr lang="en-US" sz="1100" dirty="0"/>
          </a:p>
          <a:p>
            <a:pPr algn="ctr" indent="0" marL="0">
              <a:lnSpc>
                <a:spcPts val="1300"/>
              </a:lnSpc>
              <a:buNone/>
            </a:pPr>
            <a:r>
              <a:rPr lang="en-US" sz="850" dirty="0">
                <a:solidFill>
                  <a:srgbClr val="B9BDBE"/>
                </a:solidFill>
                <a:latin typeface="Work Sans" pitchFamily="34" charset="0"/>
                <a:ea typeface="Work Sans" pitchFamily="34" charset="-122"/>
                <a:cs typeface="Work Sans" pitchFamily="34" charset="-120"/>
              </a:rPr>
              <a:t>the GitHub repository</a:t>
            </a:r>
            <a:endParaRPr lang="en-US" sz="1100" dirty="0"/>
          </a:p>
        </p:txBody>
      </p:sp>
      <p:sp>
        <p:nvSpPr>
          <p:cNvPr id="14" name="Shape 12"/>
          <p:cNvSpPr/>
          <p:nvPr/>
        </p:nvSpPr>
        <p:spPr>
          <a:xfrm>
            <a:off x="6547104" y="3200400"/>
            <a:ext cx="2331720" cy="960120"/>
          </a:xfrm>
          <a:prstGeom prst="rect">
            <a:avLst/>
          </a:prstGeom>
          <a:solidFill>
            <a:srgbClr val="FFFFFF"/>
          </a:solidFill>
          <a:ln w="12700">
            <a:solidFill>
              <a:srgbClr val="000000"/>
            </a:solidFill>
            <a:prstDash val="solid"/>
          </a:ln>
        </p:spPr>
      </p:sp>
      <p:sp>
        <p:nvSpPr>
          <p:cNvPr id="15" name="Text 13"/>
          <p:cNvSpPr/>
          <p:nvPr/>
        </p:nvSpPr>
        <p:spPr>
          <a:xfrm>
            <a:off x="6620256" y="3200400"/>
            <a:ext cx="2185416" cy="960120"/>
          </a:xfrm>
          <a:prstGeom prst="rect">
            <a:avLst/>
          </a:prstGeom>
          <a:noFill/>
          <a:ln/>
        </p:spPr>
        <p:txBody>
          <a:bodyPr wrap="square" lIns="0" tIns="0" rIns="0" bIns="0" rtlCol="0" anchor="ctr"/>
          <a:lstStyle/>
          <a:p>
            <a:pPr algn="ctr" indent="0" marL="0">
              <a:lnSpc>
                <a:spcPts val="1300"/>
              </a:lnSpc>
              <a:buNone/>
            </a:pPr>
            <a:r>
              <a:rPr lang="en-US" sz="1100" b="1" dirty="0">
                <a:solidFill>
                  <a:srgbClr val="000000"/>
                </a:solidFill>
                <a:latin typeface="Work Sans" pitchFamily="34" charset="0"/>
                <a:ea typeface="Work Sans" pitchFamily="34" charset="-122"/>
                <a:cs typeface="Work Sans" pitchFamily="34" charset="-120"/>
              </a:rPr>
              <a:t>The site reprints itself</a:t>
            </a:r>
            <a:pPr algn="ctr" indent="0" marL="0">
              <a:lnSpc>
                <a:spcPts val="1300"/>
              </a:lnSpc>
              <a:buNone/>
            </a:pPr>
            <a:endParaRPr lang="en-US" sz="1100" dirty="0"/>
          </a:p>
          <a:p>
            <a:pPr algn="ctr" indent="0" marL="0">
              <a:lnSpc>
                <a:spcPts val="1300"/>
              </a:lnSpc>
              <a:buNone/>
            </a:pPr>
            <a:r>
              <a:rPr lang="en-US" sz="850" dirty="0">
                <a:solidFill>
                  <a:srgbClr val="5C6366"/>
                </a:solidFill>
                <a:latin typeface="Work Sans" pitchFamily="34" charset="0"/>
                <a:ea typeface="Work Sans" pitchFamily="34" charset="-122"/>
                <a:cs typeface="Work Sans" pitchFamily="34" charset="-120"/>
              </a:rPr>
              <a:t>Vercel rebuilds automatically</a:t>
            </a:r>
            <a:endParaRPr lang="en-US" sz="1100" dirty="0"/>
          </a:p>
        </p:txBody>
      </p:sp>
      <p:sp>
        <p:nvSpPr>
          <p:cNvPr id="16" name="Shape 14"/>
          <p:cNvSpPr/>
          <p:nvPr/>
        </p:nvSpPr>
        <p:spPr>
          <a:xfrm>
            <a:off x="9445752" y="3200400"/>
            <a:ext cx="2331720" cy="960120"/>
          </a:xfrm>
          <a:prstGeom prst="rect">
            <a:avLst/>
          </a:prstGeom>
          <a:solidFill>
            <a:srgbClr val="FFFFFF"/>
          </a:solidFill>
          <a:ln w="12700">
            <a:solidFill>
              <a:srgbClr val="000000"/>
            </a:solidFill>
            <a:prstDash val="solid"/>
          </a:ln>
        </p:spPr>
      </p:sp>
      <p:sp>
        <p:nvSpPr>
          <p:cNvPr id="17" name="Text 15"/>
          <p:cNvSpPr/>
          <p:nvPr/>
        </p:nvSpPr>
        <p:spPr>
          <a:xfrm>
            <a:off x="9518904" y="3200400"/>
            <a:ext cx="2185416" cy="960120"/>
          </a:xfrm>
          <a:prstGeom prst="rect">
            <a:avLst/>
          </a:prstGeom>
          <a:noFill/>
          <a:ln/>
        </p:spPr>
        <p:txBody>
          <a:bodyPr wrap="square" lIns="0" tIns="0" rIns="0" bIns="0" rtlCol="0" anchor="ctr"/>
          <a:lstStyle/>
          <a:p>
            <a:pPr algn="ctr" indent="0" marL="0">
              <a:lnSpc>
                <a:spcPts val="1300"/>
              </a:lnSpc>
              <a:buNone/>
            </a:pPr>
            <a:r>
              <a:rPr lang="en-US" sz="1100" b="1" dirty="0">
                <a:solidFill>
                  <a:srgbClr val="000000"/>
                </a:solidFill>
                <a:latin typeface="Work Sans" pitchFamily="34" charset="0"/>
                <a:ea typeface="Work Sans" pitchFamily="34" charset="-122"/>
                <a:cs typeface="Work Sans" pitchFamily="34" charset="-120"/>
              </a:rPr>
              <a:t>Change is live</a:t>
            </a:r>
            <a:pPr algn="ctr" indent="0" marL="0">
              <a:lnSpc>
                <a:spcPts val="1300"/>
              </a:lnSpc>
              <a:buNone/>
            </a:pPr>
            <a:endParaRPr lang="en-US" sz="1100" dirty="0"/>
          </a:p>
          <a:p>
            <a:pPr algn="ctr" indent="0" marL="0">
              <a:lnSpc>
                <a:spcPts val="1300"/>
              </a:lnSpc>
              <a:buNone/>
            </a:pPr>
            <a:r>
              <a:rPr lang="en-US" sz="850" dirty="0">
                <a:solidFill>
                  <a:srgbClr val="5C6366"/>
                </a:solidFill>
                <a:latin typeface="Work Sans" pitchFamily="34" charset="0"/>
                <a:ea typeface="Work Sans" pitchFamily="34" charset="-122"/>
                <a:cs typeface="Work Sans" pitchFamily="34" charset="-120"/>
              </a:rPr>
              <a:t>www.satisgroup.co.uk</a:t>
            </a:r>
            <a:endParaRPr lang="en-US" sz="1100" dirty="0"/>
          </a:p>
        </p:txBody>
      </p:sp>
      <p:sp>
        <p:nvSpPr>
          <p:cNvPr id="18" name="Shape 16"/>
          <p:cNvSpPr/>
          <p:nvPr/>
        </p:nvSpPr>
        <p:spPr>
          <a:xfrm>
            <a:off x="3081528" y="3680460"/>
            <a:ext cx="566928" cy="0"/>
          </a:xfrm>
          <a:prstGeom prst="line">
            <a:avLst/>
          </a:prstGeom>
          <a:noFill/>
          <a:ln w="15240">
            <a:solidFill>
              <a:srgbClr val="000000"/>
            </a:solidFill>
            <a:prstDash val="solid"/>
            <a:tailEnd type="triangle"/>
          </a:ln>
        </p:spPr>
      </p:sp>
      <p:sp>
        <p:nvSpPr>
          <p:cNvPr id="19" name="Shape 17"/>
          <p:cNvSpPr/>
          <p:nvPr/>
        </p:nvSpPr>
        <p:spPr>
          <a:xfrm>
            <a:off x="5980176" y="3680460"/>
            <a:ext cx="566928" cy="0"/>
          </a:xfrm>
          <a:prstGeom prst="line">
            <a:avLst/>
          </a:prstGeom>
          <a:noFill/>
          <a:ln w="15240">
            <a:solidFill>
              <a:srgbClr val="000000"/>
            </a:solidFill>
            <a:prstDash val="solid"/>
            <a:tailEnd type="triangle"/>
          </a:ln>
        </p:spPr>
      </p:sp>
      <p:sp>
        <p:nvSpPr>
          <p:cNvPr id="20" name="Shape 18"/>
          <p:cNvSpPr/>
          <p:nvPr/>
        </p:nvSpPr>
        <p:spPr>
          <a:xfrm>
            <a:off x="8878824" y="3680460"/>
            <a:ext cx="566928" cy="0"/>
          </a:xfrm>
          <a:prstGeom prst="line">
            <a:avLst/>
          </a:prstGeom>
          <a:noFill/>
          <a:ln w="15240">
            <a:solidFill>
              <a:srgbClr val="000000"/>
            </a:solidFill>
            <a:prstDash val="solid"/>
            <a:tailEnd type="triangle"/>
          </a:ln>
        </p:spPr>
      </p:sp>
      <p:sp>
        <p:nvSpPr>
          <p:cNvPr id="21" name="Text 19"/>
          <p:cNvSpPr/>
          <p:nvPr/>
        </p:nvSpPr>
        <p:spPr>
          <a:xfrm>
            <a:off x="5705856" y="4480560"/>
            <a:ext cx="3447288" cy="182880"/>
          </a:xfrm>
          <a:prstGeom prst="rect">
            <a:avLst/>
          </a:prstGeom>
          <a:noFill/>
          <a:ln/>
        </p:spPr>
        <p:txBody>
          <a:bodyPr wrap="square" lIns="0" tIns="0" rIns="0" bIns="0" rtlCol="0" anchor="ctr"/>
          <a:lstStyle/>
          <a:p>
            <a:pPr algn="ctr" indent="0" marL="0">
              <a:buNone/>
            </a:pPr>
            <a:r>
              <a:rPr lang="en-US" sz="800" spc="100" kern="0" dirty="0">
                <a:solidFill>
                  <a:srgbClr val="5C6366"/>
                </a:solidFill>
                <a:latin typeface="Work Sans" pitchFamily="34" charset="0"/>
                <a:ea typeface="Work Sans" pitchFamily="34" charset="-122"/>
                <a:cs typeface="Work Sans" pitchFamily="34" charset="-120"/>
              </a:rPr>
              <a:t>MINUTES, NOT DAYS</a:t>
            </a:r>
            <a:endParaRPr lang="en-US" sz="800" dirty="0"/>
          </a:p>
        </p:txBody>
      </p:sp>
      <p:sp>
        <p:nvSpPr>
          <p:cNvPr id="22" name="Text 20"/>
          <p:cNvSpPr/>
          <p:nvPr/>
        </p:nvSpPr>
        <p:spPr>
          <a:xfrm>
            <a:off x="566928" y="5074920"/>
            <a:ext cx="10143439" cy="548640"/>
          </a:xfrm>
          <a:prstGeom prst="rect">
            <a:avLst/>
          </a:prstGeom>
          <a:noFill/>
          <a:ln/>
        </p:spPr>
        <p:txBody>
          <a:bodyPr wrap="square" lIns="0" tIns="0" rIns="0" bIns="0" rtlCol="0" anchor="ctr"/>
          <a:lstStyle/>
          <a:p>
            <a:pPr indent="0" marL="0">
              <a:lnSpc>
                <a:spcPts val="1700"/>
              </a:lnSpc>
              <a:buNone/>
            </a:pPr>
            <a:r>
              <a:rPr lang="en-US" sz="1150" b="1" dirty="0">
                <a:solidFill>
                  <a:srgbClr val="000000"/>
                </a:solidFill>
                <a:latin typeface="Work Sans" pitchFamily="34" charset="0"/>
                <a:ea typeface="Work Sans" pitchFamily="34" charset="-122"/>
                <a:cs typeface="Work Sans" pitchFamily="34" charset="-120"/>
              </a:rPr>
              <a:t>Two rules cover everything: </a:t>
            </a:r>
            <a:pPr indent="0" marL="0">
              <a:lnSpc>
                <a:spcPts val="1700"/>
              </a:lnSpc>
              <a:buNone/>
            </a:pPr>
            <a:r>
              <a:rPr lang="en-US" sz="1150" dirty="0">
                <a:solidFill>
                  <a:srgbClr val="5C6366"/>
                </a:solidFill>
                <a:latin typeface="Work Sans" pitchFamily="34" charset="0"/>
                <a:ea typeface="Work Sans" pitchFamily="34" charset="-122"/>
                <a:cs typeface="Work Sans" pitchFamily="34" charset="-120"/>
              </a:rPr>
              <a:t>nothing changes until it reaches the master copy, and every change to the master is recorded, so nothing is ever lost.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GETTING STARTED</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04</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Starting a Claude session on the website.</a:t>
            </a:r>
            <a:endParaRPr lang="en-US" sz="2500" dirty="0"/>
          </a:p>
        </p:txBody>
      </p:sp>
      <p:sp>
        <p:nvSpPr>
          <p:cNvPr id="9" name="Text 7"/>
          <p:cNvSpPr/>
          <p:nvPr/>
        </p:nvSpPr>
        <p:spPr>
          <a:xfrm>
            <a:off x="566928" y="1517904"/>
            <a:ext cx="106070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Claude Code is Claude working directly on the website's repository. You reach it from a web browser; there is nothing to install.</a:t>
            </a:r>
            <a:endParaRPr lang="en-US" sz="1150" dirty="0"/>
          </a:p>
        </p:txBody>
      </p:sp>
      <p:pic>
        <p:nvPicPr>
          <p:cNvPr id="10" name="Image 0" descr="/tmp/claude-0/-home-user-satis-group-website/ff8ab6f4-f9c2-556a-89f3-8bea05ba205c/build/assets/guide-claude-chapter.png">    </p:cNvPr>
          <p:cNvPicPr>
            <a:picLocks noChangeAspect="1"/>
          </p:cNvPicPr>
          <p:nvPr/>
        </p:nvPicPr>
        <p:blipFill>
          <a:blip r:embed="rId1"/>
          <a:stretch>
            <a:fillRect/>
          </a:stretch>
        </p:blipFill>
        <p:spPr>
          <a:xfrm>
            <a:off x="6778447" y="2584390"/>
            <a:ext cx="4846320" cy="3207124"/>
          </a:xfrm>
          <a:prstGeom prst="rect">
            <a:avLst/>
          </a:prstGeom>
        </p:spPr>
      </p:pic>
      <p:sp>
        <p:nvSpPr>
          <p:cNvPr id="11" name="Shape 8"/>
          <p:cNvSpPr/>
          <p:nvPr/>
        </p:nvSpPr>
        <p:spPr>
          <a:xfrm>
            <a:off x="6778447" y="2584390"/>
            <a:ext cx="4846320" cy="3207124"/>
          </a:xfrm>
          <a:prstGeom prst="rect">
            <a:avLst/>
          </a:prstGeom>
          <a:ln w="12700">
            <a:solidFill>
              <a:srgbClr val="CED1D2"/>
            </a:solidFill>
            <a:prstDash val="solid"/>
          </a:ln>
        </p:spPr>
      </p:sp>
      <p:sp>
        <p:nvSpPr>
          <p:cNvPr id="12" name="Text 9"/>
          <p:cNvSpPr/>
          <p:nvPr/>
        </p:nvSpPr>
        <p:spPr>
          <a:xfrm>
            <a:off x="6778447" y="5855522"/>
            <a:ext cx="4846320" cy="256032"/>
          </a:xfrm>
          <a:prstGeom prst="rect">
            <a:avLst/>
          </a:prstGeom>
          <a:noFill/>
          <a:ln/>
        </p:spPr>
        <p:txBody>
          <a:bodyPr wrap="square" lIns="0" tIns="0" rIns="0" bIns="0" rtlCol="0" anchor="ctr"/>
          <a:lstStyle/>
          <a:p>
            <a:pPr indent="0" marL="0">
              <a:lnSpc>
                <a:spcPts val="1100"/>
              </a:lnSpc>
              <a:buNone/>
            </a:pPr>
            <a:r>
              <a:rPr lang="en-US" sz="850" dirty="0">
                <a:solidFill>
                  <a:srgbClr val="5C6366"/>
                </a:solidFill>
                <a:latin typeface="Work Sans" pitchFamily="34" charset="0"/>
                <a:ea typeface="Work Sans" pitchFamily="34" charset="-122"/>
                <a:cs typeface="Work Sans" pitchFamily="34" charset="-120"/>
              </a:rPr>
              <a:t>The written version of this walkthrough lives at /admin/guide, chapter “Making changes with Claude”.</a:t>
            </a:r>
            <a:endParaRPr lang="en-US" sz="850" dirty="0"/>
          </a:p>
        </p:txBody>
      </p:sp>
      <p:sp>
        <p:nvSpPr>
          <p:cNvPr id="13" name="Shape 10"/>
          <p:cNvSpPr/>
          <p:nvPr/>
        </p:nvSpPr>
        <p:spPr>
          <a:xfrm>
            <a:off x="566928" y="2116836"/>
            <a:ext cx="246888" cy="246888"/>
          </a:xfrm>
          <a:prstGeom prst="ellipse">
            <a:avLst/>
          </a:prstGeom>
          <a:solidFill>
            <a:srgbClr val="B3400C"/>
          </a:solidFill>
          <a:ln/>
        </p:spPr>
      </p:sp>
      <p:sp>
        <p:nvSpPr>
          <p:cNvPr id="14" name="Text 11"/>
          <p:cNvSpPr/>
          <p:nvPr/>
        </p:nvSpPr>
        <p:spPr>
          <a:xfrm>
            <a:off x="521208" y="209123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5" name="Text 12"/>
          <p:cNvSpPr/>
          <p:nvPr/>
        </p:nvSpPr>
        <p:spPr>
          <a:xfrm>
            <a:off x="987552" y="2103120"/>
            <a:ext cx="5287975"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Open claude.ai/code in your browser</a:t>
            </a:r>
            <a:endParaRPr lang="en-US" sz="1200" dirty="0"/>
          </a:p>
        </p:txBody>
      </p:sp>
      <p:sp>
        <p:nvSpPr>
          <p:cNvPr id="16" name="Text 13"/>
          <p:cNvSpPr/>
          <p:nvPr/>
        </p:nvSpPr>
        <p:spPr>
          <a:xfrm>
            <a:off x="987552" y="2377440"/>
            <a:ext cx="5287975"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Sign in with your work Claude account. The development team sets up your access the first time; ask once, use forever.</a:t>
            </a:r>
            <a:endParaRPr lang="en-US" sz="1050" dirty="0"/>
          </a:p>
        </p:txBody>
      </p:sp>
      <p:sp>
        <p:nvSpPr>
          <p:cNvPr id="17" name="Shape 14"/>
          <p:cNvSpPr/>
          <p:nvPr/>
        </p:nvSpPr>
        <p:spPr>
          <a:xfrm>
            <a:off x="566928" y="2952750"/>
            <a:ext cx="246888" cy="246888"/>
          </a:xfrm>
          <a:prstGeom prst="ellipse">
            <a:avLst/>
          </a:prstGeom>
          <a:solidFill>
            <a:srgbClr val="B3400C"/>
          </a:solidFill>
          <a:ln/>
        </p:spPr>
      </p:sp>
      <p:sp>
        <p:nvSpPr>
          <p:cNvPr id="18" name="Text 15"/>
          <p:cNvSpPr/>
          <p:nvPr/>
        </p:nvSpPr>
        <p:spPr>
          <a:xfrm>
            <a:off x="521208" y="2927147"/>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9" name="Text 16"/>
          <p:cNvSpPr/>
          <p:nvPr/>
        </p:nvSpPr>
        <p:spPr>
          <a:xfrm>
            <a:off x="987552" y="2939034"/>
            <a:ext cx="5287975"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Choose the website repository</a:t>
            </a:r>
            <a:endParaRPr lang="en-US" sz="1200" dirty="0"/>
          </a:p>
        </p:txBody>
      </p:sp>
      <p:sp>
        <p:nvSpPr>
          <p:cNvPr id="20" name="Text 17"/>
          <p:cNvSpPr/>
          <p:nvPr/>
        </p:nvSpPr>
        <p:spPr>
          <a:xfrm>
            <a:off x="987552" y="3213354"/>
            <a:ext cx="5287975"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Select satis-group-website from the repository list. That connects the session to the site's master copy.</a:t>
            </a:r>
            <a:endParaRPr lang="en-US" sz="1050" dirty="0"/>
          </a:p>
        </p:txBody>
      </p:sp>
      <p:sp>
        <p:nvSpPr>
          <p:cNvPr id="21" name="Shape 18"/>
          <p:cNvSpPr/>
          <p:nvPr/>
        </p:nvSpPr>
        <p:spPr>
          <a:xfrm>
            <a:off x="566928" y="3788664"/>
            <a:ext cx="246888" cy="246888"/>
          </a:xfrm>
          <a:prstGeom prst="ellipse">
            <a:avLst/>
          </a:prstGeom>
          <a:solidFill>
            <a:srgbClr val="B3400C"/>
          </a:solidFill>
          <a:ln/>
        </p:spPr>
      </p:sp>
      <p:sp>
        <p:nvSpPr>
          <p:cNvPr id="22" name="Text 19"/>
          <p:cNvSpPr/>
          <p:nvPr/>
        </p:nvSpPr>
        <p:spPr>
          <a:xfrm>
            <a:off x="521208" y="3763061"/>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23" name="Text 20"/>
          <p:cNvSpPr/>
          <p:nvPr/>
        </p:nvSpPr>
        <p:spPr>
          <a:xfrm>
            <a:off x="987552" y="3774948"/>
            <a:ext cx="5287975"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Describe your change and send</a:t>
            </a:r>
            <a:endParaRPr lang="en-US" sz="1200" dirty="0"/>
          </a:p>
        </p:txBody>
      </p:sp>
      <p:sp>
        <p:nvSpPr>
          <p:cNvPr id="24" name="Text 21"/>
          <p:cNvSpPr/>
          <p:nvPr/>
        </p:nvSpPr>
        <p:spPr>
          <a:xfrm>
            <a:off x="987552" y="4049268"/>
            <a:ext cx="5287975"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Type what you want changed as if briefing a colleague. Claude reads the site's files, makes the edit, and shows you what it did.</a:t>
            </a:r>
            <a:endParaRPr lang="en-US" sz="1050" dirty="0"/>
          </a:p>
        </p:txBody>
      </p:sp>
      <p:sp>
        <p:nvSpPr>
          <p:cNvPr id="25" name="Shape 22"/>
          <p:cNvSpPr/>
          <p:nvPr/>
        </p:nvSpPr>
        <p:spPr>
          <a:xfrm>
            <a:off x="566928" y="4720590"/>
            <a:ext cx="5708599" cy="960120"/>
          </a:xfrm>
          <a:prstGeom prst="rect">
            <a:avLst/>
          </a:prstGeom>
          <a:solidFill>
            <a:srgbClr val="ECEEEE"/>
          </a:solidFill>
          <a:ln/>
        </p:spPr>
      </p:sp>
      <p:sp>
        <p:nvSpPr>
          <p:cNvPr id="26" name="Text 23"/>
          <p:cNvSpPr/>
          <p:nvPr/>
        </p:nvSpPr>
        <p:spPr>
          <a:xfrm>
            <a:off x="786384" y="4866894"/>
            <a:ext cx="5269687"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7" name="Text 24"/>
          <p:cNvSpPr/>
          <p:nvPr/>
        </p:nvSpPr>
        <p:spPr>
          <a:xfrm>
            <a:off x="786384" y="5086350"/>
            <a:ext cx="5269687" cy="4572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You cannot break anything by asking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Claude works on a copy until the change is committed and merged. Asking questions, exploring, or changing your mind costs nothing.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HOW TO ASK</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07</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Proven requests, copy these word for word.</a:t>
            </a:r>
            <a:endParaRPr lang="en-US" sz="2500" dirty="0"/>
          </a:p>
        </p:txBody>
      </p:sp>
      <p:sp>
        <p:nvSpPr>
          <p:cNvPr id="9" name="Text 7"/>
          <p:cNvSpPr/>
          <p:nvPr/>
        </p:nvSpPr>
        <p:spPr>
          <a:xfrm>
            <a:off x="566928" y="1517904"/>
            <a:ext cx="950976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Describe the outcome, not the mechanics. These real examples all work verbatim:</a:t>
            </a:r>
            <a:endParaRPr lang="en-US" sz="1150" dirty="0"/>
          </a:p>
        </p:txBody>
      </p:sp>
      <p:sp>
        <p:nvSpPr>
          <p:cNvPr id="10" name="Shape 8"/>
          <p:cNvSpPr/>
          <p:nvPr/>
        </p:nvSpPr>
        <p:spPr>
          <a:xfrm>
            <a:off x="566928" y="2212848"/>
            <a:ext cx="5373472" cy="1874520"/>
          </a:xfrm>
          <a:prstGeom prst="rect">
            <a:avLst/>
          </a:prstGeom>
          <a:solidFill>
            <a:srgbClr val="ECEEEE"/>
          </a:solidFill>
          <a:ln/>
        </p:spPr>
      </p:sp>
      <p:sp>
        <p:nvSpPr>
          <p:cNvPr id="11" name="Text 9"/>
          <p:cNvSpPr/>
          <p:nvPr/>
        </p:nvSpPr>
        <p:spPr>
          <a:xfrm>
            <a:off x="786384" y="2377440"/>
            <a:ext cx="4934560" cy="1545336"/>
          </a:xfrm>
          <a:prstGeom prst="rect">
            <a:avLst/>
          </a:prstGeom>
          <a:noFill/>
          <a:ln/>
        </p:spPr>
        <p:txBody>
          <a:bodyPr wrap="square" lIns="0" tIns="0" rIns="0" bIns="0" rtlCol="0" anchor="t"/>
          <a:lstStyle/>
          <a:p>
            <a:pPr indent="0" marL="0">
              <a:lnSpc>
                <a:spcPts val="1380"/>
              </a:lnSpc>
              <a:spcAft>
                <a:spcPts val="800"/>
              </a:spcAft>
              <a:buNone/>
            </a:pPr>
            <a:r>
              <a:rPr lang="en-US" sz="1150" i="1" dirty="0">
                <a:solidFill>
                  <a:srgbClr val="000000"/>
                </a:solidFill>
                <a:latin typeface="Work Sans" pitchFamily="34" charset="0"/>
                <a:ea typeface="Work Sans" pitchFamily="34" charset="-122"/>
                <a:cs typeface="Work Sans" pitchFamily="34" charset="-120"/>
              </a:rPr>
              <a:t>“Change the status of 22 St John Street to ‘Fully let’ on its portfolio card and property page.”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Content edits: statuses, copy, dates, figures.</a:t>
            </a:r>
            <a:endParaRPr lang="en-US" sz="1150" dirty="0"/>
          </a:p>
        </p:txBody>
      </p:sp>
      <p:sp>
        <p:nvSpPr>
          <p:cNvPr id="12" name="Shape 10"/>
          <p:cNvSpPr/>
          <p:nvPr/>
        </p:nvSpPr>
        <p:spPr>
          <a:xfrm>
            <a:off x="6251296" y="2212848"/>
            <a:ext cx="5373472" cy="1874520"/>
          </a:xfrm>
          <a:prstGeom prst="rect">
            <a:avLst/>
          </a:prstGeom>
          <a:solidFill>
            <a:srgbClr val="ECEEEE"/>
          </a:solidFill>
          <a:ln/>
        </p:spPr>
      </p:sp>
      <p:sp>
        <p:nvSpPr>
          <p:cNvPr id="13" name="Text 11"/>
          <p:cNvSpPr/>
          <p:nvPr/>
        </p:nvSpPr>
        <p:spPr>
          <a:xfrm>
            <a:off x="6470752" y="2377440"/>
            <a:ext cx="4934560" cy="1545336"/>
          </a:xfrm>
          <a:prstGeom prst="rect">
            <a:avLst/>
          </a:prstGeom>
          <a:noFill/>
          <a:ln/>
        </p:spPr>
        <p:txBody>
          <a:bodyPr wrap="square" lIns="0" tIns="0" rIns="0" bIns="0" rtlCol="0" anchor="t"/>
          <a:lstStyle/>
          <a:p>
            <a:pPr indent="0" marL="0">
              <a:lnSpc>
                <a:spcPts val="1380"/>
              </a:lnSpc>
              <a:spcAft>
                <a:spcPts val="800"/>
              </a:spcAft>
              <a:buNone/>
            </a:pPr>
            <a:r>
              <a:rPr lang="en-US" sz="1150" i="1" dirty="0">
                <a:solidFill>
                  <a:srgbClr val="000000"/>
                </a:solidFill>
                <a:latin typeface="Work Sans" pitchFamily="34" charset="0"/>
                <a:ea typeface="Work Sans" pitchFamily="34" charset="-122"/>
                <a:cs typeface="Work Sans" pitchFamily="34" charset="-120"/>
              </a:rPr>
              <a:t>“Replace the hero photo on the Courthouse page with the attached image.”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Photography: attach the image to your message.</a:t>
            </a:r>
            <a:endParaRPr lang="en-US" sz="1150" dirty="0"/>
          </a:p>
        </p:txBody>
      </p:sp>
      <p:sp>
        <p:nvSpPr>
          <p:cNvPr id="14" name="Shape 12"/>
          <p:cNvSpPr/>
          <p:nvPr/>
        </p:nvSpPr>
        <p:spPr>
          <a:xfrm>
            <a:off x="566928" y="4398264"/>
            <a:ext cx="5373472" cy="1874520"/>
          </a:xfrm>
          <a:prstGeom prst="rect">
            <a:avLst/>
          </a:prstGeom>
          <a:solidFill>
            <a:srgbClr val="ECEEEE"/>
          </a:solidFill>
          <a:ln/>
        </p:spPr>
      </p:sp>
      <p:sp>
        <p:nvSpPr>
          <p:cNvPr id="15" name="Text 13"/>
          <p:cNvSpPr/>
          <p:nvPr/>
        </p:nvSpPr>
        <p:spPr>
          <a:xfrm>
            <a:off x="786384" y="4562856"/>
            <a:ext cx="4934560" cy="1545336"/>
          </a:xfrm>
          <a:prstGeom prst="rect">
            <a:avLst/>
          </a:prstGeom>
          <a:noFill/>
          <a:ln/>
        </p:spPr>
        <p:txBody>
          <a:bodyPr wrap="square" lIns="0" tIns="0" rIns="0" bIns="0" rtlCol="0" anchor="t"/>
          <a:lstStyle/>
          <a:p>
            <a:pPr indent="0" marL="0">
              <a:lnSpc>
                <a:spcPts val="1380"/>
              </a:lnSpc>
              <a:spcAft>
                <a:spcPts val="800"/>
              </a:spcAft>
              <a:buNone/>
            </a:pPr>
            <a:r>
              <a:rPr lang="en-US" sz="1150" i="1" dirty="0">
                <a:solidFill>
                  <a:srgbClr val="000000"/>
                </a:solidFill>
                <a:latin typeface="Work Sans" pitchFamily="34" charset="0"/>
                <a:ea typeface="Work Sans" pitchFamily="34" charset="-122"/>
                <a:cs typeface="Work Sans" pitchFamily="34" charset="-120"/>
              </a:rPr>
              <a:t>“Add this award to the About page: RESI Awards Rising Star 2026.”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Additions: awards, team members, accolades.</a:t>
            </a:r>
            <a:endParaRPr lang="en-US" sz="1150" dirty="0"/>
          </a:p>
        </p:txBody>
      </p:sp>
      <p:sp>
        <p:nvSpPr>
          <p:cNvPr id="16" name="Shape 14"/>
          <p:cNvSpPr/>
          <p:nvPr/>
        </p:nvSpPr>
        <p:spPr>
          <a:xfrm>
            <a:off x="6251296" y="4398264"/>
            <a:ext cx="5373472" cy="1874520"/>
          </a:xfrm>
          <a:prstGeom prst="rect">
            <a:avLst/>
          </a:prstGeom>
          <a:solidFill>
            <a:srgbClr val="ECEEEE"/>
          </a:solidFill>
          <a:ln/>
        </p:spPr>
      </p:sp>
      <p:sp>
        <p:nvSpPr>
          <p:cNvPr id="17" name="Text 15"/>
          <p:cNvSpPr/>
          <p:nvPr/>
        </p:nvSpPr>
        <p:spPr>
          <a:xfrm>
            <a:off x="6470752" y="4562856"/>
            <a:ext cx="4934560" cy="1545336"/>
          </a:xfrm>
          <a:prstGeom prst="rect">
            <a:avLst/>
          </a:prstGeom>
          <a:noFill/>
          <a:ln/>
        </p:spPr>
        <p:txBody>
          <a:bodyPr wrap="square" lIns="0" tIns="0" rIns="0" bIns="0" rtlCol="0" anchor="t"/>
          <a:lstStyle/>
          <a:p>
            <a:pPr indent="0" marL="0">
              <a:lnSpc>
                <a:spcPts val="1380"/>
              </a:lnSpc>
              <a:spcAft>
                <a:spcPts val="800"/>
              </a:spcAft>
              <a:buNone/>
            </a:pPr>
            <a:r>
              <a:rPr lang="en-US" sz="1150" i="1" dirty="0">
                <a:solidFill>
                  <a:srgbClr val="000000"/>
                </a:solidFill>
                <a:latin typeface="Work Sans" pitchFamily="34" charset="0"/>
                <a:ea typeface="Work Sans" pitchFamily="34" charset="-122"/>
                <a:cs typeface="Work Sans" pitchFamily="34" charset="-120"/>
              </a:rPr>
              <a:t>“Fix a typo on the contact page: ‘recieve’ should be ‘receive’.”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Small fixes: describe what's wrong and what right looks like.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THE MAGIC WORDS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08</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End every request with: “…then commit and push the change.”</a:t>
            </a:r>
            <a:endParaRPr lang="en-US" sz="2500" dirty="0"/>
          </a:p>
        </p:txBody>
      </p:sp>
      <p:sp>
        <p:nvSpPr>
          <p:cNvPr id="9" name="Text 7"/>
          <p:cNvSpPr/>
          <p:nvPr/>
        </p:nvSpPr>
        <p:spPr>
          <a:xfrm>
            <a:off x="566928" y="1517904"/>
            <a:ext cx="96926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A commit is a saved, dated snapshot of the master copy with a note of what changed and why. Committing and pushing is what sends your change to the master, and the master is what the live site reprints from.</a:t>
            </a:r>
            <a:endParaRPr lang="en-US" sz="1150" dirty="0"/>
          </a:p>
        </p:txBody>
      </p:sp>
      <p:sp>
        <p:nvSpPr>
          <p:cNvPr id="10" name="Shape 8"/>
          <p:cNvSpPr/>
          <p:nvPr/>
        </p:nvSpPr>
        <p:spPr>
          <a:xfrm>
            <a:off x="566928" y="2880360"/>
            <a:ext cx="6949440" cy="1371600"/>
          </a:xfrm>
          <a:prstGeom prst="rect">
            <a:avLst/>
          </a:prstGeom>
          <a:solidFill>
            <a:srgbClr val="ECEEEE"/>
          </a:solidFill>
          <a:ln/>
        </p:spPr>
      </p:sp>
      <p:sp>
        <p:nvSpPr>
          <p:cNvPr id="11" name="Text 9"/>
          <p:cNvSpPr/>
          <p:nvPr/>
        </p:nvSpPr>
        <p:spPr>
          <a:xfrm>
            <a:off x="841248" y="2880360"/>
            <a:ext cx="6400800" cy="1371600"/>
          </a:xfrm>
          <a:prstGeom prst="rect">
            <a:avLst/>
          </a:prstGeom>
          <a:noFill/>
          <a:ln/>
        </p:spPr>
        <p:txBody>
          <a:bodyPr wrap="square" lIns="0" tIns="0" rIns="0" bIns="0" rtlCol="0" anchor="ctr"/>
          <a:lstStyle/>
          <a:p>
            <a:pPr indent="0" marL="0">
              <a:lnSpc>
                <a:spcPts val="1900"/>
              </a:lnSpc>
              <a:buNone/>
            </a:pPr>
            <a:r>
              <a:rPr lang="en-US" sz="1300" i="1" dirty="0">
                <a:solidFill>
                  <a:srgbClr val="000000"/>
                </a:solidFill>
                <a:latin typeface="Work Sans" pitchFamily="34" charset="0"/>
                <a:ea typeface="Work Sans" pitchFamily="34" charset="-122"/>
                <a:cs typeface="Work Sans" pitchFamily="34" charset="-120"/>
              </a:rPr>
              <a:t>“Replace the hero photo on the Courthouse page with the attached image, </a:t>
            </a:r>
            <a:pPr indent="0" marL="0">
              <a:lnSpc>
                <a:spcPts val="1900"/>
              </a:lnSpc>
              <a:buNone/>
            </a:pPr>
            <a:r>
              <a:rPr lang="en-US" sz="1300" b="1" i="1" dirty="0">
                <a:solidFill>
                  <a:srgbClr val="000000"/>
                </a:solidFill>
                <a:latin typeface="Work Sans" pitchFamily="34" charset="0"/>
                <a:ea typeface="Work Sans" pitchFamily="34" charset="-122"/>
                <a:cs typeface="Work Sans" pitchFamily="34" charset="-120"/>
              </a:rPr>
              <a:t>then commit and push the change.”</a:t>
            </a:r>
            <a:endParaRPr lang="en-US" sz="1300" dirty="0"/>
          </a:p>
        </p:txBody>
      </p:sp>
      <p:sp>
        <p:nvSpPr>
          <p:cNvPr id="12" name="Shape 10"/>
          <p:cNvSpPr/>
          <p:nvPr/>
        </p:nvSpPr>
        <p:spPr>
          <a:xfrm>
            <a:off x="8138160" y="2880360"/>
            <a:ext cx="3493008" cy="1737360"/>
          </a:xfrm>
          <a:prstGeom prst="rect">
            <a:avLst/>
          </a:prstGeom>
          <a:solidFill>
            <a:srgbClr val="ECEEEE"/>
          </a:solidFill>
          <a:ln/>
        </p:spPr>
      </p:sp>
      <p:sp>
        <p:nvSpPr>
          <p:cNvPr id="13" name="Text 11"/>
          <p:cNvSpPr/>
          <p:nvPr/>
        </p:nvSpPr>
        <p:spPr>
          <a:xfrm>
            <a:off x="8357616" y="3026664"/>
            <a:ext cx="3054096"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4" name="Text 12"/>
          <p:cNvSpPr/>
          <p:nvPr/>
        </p:nvSpPr>
        <p:spPr>
          <a:xfrm>
            <a:off x="8357616" y="3246120"/>
            <a:ext cx="3054096" cy="123444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Why it matters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Without the magic words the edit stays in the session: reviewed but not sent. With them, Claude commits, pushes, and tells you when it is done.</a:t>
            </a:r>
            <a:endParaRPr lang="en-US" sz="1100" dirty="0"/>
          </a:p>
        </p:txBody>
      </p:sp>
      <p:sp>
        <p:nvSpPr>
          <p:cNvPr id="15" name="Text 13"/>
          <p:cNvSpPr/>
          <p:nvPr/>
        </p:nvSpPr>
        <p:spPr>
          <a:xfrm>
            <a:off x="566928" y="4892040"/>
            <a:ext cx="10607040" cy="685800"/>
          </a:xfrm>
          <a:prstGeom prst="rect">
            <a:avLst/>
          </a:prstGeom>
          <a:noFill/>
          <a:ln/>
        </p:spPr>
        <p:txBody>
          <a:bodyPr wrap="square" lIns="0" tIns="0" rIns="0" bIns="0" rtlCol="0" anchor="ctr"/>
          <a:lstStyle/>
          <a:p>
            <a:pPr indent="0" marL="0">
              <a:lnSpc>
                <a:spcPts val="1700"/>
              </a:lnSpc>
              <a:buNone/>
            </a:pPr>
            <a:r>
              <a:rPr lang="en-US" sz="1150" b="1" dirty="0">
                <a:solidFill>
                  <a:srgbClr val="000000"/>
                </a:solidFill>
                <a:latin typeface="Work Sans" pitchFamily="34" charset="0"/>
                <a:ea typeface="Work Sans" pitchFamily="34" charset="-122"/>
                <a:cs typeface="Work Sans" pitchFamily="34" charset="-120"/>
              </a:rPr>
              <a:t>Commits are the audit trail.  </a:t>
            </a:r>
            <a:pPr indent="0" marL="0">
              <a:lnSpc>
                <a:spcPts val="1700"/>
              </a:lnSpc>
              <a:buNone/>
            </a:pPr>
            <a:r>
              <a:rPr lang="en-US" sz="1150" dirty="0">
                <a:solidFill>
                  <a:srgbClr val="5C6366"/>
                </a:solidFill>
                <a:latin typeface="Work Sans" pitchFamily="34" charset="0"/>
                <a:ea typeface="Work Sans" pitchFamily="34" charset="-122"/>
                <a:cs typeface="Work Sans" pitchFamily="34" charset="-120"/>
              </a:rPr>
              <a:t>Every change is dated, described and attributed, and any mistake can be rolled back to the snapshot before it. Ask Claude “what changed this month?” and it can tell you.</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AFTER YOU ASK</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09</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What happens next, and how to check.</a:t>
            </a:r>
            <a:endParaRPr lang="en-US" sz="2500" dirty="0"/>
          </a:p>
        </p:txBody>
      </p:sp>
      <p:sp>
        <p:nvSpPr>
          <p:cNvPr id="9" name="Shape 7"/>
          <p:cNvSpPr/>
          <p:nvPr/>
        </p:nvSpPr>
        <p:spPr>
          <a:xfrm>
            <a:off x="566928" y="1586484"/>
            <a:ext cx="246888" cy="246888"/>
          </a:xfrm>
          <a:prstGeom prst="ellipse">
            <a:avLst/>
          </a:prstGeom>
          <a:solidFill>
            <a:srgbClr val="B3400C"/>
          </a:solidFill>
          <a:ln/>
        </p:spPr>
      </p:sp>
      <p:sp>
        <p:nvSpPr>
          <p:cNvPr id="10" name="Text 8"/>
          <p:cNvSpPr/>
          <p:nvPr/>
        </p:nvSpPr>
        <p:spPr>
          <a:xfrm>
            <a:off x="521208" y="1560881"/>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1" name="Text 9"/>
          <p:cNvSpPr/>
          <p:nvPr/>
        </p:nvSpPr>
        <p:spPr>
          <a:xfrm>
            <a:off x="987552" y="1572768"/>
            <a:ext cx="69860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Claude confirms the commit</a:t>
            </a:r>
            <a:endParaRPr lang="en-US" sz="1200" dirty="0"/>
          </a:p>
        </p:txBody>
      </p:sp>
      <p:sp>
        <p:nvSpPr>
          <p:cNvPr id="12" name="Text 10"/>
          <p:cNvSpPr/>
          <p:nvPr/>
        </p:nvSpPr>
        <p:spPr>
          <a:xfrm>
            <a:off x="987552" y="1847088"/>
            <a:ext cx="698601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It tells you what it changed and that the change is pushed. If the team reviews changes first, it opens a pull request instead (a change waiting for approval).</a:t>
            </a:r>
            <a:endParaRPr lang="en-US" sz="1050" dirty="0"/>
          </a:p>
        </p:txBody>
      </p:sp>
      <p:sp>
        <p:nvSpPr>
          <p:cNvPr id="13" name="Shape 11"/>
          <p:cNvSpPr/>
          <p:nvPr/>
        </p:nvSpPr>
        <p:spPr>
          <a:xfrm>
            <a:off x="566928" y="2422398"/>
            <a:ext cx="246888" cy="246888"/>
          </a:xfrm>
          <a:prstGeom prst="ellipse">
            <a:avLst/>
          </a:prstGeom>
          <a:solidFill>
            <a:srgbClr val="B3400C"/>
          </a:solidFill>
          <a:ln/>
        </p:spPr>
      </p:sp>
      <p:sp>
        <p:nvSpPr>
          <p:cNvPr id="14" name="Text 12"/>
          <p:cNvSpPr/>
          <p:nvPr/>
        </p:nvSpPr>
        <p:spPr>
          <a:xfrm>
            <a:off x="521208" y="2396795"/>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5" name="Text 13"/>
          <p:cNvSpPr/>
          <p:nvPr/>
        </p:nvSpPr>
        <p:spPr>
          <a:xfrm>
            <a:off x="987552" y="2408682"/>
            <a:ext cx="69860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The site republishes itself</a:t>
            </a:r>
            <a:endParaRPr lang="en-US" sz="1200" dirty="0"/>
          </a:p>
        </p:txBody>
      </p:sp>
      <p:sp>
        <p:nvSpPr>
          <p:cNvPr id="16" name="Text 14"/>
          <p:cNvSpPr/>
          <p:nvPr/>
        </p:nvSpPr>
        <p:spPr>
          <a:xfrm>
            <a:off x="987552" y="2683002"/>
            <a:ext cx="698601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Vercel, the hosting platform, notices the new master copy and reprints the site automatically. Typically a few minutes. There is nothing to press.</a:t>
            </a:r>
            <a:endParaRPr lang="en-US" sz="1050" dirty="0"/>
          </a:p>
        </p:txBody>
      </p:sp>
      <p:sp>
        <p:nvSpPr>
          <p:cNvPr id="17" name="Shape 15"/>
          <p:cNvSpPr/>
          <p:nvPr/>
        </p:nvSpPr>
        <p:spPr>
          <a:xfrm>
            <a:off x="566928" y="3258312"/>
            <a:ext cx="246888" cy="246888"/>
          </a:xfrm>
          <a:prstGeom prst="ellipse">
            <a:avLst/>
          </a:prstGeom>
          <a:solidFill>
            <a:srgbClr val="B3400C"/>
          </a:solidFill>
          <a:ln/>
        </p:spPr>
      </p:sp>
      <p:sp>
        <p:nvSpPr>
          <p:cNvPr id="18" name="Text 16"/>
          <p:cNvSpPr/>
          <p:nvPr/>
        </p:nvSpPr>
        <p:spPr>
          <a:xfrm>
            <a:off x="521208" y="3232709"/>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19" name="Text 17"/>
          <p:cNvSpPr/>
          <p:nvPr/>
        </p:nvSpPr>
        <p:spPr>
          <a:xfrm>
            <a:off x="987552" y="3244596"/>
            <a:ext cx="69860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Verify on the live page</a:t>
            </a:r>
            <a:endParaRPr lang="en-US" sz="1200" dirty="0"/>
          </a:p>
        </p:txBody>
      </p:sp>
      <p:sp>
        <p:nvSpPr>
          <p:cNvPr id="20" name="Text 18"/>
          <p:cNvSpPr/>
          <p:nvPr/>
        </p:nvSpPr>
        <p:spPr>
          <a:xfrm>
            <a:off x="987552" y="3518916"/>
            <a:ext cx="6986016" cy="604647"/>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Open the page and check your change is showing. Not there after ten minutes? Ask in the same Claude session: “Was the commit pushed, and did the deployment succeed?” Claude can check both.</a:t>
            </a:r>
            <a:endParaRPr lang="en-US" sz="1050" dirty="0"/>
          </a:p>
        </p:txBody>
      </p:sp>
      <p:sp>
        <p:nvSpPr>
          <p:cNvPr id="21" name="Shape 19"/>
          <p:cNvSpPr/>
          <p:nvPr/>
        </p:nvSpPr>
        <p:spPr>
          <a:xfrm>
            <a:off x="8430768" y="1618488"/>
            <a:ext cx="3193999" cy="1828800"/>
          </a:xfrm>
          <a:prstGeom prst="rect">
            <a:avLst/>
          </a:prstGeom>
          <a:solidFill>
            <a:srgbClr val="FFFFFF"/>
          </a:solidFill>
          <a:ln w="9525">
            <a:solidFill>
              <a:srgbClr val="000000"/>
            </a:solidFill>
            <a:prstDash val="solid"/>
          </a:ln>
        </p:spPr>
      </p:sp>
      <p:sp>
        <p:nvSpPr>
          <p:cNvPr id="22" name="Text 20"/>
          <p:cNvSpPr/>
          <p:nvPr/>
        </p:nvSpPr>
        <p:spPr>
          <a:xfrm>
            <a:off x="8650224" y="1764792"/>
            <a:ext cx="2755087"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WHAT YOU SHOULD SEE</a:t>
            </a:r>
            <a:endParaRPr lang="en-US" sz="750" dirty="0"/>
          </a:p>
        </p:txBody>
      </p:sp>
      <p:sp>
        <p:nvSpPr>
          <p:cNvPr id="23" name="Text 21"/>
          <p:cNvSpPr/>
          <p:nvPr/>
        </p:nvSpPr>
        <p:spPr>
          <a:xfrm>
            <a:off x="8650224" y="1984248"/>
            <a:ext cx="2755087" cy="132588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A good session ends with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A confirmation naming what changed, and the live page showing it. Keep the session open until you have seen both.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BIGGER JOBS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12</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Adding a whole new development, in one request.</a:t>
            </a:r>
            <a:endParaRPr lang="en-US" sz="2500" dirty="0"/>
          </a:p>
        </p:txBody>
      </p:sp>
      <p:sp>
        <p:nvSpPr>
          <p:cNvPr id="9" name="Text 7"/>
          <p:cNvSpPr/>
          <p:nvPr/>
        </p:nvSpPr>
        <p:spPr>
          <a:xfrm>
            <a:off x="566928" y="1517904"/>
            <a:ext cx="896112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A new development touches the portfolio grid, its own property page, the map and the investor platform. Claude follows a set checklist; you just supply the ingredients:</a:t>
            </a:r>
            <a:endParaRPr lang="en-US" sz="1150" dirty="0"/>
          </a:p>
        </p:txBody>
      </p:sp>
      <p:sp>
        <p:nvSpPr>
          <p:cNvPr id="10" name="Shape 8"/>
          <p:cNvSpPr/>
          <p:nvPr/>
        </p:nvSpPr>
        <p:spPr>
          <a:xfrm>
            <a:off x="566928" y="2116836"/>
            <a:ext cx="246888" cy="246888"/>
          </a:xfrm>
          <a:prstGeom prst="ellipse">
            <a:avLst/>
          </a:prstGeom>
          <a:solidFill>
            <a:srgbClr val="B3400C"/>
          </a:solidFill>
          <a:ln/>
        </p:spPr>
      </p:sp>
      <p:sp>
        <p:nvSpPr>
          <p:cNvPr id="11" name="Text 9"/>
          <p:cNvSpPr/>
          <p:nvPr/>
        </p:nvSpPr>
        <p:spPr>
          <a:xfrm>
            <a:off x="521208" y="209123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2" name="Text 10"/>
          <p:cNvSpPr/>
          <p:nvPr/>
        </p:nvSpPr>
        <p:spPr>
          <a:xfrm>
            <a:off x="987552" y="2103120"/>
            <a:ext cx="74432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Name, brand and address</a:t>
            </a:r>
            <a:endParaRPr lang="en-US" sz="1200" dirty="0"/>
          </a:p>
        </p:txBody>
      </p:sp>
      <p:sp>
        <p:nvSpPr>
          <p:cNvPr id="13" name="Text 11"/>
          <p:cNvSpPr/>
          <p:nvPr/>
        </p:nvSpPr>
        <p:spPr>
          <a:xfrm>
            <a:off x="987552" y="2377440"/>
            <a:ext cx="7443216" cy="216916"/>
          </a:xfrm>
          <a:prstGeom prst="rect">
            <a:avLst/>
          </a:prstGeom>
          <a:noFill/>
          <a:ln/>
        </p:spPr>
        <p:txBody>
          <a:bodyPr wrap="square" lIns="0" tIns="0" rIns="0" bIns="0" rtlCol="0" anchor="ctr"/>
          <a:lstStyle/>
          <a:p>
            <a:pPr indent="0" marL="0">
              <a:lnSpc>
                <a:spcPts val="1420"/>
              </a:lnSpc>
              <a:buNone/>
            </a:pPr>
            <a:r>
              <a:rPr lang="en-US" sz="1000" dirty="0">
                <a:solidFill>
                  <a:srgbClr val="5C6366"/>
                </a:solidFill>
                <a:latin typeface="Work Sans" pitchFamily="34" charset="0"/>
                <a:ea typeface="Work Sans" pitchFamily="34" charset="-122"/>
                <a:cs typeface="Work Sans" pitchFamily="34" charset="-120"/>
              </a:rPr>
              <a:t>e.g. “The Foundry, Altrincham” and the full address.</a:t>
            </a:r>
            <a:endParaRPr lang="en-US" sz="1000" dirty="0"/>
          </a:p>
        </p:txBody>
      </p:sp>
      <p:sp>
        <p:nvSpPr>
          <p:cNvPr id="14" name="Shape 12"/>
          <p:cNvSpPr/>
          <p:nvPr/>
        </p:nvSpPr>
        <p:spPr>
          <a:xfrm>
            <a:off x="566928" y="2754376"/>
            <a:ext cx="246888" cy="246888"/>
          </a:xfrm>
          <a:prstGeom prst="ellipse">
            <a:avLst/>
          </a:prstGeom>
          <a:solidFill>
            <a:srgbClr val="B3400C"/>
          </a:solidFill>
          <a:ln/>
        </p:spPr>
      </p:sp>
      <p:sp>
        <p:nvSpPr>
          <p:cNvPr id="15" name="Text 13"/>
          <p:cNvSpPr/>
          <p:nvPr/>
        </p:nvSpPr>
        <p:spPr>
          <a:xfrm>
            <a:off x="521208" y="272877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6" name="Text 14"/>
          <p:cNvSpPr/>
          <p:nvPr/>
        </p:nvSpPr>
        <p:spPr>
          <a:xfrm>
            <a:off x="987552" y="2740660"/>
            <a:ext cx="74432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Status and phase</a:t>
            </a:r>
            <a:endParaRPr lang="en-US" sz="1200" dirty="0"/>
          </a:p>
        </p:txBody>
      </p:sp>
      <p:sp>
        <p:nvSpPr>
          <p:cNvPr id="17" name="Text 15"/>
          <p:cNvSpPr/>
          <p:nvPr/>
        </p:nvSpPr>
        <p:spPr>
          <a:xfrm>
            <a:off x="987552" y="3014980"/>
            <a:ext cx="7443216" cy="216916"/>
          </a:xfrm>
          <a:prstGeom prst="rect">
            <a:avLst/>
          </a:prstGeom>
          <a:noFill/>
          <a:ln/>
        </p:spPr>
        <p:txBody>
          <a:bodyPr wrap="square" lIns="0" tIns="0" rIns="0" bIns="0" rtlCol="0" anchor="ctr"/>
          <a:lstStyle/>
          <a:p>
            <a:pPr indent="0" marL="0">
              <a:lnSpc>
                <a:spcPts val="1420"/>
              </a:lnSpc>
              <a:buNone/>
            </a:pPr>
            <a:r>
              <a:rPr lang="en-US" sz="1000" dirty="0">
                <a:solidFill>
                  <a:srgbClr val="5C6366"/>
                </a:solidFill>
                <a:latin typeface="Work Sans" pitchFamily="34" charset="0"/>
                <a:ea typeface="Work Sans" pitchFamily="34" charset="-122"/>
                <a:cs typeface="Work Sans" pitchFamily="34" charset="-120"/>
              </a:rPr>
              <a:t>e.g. Acquired / Pre-construction.</a:t>
            </a:r>
            <a:endParaRPr lang="en-US" sz="1000" dirty="0"/>
          </a:p>
        </p:txBody>
      </p:sp>
      <p:sp>
        <p:nvSpPr>
          <p:cNvPr id="18" name="Shape 16"/>
          <p:cNvSpPr/>
          <p:nvPr/>
        </p:nvSpPr>
        <p:spPr>
          <a:xfrm>
            <a:off x="566928" y="3391916"/>
            <a:ext cx="246888" cy="246888"/>
          </a:xfrm>
          <a:prstGeom prst="ellipse">
            <a:avLst/>
          </a:prstGeom>
          <a:solidFill>
            <a:srgbClr val="B3400C"/>
          </a:solidFill>
          <a:ln/>
        </p:spPr>
      </p:sp>
      <p:sp>
        <p:nvSpPr>
          <p:cNvPr id="19" name="Text 17"/>
          <p:cNvSpPr/>
          <p:nvPr/>
        </p:nvSpPr>
        <p:spPr>
          <a:xfrm>
            <a:off x="521208" y="336631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20" name="Text 18"/>
          <p:cNvSpPr/>
          <p:nvPr/>
        </p:nvSpPr>
        <p:spPr>
          <a:xfrm>
            <a:off x="987552" y="3378200"/>
            <a:ext cx="74432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Photography</a:t>
            </a:r>
            <a:endParaRPr lang="en-US" sz="1200" dirty="0"/>
          </a:p>
        </p:txBody>
      </p:sp>
      <p:sp>
        <p:nvSpPr>
          <p:cNvPr id="21" name="Text 19"/>
          <p:cNvSpPr/>
          <p:nvPr/>
        </p:nvSpPr>
        <p:spPr>
          <a:xfrm>
            <a:off x="987552" y="3652520"/>
            <a:ext cx="7443216" cy="397256"/>
          </a:xfrm>
          <a:prstGeom prst="rect">
            <a:avLst/>
          </a:prstGeom>
          <a:noFill/>
          <a:ln/>
        </p:spPr>
        <p:txBody>
          <a:bodyPr wrap="square" lIns="0" tIns="0" rIns="0" bIns="0" rtlCol="0" anchor="ctr"/>
          <a:lstStyle/>
          <a:p>
            <a:pPr indent="0" marL="0">
              <a:lnSpc>
                <a:spcPts val="1420"/>
              </a:lnSpc>
              <a:buNone/>
            </a:pPr>
            <a:r>
              <a:rPr lang="en-US" sz="1000" dirty="0">
                <a:solidFill>
                  <a:srgbClr val="5C6366"/>
                </a:solidFill>
                <a:latin typeface="Work Sans" pitchFamily="34" charset="0"/>
                <a:ea typeface="Work Sans" pitchFamily="34" charset="-122"/>
                <a:cs typeface="Work Sans" pitchFamily="34" charset="-120"/>
              </a:rPr>
              <a:t>A hero photograph, any gallery photos, and the project logo if the scheme is branded. Attach them to the message.</a:t>
            </a:r>
            <a:endParaRPr lang="en-US" sz="1000" dirty="0"/>
          </a:p>
        </p:txBody>
      </p:sp>
      <p:sp>
        <p:nvSpPr>
          <p:cNvPr id="22" name="Shape 20"/>
          <p:cNvSpPr/>
          <p:nvPr/>
        </p:nvSpPr>
        <p:spPr>
          <a:xfrm>
            <a:off x="566928" y="4209796"/>
            <a:ext cx="246888" cy="246888"/>
          </a:xfrm>
          <a:prstGeom prst="ellipse">
            <a:avLst/>
          </a:prstGeom>
          <a:solidFill>
            <a:srgbClr val="B3400C"/>
          </a:solidFill>
          <a:ln/>
        </p:spPr>
      </p:sp>
      <p:sp>
        <p:nvSpPr>
          <p:cNvPr id="23" name="Text 21"/>
          <p:cNvSpPr/>
          <p:nvPr/>
        </p:nvSpPr>
        <p:spPr>
          <a:xfrm>
            <a:off x="521208" y="418419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4</a:t>
            </a:r>
            <a:endParaRPr lang="en-US" sz="1050" dirty="0"/>
          </a:p>
        </p:txBody>
      </p:sp>
      <p:sp>
        <p:nvSpPr>
          <p:cNvPr id="24" name="Text 22"/>
          <p:cNvSpPr/>
          <p:nvPr/>
        </p:nvSpPr>
        <p:spPr>
          <a:xfrm>
            <a:off x="987552" y="4196080"/>
            <a:ext cx="74432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Brochure PDF, if there is one</a:t>
            </a:r>
            <a:endParaRPr lang="en-US" sz="1200" dirty="0"/>
          </a:p>
        </p:txBody>
      </p:sp>
      <p:sp>
        <p:nvSpPr>
          <p:cNvPr id="25" name="Text 23"/>
          <p:cNvSpPr/>
          <p:nvPr/>
        </p:nvSpPr>
        <p:spPr>
          <a:xfrm>
            <a:off x="987552" y="4470400"/>
            <a:ext cx="7443216" cy="216916"/>
          </a:xfrm>
          <a:prstGeom prst="rect">
            <a:avLst/>
          </a:prstGeom>
          <a:noFill/>
          <a:ln/>
        </p:spPr>
        <p:txBody>
          <a:bodyPr wrap="square" lIns="0" tIns="0" rIns="0" bIns="0" rtlCol="0" anchor="ctr"/>
          <a:lstStyle/>
          <a:p>
            <a:pPr indent="0" marL="0">
              <a:lnSpc>
                <a:spcPts val="1420"/>
              </a:lnSpc>
              <a:buNone/>
            </a:pPr>
            <a:r>
              <a:rPr lang="en-US" sz="1000" dirty="0">
                <a:solidFill>
                  <a:srgbClr val="5C6366"/>
                </a:solidFill>
                <a:latin typeface="Work Sans" pitchFamily="34" charset="0"/>
                <a:ea typeface="Work Sans" pitchFamily="34" charset="-122"/>
                <a:cs typeface="Work Sans" pitchFamily="34" charset="-120"/>
              </a:rPr>
              <a:t>It becomes a download on the property page.</a:t>
            </a:r>
            <a:endParaRPr lang="en-US" sz="1000" dirty="0"/>
          </a:p>
        </p:txBody>
      </p:sp>
      <p:sp>
        <p:nvSpPr>
          <p:cNvPr id="26" name="Shape 24"/>
          <p:cNvSpPr/>
          <p:nvPr/>
        </p:nvSpPr>
        <p:spPr>
          <a:xfrm>
            <a:off x="566928" y="4847336"/>
            <a:ext cx="246888" cy="246888"/>
          </a:xfrm>
          <a:prstGeom prst="ellipse">
            <a:avLst/>
          </a:prstGeom>
          <a:solidFill>
            <a:srgbClr val="B3400C"/>
          </a:solidFill>
          <a:ln/>
        </p:spPr>
      </p:sp>
      <p:sp>
        <p:nvSpPr>
          <p:cNvPr id="27" name="Text 25"/>
          <p:cNvSpPr/>
          <p:nvPr/>
        </p:nvSpPr>
        <p:spPr>
          <a:xfrm>
            <a:off x="521208" y="482173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5</a:t>
            </a:r>
            <a:endParaRPr lang="en-US" sz="1050" dirty="0"/>
          </a:p>
        </p:txBody>
      </p:sp>
      <p:sp>
        <p:nvSpPr>
          <p:cNvPr id="28" name="Text 26"/>
          <p:cNvSpPr/>
          <p:nvPr/>
        </p:nvSpPr>
        <p:spPr>
          <a:xfrm>
            <a:off x="987552" y="4833620"/>
            <a:ext cx="744321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Investor-platform figures</a:t>
            </a:r>
            <a:endParaRPr lang="en-US" sz="1200" dirty="0"/>
          </a:p>
        </p:txBody>
      </p:sp>
      <p:sp>
        <p:nvSpPr>
          <p:cNvPr id="29" name="Text 27"/>
          <p:cNvSpPr/>
          <p:nvPr/>
        </p:nvSpPr>
        <p:spPr>
          <a:xfrm>
            <a:off x="987552" y="5107940"/>
            <a:ext cx="7443216" cy="216916"/>
          </a:xfrm>
          <a:prstGeom prst="rect">
            <a:avLst/>
          </a:prstGeom>
          <a:noFill/>
          <a:ln/>
        </p:spPr>
        <p:txBody>
          <a:bodyPr wrap="square" lIns="0" tIns="0" rIns="0" bIns="0" rtlCol="0" anchor="ctr"/>
          <a:lstStyle/>
          <a:p>
            <a:pPr indent="0" marL="0">
              <a:lnSpc>
                <a:spcPts val="1420"/>
              </a:lnSpc>
              <a:buNone/>
            </a:pPr>
            <a:r>
              <a:rPr lang="en-US" sz="1000" dirty="0">
                <a:solidFill>
                  <a:srgbClr val="5C6366"/>
                </a:solidFill>
                <a:latin typeface="Work Sans" pitchFamily="34" charset="0"/>
                <a:ea typeface="Work Sans" pitchFamily="34" charset="-122"/>
                <a:cs typeface="Work Sans" pitchFamily="34" charset="-120"/>
              </a:rPr>
              <a:t>SPV name, equity value, total committed, senior debt and forecast IRR.</a:t>
            </a:r>
            <a:endParaRPr lang="en-US" sz="1000" dirty="0"/>
          </a:p>
        </p:txBody>
      </p:sp>
      <p:sp>
        <p:nvSpPr>
          <p:cNvPr id="30" name="Shape 28"/>
          <p:cNvSpPr/>
          <p:nvPr/>
        </p:nvSpPr>
        <p:spPr>
          <a:xfrm>
            <a:off x="566928" y="5608320"/>
            <a:ext cx="7863840" cy="914400"/>
          </a:xfrm>
          <a:prstGeom prst="rect">
            <a:avLst/>
          </a:prstGeom>
          <a:solidFill>
            <a:srgbClr val="FFFFFF"/>
          </a:solidFill>
          <a:ln w="9525">
            <a:solidFill>
              <a:srgbClr val="000000"/>
            </a:solidFill>
            <a:prstDash val="solid"/>
          </a:ln>
        </p:spPr>
      </p:sp>
      <p:sp>
        <p:nvSpPr>
          <p:cNvPr id="31" name="Text 29"/>
          <p:cNvSpPr/>
          <p:nvPr/>
        </p:nvSpPr>
        <p:spPr>
          <a:xfrm>
            <a:off x="786384" y="5754624"/>
            <a:ext cx="7424928"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WHAT YOU SHOULD SEE</a:t>
            </a:r>
            <a:endParaRPr lang="en-US" sz="750" dirty="0"/>
          </a:p>
        </p:txBody>
      </p:sp>
      <p:sp>
        <p:nvSpPr>
          <p:cNvPr id="32" name="Text 30"/>
          <p:cNvSpPr/>
          <p:nvPr/>
        </p:nvSpPr>
        <p:spPr>
          <a:xfrm>
            <a:off x="786384" y="5974080"/>
            <a:ext cx="7424928" cy="41148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Afterwards, check four places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The portfolio grid shows the new card · its property page opens · the map shows its pin · the Developments &amp; SPVs tab lists its SPV.</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WHERE THINGS LIVE</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13</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What Claude is actually editing.</a:t>
            </a:r>
            <a:endParaRPr lang="en-US" sz="2500" dirty="0"/>
          </a:p>
        </p:txBody>
      </p:sp>
      <p:sp>
        <p:nvSpPr>
          <p:cNvPr id="9" name="Text 7"/>
          <p:cNvSpPr/>
          <p:nvPr/>
        </p:nvSpPr>
        <p:spPr>
          <a:xfrm>
            <a:off x="566928" y="1618488"/>
            <a:ext cx="4114800" cy="4297680"/>
          </a:xfrm>
          <a:prstGeom prst="rect">
            <a:avLst/>
          </a:prstGeom>
          <a:noFill/>
          <a:ln/>
        </p:spPr>
        <p:txBody>
          <a:bodyPr wrap="square" lIns="0" tIns="0" rIns="0" bIns="0" rtlCol="0" anchor="t"/>
          <a:lstStyle/>
          <a:p>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The public website is data-driven: every page is generated from structured files in the repository. You never edit a page's design; you change the data and the design applies itself.
</a:t>
            </a:r>
            <a:pPr indent="0" marL="0">
              <a:lnSpc>
                <a:spcPts val="1600"/>
              </a:lnSpc>
              <a:spcAft>
                <a:spcPts val="1000"/>
              </a:spcAft>
              <a:buNone/>
            </a:pPr>
            <a:r>
              <a:rPr lang="en-US" sz="1100" b="1" dirty="0">
                <a:solidFill>
                  <a:srgbClr val="000000"/>
                </a:solidFill>
                <a:latin typeface="Work Sans" pitchFamily="34" charset="0"/>
                <a:ea typeface="Work Sans" pitchFamily="34" charset="-122"/>
                <a:cs typeface="Work Sans" pitchFamily="34" charset="-120"/>
              </a:rPr>
              <a:t>For the curious: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Portfolio cards: lib/portfolio-data.ts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Property pages: lib/property-pages.ts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Photography: public/images/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News stories: content/newsletters/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Investor data: content/investors/
</a:t>
            </a:r>
            <a:endParaRPr lang="en-US" sz="1100" dirty="0"/>
          </a:p>
        </p:txBody>
      </p:sp>
      <p:pic>
        <p:nvPicPr>
          <p:cNvPr id="10" name="Image 0" descr="/tmp/claude-0/-home-user-satis-group-website/ff8ab6f4-f9c2-556a-89f3-8bea05ba205c/build/assets/portfolio-top.png">    </p:cNvPr>
          <p:cNvPicPr>
            <a:picLocks noChangeAspect="1"/>
          </p:cNvPicPr>
          <p:nvPr/>
        </p:nvPicPr>
        <p:blipFill>
          <a:blip r:embed="rId1"/>
          <a:stretch>
            <a:fillRect/>
          </a:stretch>
        </p:blipFill>
        <p:spPr>
          <a:xfrm>
            <a:off x="5093208" y="1761598"/>
            <a:ext cx="6531559" cy="4322355"/>
          </a:xfrm>
          <a:prstGeom prst="rect">
            <a:avLst/>
          </a:prstGeom>
        </p:spPr>
      </p:pic>
      <p:sp>
        <p:nvSpPr>
          <p:cNvPr id="11" name="Shape 8"/>
          <p:cNvSpPr/>
          <p:nvPr/>
        </p:nvSpPr>
        <p:spPr>
          <a:xfrm>
            <a:off x="5093208" y="1761598"/>
            <a:ext cx="6531559" cy="4322355"/>
          </a:xfrm>
          <a:prstGeom prst="rect">
            <a:avLst/>
          </a:prstGeom>
          <a:ln w="12700">
            <a:solidFill>
              <a:srgbClr val="CED1D2"/>
            </a:solidFill>
            <a:prstDash val="solid"/>
          </a:ln>
        </p:spPr>
      </p:sp>
      <p:sp>
        <p:nvSpPr>
          <p:cNvPr id="12" name="Text 9"/>
          <p:cNvSpPr/>
          <p:nvPr/>
        </p:nvSpPr>
        <p:spPr>
          <a:xfrm>
            <a:off x="5093208" y="6147962"/>
            <a:ext cx="6531559" cy="256032"/>
          </a:xfrm>
          <a:prstGeom prst="rect">
            <a:avLst/>
          </a:prstGeom>
          <a:noFill/>
          <a:ln/>
        </p:spPr>
        <p:txBody>
          <a:bodyPr wrap="square" lIns="0" tIns="0" rIns="0" bIns="0" rtlCol="0" anchor="ctr"/>
          <a:lstStyle/>
          <a:p>
            <a:pPr indent="0" marL="0">
              <a:lnSpc>
                <a:spcPts val="1100"/>
              </a:lnSpc>
              <a:buNone/>
            </a:pPr>
            <a:r>
              <a:rPr lang="en-US" sz="850" dirty="0">
                <a:solidFill>
                  <a:srgbClr val="5C6366"/>
                </a:solidFill>
                <a:latin typeface="Work Sans" pitchFamily="34" charset="0"/>
                <a:ea typeface="Work Sans" pitchFamily="34" charset="-122"/>
                <a:cs typeface="Work Sans" pitchFamily="34" charset="-120"/>
              </a:rPr>
              <a:t>Every card on the portfolio grid is generated from a data file. No page is edited by hand.</a:t>
            </a:r>
            <a:endParaRPr lang="en-US" sz="850" dirty="0"/>
          </a:p>
        </p:txBody>
      </p:sp>
      <p:sp>
        <p:nvSpPr>
          <p:cNvPr id="13" name="Shape 10"/>
          <p:cNvSpPr/>
          <p:nvPr/>
        </p:nvSpPr>
        <p:spPr>
          <a:xfrm>
            <a:off x="566928" y="5029200"/>
            <a:ext cx="4114800" cy="1188720"/>
          </a:xfrm>
          <a:prstGeom prst="rect">
            <a:avLst/>
          </a:prstGeom>
          <a:solidFill>
            <a:srgbClr val="ECEEEE"/>
          </a:solidFill>
          <a:ln/>
        </p:spPr>
      </p:sp>
      <p:sp>
        <p:nvSpPr>
          <p:cNvPr id="14" name="Text 11"/>
          <p:cNvSpPr/>
          <p:nvPr/>
        </p:nvSpPr>
        <p:spPr>
          <a:xfrm>
            <a:off x="786384" y="5175504"/>
            <a:ext cx="3675888"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5" name="Text 12"/>
          <p:cNvSpPr/>
          <p:nvPr/>
        </p:nvSpPr>
        <p:spPr>
          <a:xfrm>
            <a:off x="786384" y="5394960"/>
            <a:ext cx="3675888" cy="6858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You never need these paths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Claude finds the right file from your description. They are here to demystify, not to memorise.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SKILLS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15</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100+ specialist playbooks, already installed.</a:t>
            </a:r>
            <a:endParaRPr lang="en-US" sz="2500" dirty="0"/>
          </a:p>
        </p:txBody>
      </p:sp>
      <p:sp>
        <p:nvSpPr>
          <p:cNvPr id="9" name="Text 7"/>
          <p:cNvSpPr/>
          <p:nvPr/>
        </p:nvSpPr>
        <p:spPr>
          <a:xfrm>
            <a:off x="566928" y="1517904"/>
            <a:ext cx="950976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The repository carries a catalogue of professional “skills” Claude loads to work to a set standard. You never install anything; ask for the outcome and the right playbook loads:</a:t>
            </a:r>
            <a:endParaRPr lang="en-US" sz="1150" dirty="0"/>
          </a:p>
        </p:txBody>
      </p:sp>
      <p:sp>
        <p:nvSpPr>
          <p:cNvPr id="10" name="Shape 8"/>
          <p:cNvSpPr/>
          <p:nvPr/>
        </p:nvSpPr>
        <p:spPr>
          <a:xfrm>
            <a:off x="566928" y="2212848"/>
            <a:ext cx="3478682" cy="1417320"/>
          </a:xfrm>
          <a:prstGeom prst="rect">
            <a:avLst/>
          </a:prstGeom>
          <a:solidFill>
            <a:srgbClr val="ECEEEE"/>
          </a:solidFill>
          <a:ln/>
        </p:spPr>
      </p:sp>
      <p:sp>
        <p:nvSpPr>
          <p:cNvPr id="11" name="Text 9"/>
          <p:cNvSpPr/>
          <p:nvPr/>
        </p:nvSpPr>
        <p:spPr>
          <a:xfrm>
            <a:off x="786384" y="2359152"/>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2" name="Text 10"/>
          <p:cNvSpPr/>
          <p:nvPr/>
        </p:nvSpPr>
        <p:spPr>
          <a:xfrm>
            <a:off x="786384" y="2578608"/>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“Run an accessibility audit and fix what it finds.”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WCAG accessibility review of the whole site.</a:t>
            </a:r>
            <a:endParaRPr lang="en-US" sz="1100" dirty="0"/>
          </a:p>
        </p:txBody>
      </p:sp>
      <p:sp>
        <p:nvSpPr>
          <p:cNvPr id="13" name="Shape 11"/>
          <p:cNvSpPr/>
          <p:nvPr/>
        </p:nvSpPr>
        <p:spPr>
          <a:xfrm>
            <a:off x="4356506" y="2212848"/>
            <a:ext cx="3478682" cy="1417320"/>
          </a:xfrm>
          <a:prstGeom prst="rect">
            <a:avLst/>
          </a:prstGeom>
          <a:solidFill>
            <a:srgbClr val="ECEEEE"/>
          </a:solidFill>
          <a:ln/>
        </p:spPr>
      </p:sp>
      <p:sp>
        <p:nvSpPr>
          <p:cNvPr id="14" name="Text 12"/>
          <p:cNvSpPr/>
          <p:nvPr/>
        </p:nvSpPr>
        <p:spPr>
          <a:xfrm>
            <a:off x="4575962" y="2359152"/>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5" name="Text 13"/>
          <p:cNvSpPr/>
          <p:nvPr/>
        </p:nvSpPr>
        <p:spPr>
          <a:xfrm>
            <a:off x="4575962" y="2578608"/>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“Audit the site's SEO and implement the quick wins.”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Search-ranking audit and fixes.</a:t>
            </a:r>
            <a:endParaRPr lang="en-US" sz="1100" dirty="0"/>
          </a:p>
        </p:txBody>
      </p:sp>
      <p:sp>
        <p:nvSpPr>
          <p:cNvPr id="16" name="Shape 14"/>
          <p:cNvSpPr/>
          <p:nvPr/>
        </p:nvSpPr>
        <p:spPr>
          <a:xfrm>
            <a:off x="8146085" y="2212848"/>
            <a:ext cx="3478682" cy="1417320"/>
          </a:xfrm>
          <a:prstGeom prst="rect">
            <a:avLst/>
          </a:prstGeom>
          <a:solidFill>
            <a:srgbClr val="ECEEEE"/>
          </a:solidFill>
          <a:ln/>
        </p:spPr>
      </p:sp>
      <p:sp>
        <p:nvSpPr>
          <p:cNvPr id="17" name="Text 15"/>
          <p:cNvSpPr/>
          <p:nvPr/>
        </p:nvSpPr>
        <p:spPr>
          <a:xfrm>
            <a:off x="8365541" y="2359152"/>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8" name="Text 16"/>
          <p:cNvSpPr/>
          <p:nvPr/>
        </p:nvSpPr>
        <p:spPr>
          <a:xfrm>
            <a:off x="8365541" y="2578608"/>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“Review my last change for bugs and security issues.”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A second pair of expert eyes on any change.</a:t>
            </a:r>
            <a:endParaRPr lang="en-US" sz="1100" dirty="0"/>
          </a:p>
        </p:txBody>
      </p:sp>
      <p:sp>
        <p:nvSpPr>
          <p:cNvPr id="19" name="Shape 17"/>
          <p:cNvSpPr/>
          <p:nvPr/>
        </p:nvSpPr>
        <p:spPr>
          <a:xfrm>
            <a:off x="566928" y="3941064"/>
            <a:ext cx="3478682" cy="1417320"/>
          </a:xfrm>
          <a:prstGeom prst="rect">
            <a:avLst/>
          </a:prstGeom>
          <a:solidFill>
            <a:srgbClr val="ECEEEE"/>
          </a:solidFill>
          <a:ln/>
        </p:spPr>
      </p:sp>
      <p:sp>
        <p:nvSpPr>
          <p:cNvPr id="20" name="Text 18"/>
          <p:cNvSpPr/>
          <p:nvPr/>
        </p:nvSpPr>
        <p:spPr>
          <a:xfrm>
            <a:off x="786384" y="4087368"/>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1" name="Text 19"/>
          <p:cNvSpPr/>
          <p:nvPr/>
        </p:nvSpPr>
        <p:spPr>
          <a:xfrm>
            <a:off x="786384" y="4306824"/>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“Rewrite this paragraph in the house voice.”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Writing and editing to the Satis tone.</a:t>
            </a:r>
            <a:endParaRPr lang="en-US" sz="1100" dirty="0"/>
          </a:p>
        </p:txBody>
      </p:sp>
      <p:sp>
        <p:nvSpPr>
          <p:cNvPr id="22" name="Shape 20"/>
          <p:cNvSpPr/>
          <p:nvPr/>
        </p:nvSpPr>
        <p:spPr>
          <a:xfrm>
            <a:off x="4356506" y="3941064"/>
            <a:ext cx="3478682" cy="1417320"/>
          </a:xfrm>
          <a:prstGeom prst="rect">
            <a:avLst/>
          </a:prstGeom>
          <a:solidFill>
            <a:srgbClr val="ECEEEE"/>
          </a:solidFill>
          <a:ln/>
        </p:spPr>
      </p:sp>
      <p:sp>
        <p:nvSpPr>
          <p:cNvPr id="23" name="Text 21"/>
          <p:cNvSpPr/>
          <p:nvPr/>
        </p:nvSpPr>
        <p:spPr>
          <a:xfrm>
            <a:off x="4575962" y="4087368"/>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4" name="Text 22"/>
          <p:cNvSpPr/>
          <p:nvPr/>
        </p:nvSpPr>
        <p:spPr>
          <a:xfrm>
            <a:off x="4575962" y="4306824"/>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“/design-standards review the contact page.”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Design QA against the site's spacing, contrast and type rules.</a:t>
            </a:r>
            <a:endParaRPr lang="en-US" sz="1100" dirty="0"/>
          </a:p>
        </p:txBody>
      </p:sp>
      <p:sp>
        <p:nvSpPr>
          <p:cNvPr id="25" name="Shape 23"/>
          <p:cNvSpPr/>
          <p:nvPr/>
        </p:nvSpPr>
        <p:spPr>
          <a:xfrm>
            <a:off x="8146085" y="3941064"/>
            <a:ext cx="3478682" cy="1417320"/>
          </a:xfrm>
          <a:prstGeom prst="rect">
            <a:avLst/>
          </a:prstGeom>
          <a:solidFill>
            <a:srgbClr val="ECEEEE"/>
          </a:solidFill>
          <a:ln/>
        </p:spPr>
      </p:sp>
      <p:sp>
        <p:nvSpPr>
          <p:cNvPr id="26" name="Text 24"/>
          <p:cNvSpPr/>
          <p:nvPr/>
        </p:nvSpPr>
        <p:spPr>
          <a:xfrm>
            <a:off x="8365541" y="4087368"/>
            <a:ext cx="303977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7" name="Text 25"/>
          <p:cNvSpPr/>
          <p:nvPr/>
        </p:nvSpPr>
        <p:spPr>
          <a:xfrm>
            <a:off x="8365541" y="4306824"/>
            <a:ext cx="3039770" cy="9144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“Run SEO, accessibility and code-review agents in parallel and fix the findings.”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Site-wide sweeps: how the current standards were set.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B9BDBE"/>
                </a:solidFill>
                <a:latin typeface="Work Sans" pitchFamily="34" charset="0"/>
                <a:ea typeface="Work Sans" pitchFamily="34" charset="-122"/>
                <a:cs typeface="Work Sans" pitchFamily="34" charset="-120"/>
              </a:rPr>
              <a:t>SAFETY</a:t>
            </a:r>
            <a:endParaRPr lang="en-US" sz="950" dirty="0"/>
          </a:p>
        </p:txBody>
      </p:sp>
      <p:sp>
        <p:nvSpPr>
          <p:cNvPr id="3" name="Shape 1"/>
          <p:cNvSpPr/>
          <p:nvPr/>
        </p:nvSpPr>
        <p:spPr>
          <a:xfrm>
            <a:off x="566928" y="694944"/>
            <a:ext cx="11057839" cy="0"/>
          </a:xfrm>
          <a:prstGeom prst="line">
            <a:avLst/>
          </a:prstGeom>
          <a:noFill/>
          <a:ln w="9525">
            <a:solidFill>
              <a:srgbClr val="3A3A3A"/>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FFFFFF"/>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B9BDBE"/>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B9BDBE"/>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B9BDBE"/>
                </a:solidFill>
                <a:latin typeface="Work Sans" pitchFamily="34" charset="0"/>
                <a:ea typeface="Work Sans" pitchFamily="34" charset="-122"/>
                <a:cs typeface="Work Sans" pitchFamily="34" charset="-120"/>
              </a:rPr>
              <a:t>16</a:t>
            </a:r>
            <a:endParaRPr lang="en-US" sz="800" dirty="0"/>
          </a:p>
        </p:txBody>
      </p:sp>
      <p:sp>
        <p:nvSpPr>
          <p:cNvPr id="8" name="Text 6"/>
          <p:cNvSpPr/>
          <p:nvPr/>
        </p:nvSpPr>
        <p:spPr>
          <a:xfrm>
            <a:off x="566928" y="2377440"/>
            <a:ext cx="10143439" cy="1463040"/>
          </a:xfrm>
          <a:prstGeom prst="rect">
            <a:avLst/>
          </a:prstGeom>
          <a:noFill/>
          <a:ln/>
        </p:spPr>
        <p:txBody>
          <a:bodyPr wrap="square" lIns="0" tIns="0" rIns="0" bIns="0" rtlCol="0" anchor="ctr"/>
          <a:lstStyle/>
          <a:p>
            <a:pPr indent="0" marL="0">
              <a:lnSpc>
                <a:spcPts val="3250"/>
              </a:lnSpc>
              <a:buNone/>
            </a:pPr>
            <a:r>
              <a:rPr lang="en-US" sz="2600" dirty="0">
                <a:solidFill>
                  <a:srgbClr val="FFFFFF"/>
                </a:solidFill>
                <a:latin typeface="Work Sans" pitchFamily="34" charset="0"/>
                <a:ea typeface="Work Sans" pitchFamily="34" charset="-122"/>
                <a:cs typeface="Work Sans" pitchFamily="34" charset="-120"/>
              </a:rPr>
              <a:t>Nothing is ever lost, and nothing goes live unseen.</a:t>
            </a:r>
            <a:endParaRPr lang="en-US" sz="2600" dirty="0"/>
          </a:p>
        </p:txBody>
      </p:sp>
      <p:sp>
        <p:nvSpPr>
          <p:cNvPr id="9" name="Text 7"/>
          <p:cNvSpPr/>
          <p:nvPr/>
        </p:nvSpPr>
        <p:spPr>
          <a:xfrm>
            <a:off x="566928" y="4160520"/>
            <a:ext cx="9692640" cy="1371600"/>
          </a:xfrm>
          <a:prstGeom prst="rect">
            <a:avLst/>
          </a:prstGeom>
          <a:noFill/>
          <a:ln/>
        </p:spPr>
        <p:txBody>
          <a:bodyPr wrap="square" lIns="0" tIns="0" rIns="0" bIns="0" rtlCol="0" anchor="ctr"/>
          <a:lstStyle/>
          <a:p>
            <a:pPr indent="0" marL="0">
              <a:lnSpc>
                <a:spcPts val="1900"/>
              </a:lnSpc>
              <a:buNone/>
            </a:pPr>
            <a:r>
              <a:rPr lang="en-US" sz="1250" dirty="0">
                <a:solidFill>
                  <a:srgbClr val="B9BDBE"/>
                </a:solidFill>
                <a:latin typeface="Work Sans" pitchFamily="34" charset="0"/>
                <a:ea typeface="Work Sans" pitchFamily="34" charset="-122"/>
                <a:cs typeface="Work Sans" pitchFamily="34" charset="-120"/>
              </a:rPr>
              <a:t>Every change is a dated snapshot that can be rolled back. Claude explains what it changed before it commits, and the live site only ever reprints from the master copy. If anything ever looks wrong: ask Claude to undo the last change. That is a one-sentence request too.</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indent="0" marL="0">
              <a:buNone/>
            </a:pPr>
            <a:r>
              <a:rPr lang="en-US" sz="950" spc="260" kern="0" dirty="0">
                <a:solidFill>
                  <a:srgbClr val="B9BDBE"/>
                </a:solidFill>
                <a:latin typeface="Work Sans" pitchFamily="34" charset="0"/>
                <a:ea typeface="Work Sans" pitchFamily="34" charset="-122"/>
                <a:cs typeface="Work Sans" pitchFamily="34" charset="-120"/>
              </a:rPr>
              <a:t>RECAP</a:t>
            </a:r>
            <a:endParaRPr lang="en-US" sz="950" dirty="0"/>
          </a:p>
        </p:txBody>
      </p:sp>
      <p:sp>
        <p:nvSpPr>
          <p:cNvPr id="3" name="Shape 1"/>
          <p:cNvSpPr/>
          <p:nvPr/>
        </p:nvSpPr>
        <p:spPr>
          <a:xfrm>
            <a:off x="566928" y="694944"/>
            <a:ext cx="11057839" cy="0"/>
          </a:xfrm>
          <a:prstGeom prst="line">
            <a:avLst/>
          </a:prstGeom>
          <a:noFill/>
          <a:ln w="9525">
            <a:solidFill>
              <a:srgbClr val="3A3A3A"/>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FFFFFF"/>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B9BDBE"/>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B9BDBE"/>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B9BDBE"/>
                </a:solidFill>
                <a:latin typeface="Work Sans" pitchFamily="34" charset="0"/>
                <a:ea typeface="Work Sans" pitchFamily="34" charset="-122"/>
                <a:cs typeface="Work Sans" pitchFamily="34" charset="-120"/>
              </a:rPr>
              <a:t>17</a:t>
            </a:r>
            <a:endParaRPr lang="en-US" sz="800" dirty="0"/>
          </a:p>
        </p:txBody>
      </p:sp>
      <p:sp>
        <p:nvSpPr>
          <p:cNvPr id="8" name="Text 6"/>
          <p:cNvSpPr/>
          <p:nvPr/>
        </p:nvSpPr>
        <p:spPr>
          <a:xfrm>
            <a:off x="566928" y="969264"/>
            <a:ext cx="11057839" cy="548640"/>
          </a:xfrm>
          <a:prstGeom prst="rect">
            <a:avLst/>
          </a:prstGeom>
          <a:noFill/>
          <a:ln/>
        </p:spPr>
        <p:txBody>
          <a:bodyPr wrap="square" lIns="0" tIns="0" rIns="0" bIns="0" rtlCol="0" anchor="ctr"/>
          <a:lstStyle/>
          <a:p>
            <a:pPr indent="0" marL="0">
              <a:buNone/>
            </a:pPr>
            <a:r>
              <a:rPr lang="en-US" sz="2400" dirty="0">
                <a:solidFill>
                  <a:srgbClr val="FFFFFF"/>
                </a:solidFill>
                <a:latin typeface="Work Sans" pitchFamily="34" charset="0"/>
                <a:ea typeface="Work Sans" pitchFamily="34" charset="-122"/>
                <a:cs typeface="Work Sans" pitchFamily="34" charset="-120"/>
              </a:rPr>
              <a:t>What to remember.</a:t>
            </a:r>
            <a:endParaRPr lang="en-US" sz="2400" dirty="0"/>
          </a:p>
        </p:txBody>
      </p:sp>
      <p:sp>
        <p:nvSpPr>
          <p:cNvPr id="9" name="Text 7"/>
          <p:cNvSpPr/>
          <p:nvPr/>
        </p:nvSpPr>
        <p:spPr>
          <a:xfrm>
            <a:off x="612648" y="1737360"/>
            <a:ext cx="6675120" cy="4114800"/>
          </a:xfrm>
          <a:prstGeom prst="rect">
            <a:avLst/>
          </a:prstGeom>
          <a:noFill/>
          <a:ln/>
        </p:spPr>
        <p:txBody>
          <a:bodyPr wrap="square" lIns="0" tIns="0" rIns="0" bIns="0" rtlCol="0" anchor="t"/>
          <a:lstStyle/>
          <a:p>
            <a:pPr indent="0" marL="0">
              <a:lnSpc>
                <a:spcPts val="1650"/>
              </a:lnSpc>
              <a:spcAft>
                <a:spcPts val="700"/>
              </a:spcAft>
              <a:buNone/>
            </a:pPr>
            <a:r>
              <a:rPr lang="en-US" sz="1150" dirty="0">
                <a:solidFill>
                  <a:srgbClr val="FFFFFF"/>
                </a:solidFill>
                <a:latin typeface="Work Sans" pitchFamily="34" charset="0"/>
                <a:ea typeface="Work Sans" pitchFamily="34" charset="-122"/>
                <a:cs typeface="Work Sans" pitchFamily="34" charset="-120"/>
              </a:rPr>
              <a:t>The live site reprints from a master copy; Claude is how you edit the master.</a:t>
            </a:r>
            <a:endParaRPr lang="en-US" sz="1150" dirty="0"/>
          </a:p>
          <a:p>
            <a:pPr indent="0" marL="0">
              <a:lnSpc>
                <a:spcPts val="1650"/>
              </a:lnSpc>
              <a:spcAft>
                <a:spcPts val="700"/>
              </a:spcAft>
              <a:buNone/>
            </a:pPr>
            <a:r>
              <a:rPr lang="en-US" sz="1150" dirty="0">
                <a:solidFill>
                  <a:srgbClr val="FFFFFF"/>
                </a:solidFill>
                <a:latin typeface="Work Sans" pitchFamily="34" charset="0"/>
                <a:ea typeface="Work Sans" pitchFamily="34" charset="-122"/>
                <a:cs typeface="Work Sans" pitchFamily="34" charset="-120"/>
              </a:rPr>
              <a:t>Describe outcomes in plain English; include the page and exact wording you want.</a:t>
            </a:r>
            <a:endParaRPr lang="en-US" sz="1150" dirty="0"/>
          </a:p>
          <a:p>
            <a:pPr indent="0" marL="0">
              <a:lnSpc>
                <a:spcPts val="1650"/>
              </a:lnSpc>
              <a:spcAft>
                <a:spcPts val="700"/>
              </a:spcAft>
              <a:buNone/>
            </a:pPr>
            <a:r>
              <a:rPr lang="en-US" sz="1150" dirty="0">
                <a:solidFill>
                  <a:srgbClr val="FFFFFF"/>
                </a:solidFill>
                <a:latin typeface="Work Sans" pitchFamily="34" charset="0"/>
                <a:ea typeface="Work Sans" pitchFamily="34" charset="-122"/>
                <a:cs typeface="Work Sans" pitchFamily="34" charset="-120"/>
              </a:rPr>
              <a:t>Repository missing from the list? You are connected as the wrong GitHub account — Settings → Connectors.</a:t>
            </a:r>
            <a:endParaRPr lang="en-US" sz="1150" dirty="0"/>
          </a:p>
          <a:p>
            <a:pPr indent="0" marL="0">
              <a:lnSpc>
                <a:spcPts val="1650"/>
              </a:lnSpc>
              <a:spcAft>
                <a:spcPts val="700"/>
              </a:spcAft>
              <a:buNone/>
            </a:pPr>
            <a:r>
              <a:rPr lang="en-US" sz="1150" dirty="0">
                <a:solidFill>
                  <a:srgbClr val="FFFFFF"/>
                </a:solidFill>
                <a:latin typeface="Work Sans" pitchFamily="34" charset="0"/>
                <a:ea typeface="Work Sans" pitchFamily="34" charset="-122"/>
                <a:cs typeface="Work Sans" pitchFamily="34" charset="-120"/>
              </a:rPr>
              <a:t>Ask for a branch and you get a preview address; the live site only moves when it is merged.</a:t>
            </a:r>
            <a:endParaRPr lang="en-US" sz="1150" dirty="0"/>
          </a:p>
          <a:p>
            <a:pPr indent="0" marL="0">
              <a:lnSpc>
                <a:spcPts val="1650"/>
              </a:lnSpc>
              <a:spcAft>
                <a:spcPts val="700"/>
              </a:spcAft>
              <a:buNone/>
            </a:pPr>
            <a:r>
              <a:rPr lang="en-US" sz="1150" dirty="0">
                <a:solidFill>
                  <a:srgbClr val="FFFFFF"/>
                </a:solidFill>
                <a:latin typeface="Work Sans" pitchFamily="34" charset="0"/>
                <a:ea typeface="Work Sans" pitchFamily="34" charset="-122"/>
                <a:cs typeface="Work Sans" pitchFamily="34" charset="-120"/>
              </a:rPr>
              <a:t>End with “…then commit and push the change”, then verify on the live page.</a:t>
            </a:r>
            <a:endParaRPr lang="en-US" sz="1150" dirty="0"/>
          </a:p>
          <a:p>
            <a:pPr indent="0" marL="0">
              <a:lnSpc>
                <a:spcPts val="1650"/>
              </a:lnSpc>
              <a:spcAft>
                <a:spcPts val="700"/>
              </a:spcAft>
              <a:buNone/>
            </a:pPr>
            <a:r>
              <a:rPr lang="en-US" sz="1150" dirty="0">
                <a:solidFill>
                  <a:srgbClr val="FFFFFF"/>
                </a:solidFill>
                <a:latin typeface="Work Sans" pitchFamily="34" charset="0"/>
                <a:ea typeface="Work Sans" pitchFamily="34" charset="-122"/>
                <a:cs typeface="Work Sans" pitchFamily="34" charset="-120"/>
              </a:rPr>
              <a:t>New development = one request with five ingredients.</a:t>
            </a:r>
            <a:endParaRPr lang="en-US" sz="1150" dirty="0"/>
          </a:p>
          <a:p>
            <a:pPr indent="0" marL="0">
              <a:lnSpc>
                <a:spcPts val="1650"/>
              </a:lnSpc>
              <a:spcAft>
                <a:spcPts val="700"/>
              </a:spcAft>
              <a:buNone/>
            </a:pPr>
            <a:r>
              <a:rPr lang="en-US" sz="1150" dirty="0">
                <a:solidFill>
                  <a:srgbClr val="FFFFFF"/>
                </a:solidFill>
                <a:latin typeface="Work Sans" pitchFamily="34" charset="0"/>
                <a:ea typeface="Work Sans" pitchFamily="34" charset="-122"/>
                <a:cs typeface="Work Sans" pitchFamily="34" charset="-120"/>
              </a:rPr>
              <a:t>Ask for outcomes and the specialist skills load themselves.</a:t>
            </a:r>
            <a:endParaRPr lang="en-US" sz="1150" dirty="0"/>
          </a:p>
        </p:txBody>
      </p:sp>
      <p:sp>
        <p:nvSpPr>
          <p:cNvPr id="10" name="Shape 8"/>
          <p:cNvSpPr/>
          <p:nvPr/>
        </p:nvSpPr>
        <p:spPr>
          <a:xfrm>
            <a:off x="7818120" y="1828800"/>
            <a:ext cx="0" cy="3291840"/>
          </a:xfrm>
          <a:prstGeom prst="line">
            <a:avLst/>
          </a:prstGeom>
          <a:noFill/>
          <a:ln w="9525">
            <a:solidFill>
              <a:srgbClr val="3A3A3A"/>
            </a:solidFill>
            <a:prstDash val="solid"/>
          </a:ln>
        </p:spPr>
      </p:sp>
      <p:sp>
        <p:nvSpPr>
          <p:cNvPr id="11" name="Text 9"/>
          <p:cNvSpPr/>
          <p:nvPr/>
        </p:nvSpPr>
        <p:spPr>
          <a:xfrm>
            <a:off x="8183880" y="1828800"/>
            <a:ext cx="3383280" cy="219456"/>
          </a:xfrm>
          <a:prstGeom prst="rect">
            <a:avLst/>
          </a:prstGeom>
          <a:noFill/>
          <a:ln/>
        </p:spPr>
        <p:txBody>
          <a:bodyPr wrap="square" lIns="0" tIns="0" rIns="0" bIns="0" rtlCol="0" anchor="ctr"/>
          <a:lstStyle/>
          <a:p>
            <a:pPr indent="0" marL="0">
              <a:buNone/>
            </a:pPr>
            <a:r>
              <a:rPr lang="en-US" sz="850" spc="240" kern="0" dirty="0">
                <a:solidFill>
                  <a:srgbClr val="B9BDBE"/>
                </a:solidFill>
                <a:latin typeface="Work Sans" pitchFamily="34" charset="0"/>
                <a:ea typeface="Work Sans" pitchFamily="34" charset="-122"/>
                <a:cs typeface="Work Sans" pitchFamily="34" charset="-120"/>
              </a:rPr>
              <a:t>WHERE TO GET HELP</a:t>
            </a:r>
            <a:endParaRPr lang="en-US" sz="850" dirty="0"/>
          </a:p>
        </p:txBody>
      </p:sp>
      <p:sp>
        <p:nvSpPr>
          <p:cNvPr id="12" name="Text 10"/>
          <p:cNvSpPr/>
          <p:nvPr/>
        </p:nvSpPr>
        <p:spPr>
          <a:xfrm>
            <a:off x="8183880" y="2194560"/>
            <a:ext cx="3429000" cy="2926080"/>
          </a:xfrm>
          <a:prstGeom prst="rect">
            <a:avLst/>
          </a:prstGeom>
          <a:noFill/>
          <a:ln/>
        </p:spPr>
        <p:txBody>
          <a:bodyPr wrap="square" lIns="0" tIns="0" rIns="0" bIns="0" rtlCol="0" anchor="t"/>
          <a:lstStyle/>
          <a:p>
            <a:pPr indent="0" marL="0">
              <a:lnSpc>
                <a:spcPts val="1500"/>
              </a:lnSpc>
              <a:spcAft>
                <a:spcPts val="900"/>
              </a:spcAft>
              <a:buNone/>
            </a:pPr>
            <a:r>
              <a:rPr lang="en-US" sz="1050" dirty="0">
                <a:solidFill>
                  <a:srgbClr val="B9BDBE"/>
                </a:solidFill>
                <a:latin typeface="Work Sans" pitchFamily="34" charset="0"/>
                <a:ea typeface="Work Sans" pitchFamily="34" charset="-122"/>
                <a:cs typeface="Work Sans" pitchFamily="34" charset="-120"/>
              </a:rPr>
              <a:t>The written walkthrough: /admin/guide → “Making changes with Claude”.</a:t>
            </a:r>
            <a:endParaRPr lang="en-US" sz="1050" dirty="0"/>
          </a:p>
          <a:p>
            <a:pPr indent="0" marL="0">
              <a:lnSpc>
                <a:spcPts val="1500"/>
              </a:lnSpc>
              <a:spcAft>
                <a:spcPts val="900"/>
              </a:spcAft>
              <a:buNone/>
            </a:pPr>
            <a:r>
              <a:rPr lang="en-US" sz="1050" dirty="0">
                <a:solidFill>
                  <a:srgbClr val="B9BDBE"/>
                </a:solidFill>
                <a:latin typeface="Work Sans" pitchFamily="34" charset="0"/>
                <a:ea typeface="Work Sans" pitchFamily="34" charset="-122"/>
                <a:cs typeface="Work Sans" pitchFamily="34" charset="-120"/>
              </a:rPr>
              <a:t>Stuck mid-session? Ask Claude itself: “explain what just happened” works.</a:t>
            </a:r>
            <a:endParaRPr lang="en-US" sz="1050" dirty="0"/>
          </a:p>
          <a:p>
            <a:pPr indent="0" marL="0">
              <a:lnSpc>
                <a:spcPts val="1500"/>
              </a:lnSpc>
              <a:spcAft>
                <a:spcPts val="900"/>
              </a:spcAft>
              <a:buNone/>
            </a:pPr>
            <a:r>
              <a:rPr lang="en-US" sz="1050" dirty="0">
                <a:solidFill>
                  <a:srgbClr val="B9BDBE"/>
                </a:solidFill>
                <a:latin typeface="Work Sans" pitchFamily="34" charset="0"/>
                <a:ea typeface="Work Sans" pitchFamily="34" charset="-122"/>
                <a:cs typeface="Work Sans" pitchFamily="34" charset="-120"/>
              </a:rPr>
              <a:t>Access to claude.ai/code, or to the Vercel dashboard: ask the development team once.</a:t>
            </a:r>
            <a:endParaRPr lang="en-US" sz="1050" dirty="0"/>
          </a:p>
        </p:txBody>
      </p:sp>
      <p:sp>
        <p:nvSpPr>
          <p:cNvPr id="13" name="Text 11"/>
          <p:cNvSpPr/>
          <p:nvPr/>
        </p:nvSpPr>
        <p:spPr>
          <a:xfrm>
            <a:off x="0" y="5806440"/>
            <a:ext cx="12191421" cy="457200"/>
          </a:xfrm>
          <a:prstGeom prst="rect">
            <a:avLst/>
          </a:prstGeom>
          <a:noFill/>
          <a:ln/>
        </p:spPr>
        <p:txBody>
          <a:bodyPr wrap="square" lIns="0" tIns="0" rIns="0" bIns="0" rtlCol="0" anchor="ctr"/>
          <a:lstStyle/>
          <a:p>
            <a:pPr algn="ctr" indent="0" marL="0">
              <a:buNone/>
            </a:pPr>
            <a:r>
              <a:rPr lang="en-US" sz="2000" spc="1500" kern="0" dirty="0">
                <a:solidFill>
                  <a:srgbClr val="FFFFFF"/>
                </a:solidFill>
                <a:latin typeface="Work Sans" pitchFamily="34" charset="0"/>
                <a:ea typeface="Work Sans" pitchFamily="34" charset="-122"/>
                <a:cs typeface="Work Sans" pitchFamily="34" charset="-120"/>
              </a:rPr>
              <a:t>SATIS</a:t>
            </a:r>
            <a:endParaRPr lang="en-US" sz="2000" dirty="0"/>
          </a:p>
        </p:txBody>
      </p:sp>
      <p:sp>
        <p:nvSpPr>
          <p:cNvPr id="14" name="Text 12"/>
          <p:cNvSpPr/>
          <p:nvPr/>
        </p:nvSpPr>
        <p:spPr>
          <a:xfrm>
            <a:off x="0" y="6236208"/>
            <a:ext cx="12191421" cy="219456"/>
          </a:xfrm>
          <a:prstGeom prst="rect">
            <a:avLst/>
          </a:prstGeom>
          <a:noFill/>
          <a:ln/>
        </p:spPr>
        <p:txBody>
          <a:bodyPr wrap="square" lIns="0" tIns="0" rIns="0" bIns="0" rtlCol="0" anchor="ctr"/>
          <a:lstStyle/>
          <a:p>
            <a:pPr algn="ctr" indent="0" marL="0">
              <a:buNone/>
            </a:pPr>
            <a:r>
              <a:rPr lang="en-US" sz="750" spc="600" kern="0" dirty="0">
                <a:solidFill>
                  <a:srgbClr val="B9BDBE"/>
                </a:solidFill>
                <a:latin typeface="Work Sans" pitchFamily="34" charset="0"/>
                <a:ea typeface="Work Sans" pitchFamily="34" charset="-122"/>
                <a:cs typeface="Work Sans" pitchFamily="34" charset="-120"/>
              </a:rPr>
              <a:t>GROUP</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ACCESS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05</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Connecting Claude to a different GitHub account.</a:t>
            </a:r>
            <a:endParaRPr lang="en-US" sz="2500" dirty="0"/>
          </a:p>
        </p:txBody>
      </p:sp>
      <p:sp>
        <p:nvSpPr>
          <p:cNvPr id="9" name="Text 7"/>
          <p:cNvSpPr/>
          <p:nvPr/>
        </p:nvSpPr>
        <p:spPr>
          <a:xfrm>
            <a:off x="566928" y="1517904"/>
            <a:ext cx="106070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The repositories you can pick in a session are exactly the ones the connected GitHub account can see. Working on a site owned by another account or organisation means changing that connection. It is a one-time job.</a:t>
            </a:r>
            <a:endParaRPr lang="en-US" sz="1150" dirty="0"/>
          </a:p>
        </p:txBody>
      </p:sp>
      <p:sp>
        <p:nvSpPr>
          <p:cNvPr id="10" name="Shape 8"/>
          <p:cNvSpPr/>
          <p:nvPr/>
        </p:nvSpPr>
        <p:spPr>
          <a:xfrm>
            <a:off x="566928" y="2098548"/>
            <a:ext cx="246888" cy="246888"/>
          </a:xfrm>
          <a:prstGeom prst="ellipse">
            <a:avLst/>
          </a:prstGeom>
          <a:solidFill>
            <a:srgbClr val="B3400C"/>
          </a:solidFill>
          <a:ln/>
        </p:spPr>
      </p:sp>
      <p:sp>
        <p:nvSpPr>
          <p:cNvPr id="11" name="Text 9"/>
          <p:cNvSpPr/>
          <p:nvPr/>
        </p:nvSpPr>
        <p:spPr>
          <a:xfrm>
            <a:off x="521208" y="2072945"/>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2" name="Text 10"/>
          <p:cNvSpPr/>
          <p:nvPr/>
        </p:nvSpPr>
        <p:spPr>
          <a:xfrm>
            <a:off x="987552" y="2084832"/>
            <a:ext cx="4846320"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Settings → Connectors → GitHub</a:t>
            </a:r>
            <a:endParaRPr lang="en-US" sz="1200" dirty="0"/>
          </a:p>
        </p:txBody>
      </p:sp>
      <p:sp>
        <p:nvSpPr>
          <p:cNvPr id="13" name="Text 11"/>
          <p:cNvSpPr/>
          <p:nvPr/>
        </p:nvSpPr>
        <p:spPr>
          <a:xfrm>
            <a:off x="987552" y="2359152"/>
            <a:ext cx="4846320" cy="415138"/>
          </a:xfrm>
          <a:prstGeom prst="rect">
            <a:avLst/>
          </a:prstGeom>
          <a:noFill/>
          <a:ln/>
        </p:spPr>
        <p:txBody>
          <a:bodyPr wrap="square" lIns="0" tIns="0" rIns="0" bIns="0" rtlCol="0" anchor="t"/>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In claude.ai, open Settings, then Connectors. The GitHub row names the account in use.</a:t>
            </a:r>
            <a:endParaRPr lang="en-US" sz="1050" dirty="0"/>
          </a:p>
        </p:txBody>
      </p:sp>
      <p:sp>
        <p:nvSpPr>
          <p:cNvPr id="14" name="Shape 12"/>
          <p:cNvSpPr/>
          <p:nvPr/>
        </p:nvSpPr>
        <p:spPr>
          <a:xfrm>
            <a:off x="566928" y="2912364"/>
            <a:ext cx="246888" cy="246888"/>
          </a:xfrm>
          <a:prstGeom prst="ellipse">
            <a:avLst/>
          </a:prstGeom>
          <a:solidFill>
            <a:srgbClr val="B3400C"/>
          </a:solidFill>
          <a:ln/>
        </p:spPr>
      </p:sp>
      <p:sp>
        <p:nvSpPr>
          <p:cNvPr id="15" name="Text 13"/>
          <p:cNvSpPr/>
          <p:nvPr/>
        </p:nvSpPr>
        <p:spPr>
          <a:xfrm>
            <a:off x="521208" y="2886761"/>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6" name="Text 14"/>
          <p:cNvSpPr/>
          <p:nvPr/>
        </p:nvSpPr>
        <p:spPr>
          <a:xfrm>
            <a:off x="987552" y="2898648"/>
            <a:ext cx="4846320"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Choose Reconnect</a:t>
            </a:r>
            <a:endParaRPr lang="en-US" sz="1200" dirty="0"/>
          </a:p>
        </p:txBody>
      </p:sp>
      <p:sp>
        <p:nvSpPr>
          <p:cNvPr id="17" name="Text 15"/>
          <p:cNvSpPr/>
          <p:nvPr/>
        </p:nvSpPr>
        <p:spPr>
          <a:xfrm>
            <a:off x="987552" y="3172968"/>
            <a:ext cx="4846320" cy="415138"/>
          </a:xfrm>
          <a:prstGeom prst="rect">
            <a:avLst/>
          </a:prstGeom>
          <a:noFill/>
          <a:ln/>
        </p:spPr>
        <p:txBody>
          <a:bodyPr wrap="square" lIns="0" tIns="0" rIns="0" bIns="0" rtlCol="0" anchor="t"/>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Or Disconnect and then Connect. Either way GitHub asks you to authorise the connection again.</a:t>
            </a:r>
            <a:endParaRPr lang="en-US" sz="1050" dirty="0"/>
          </a:p>
        </p:txBody>
      </p:sp>
      <p:sp>
        <p:nvSpPr>
          <p:cNvPr id="18" name="Shape 16"/>
          <p:cNvSpPr/>
          <p:nvPr/>
        </p:nvSpPr>
        <p:spPr>
          <a:xfrm>
            <a:off x="566928" y="3726180"/>
            <a:ext cx="246888" cy="246888"/>
          </a:xfrm>
          <a:prstGeom prst="ellipse">
            <a:avLst/>
          </a:prstGeom>
          <a:solidFill>
            <a:srgbClr val="B3400C"/>
          </a:solidFill>
          <a:ln/>
        </p:spPr>
      </p:sp>
      <p:sp>
        <p:nvSpPr>
          <p:cNvPr id="19" name="Text 17"/>
          <p:cNvSpPr/>
          <p:nvPr/>
        </p:nvSpPr>
        <p:spPr>
          <a:xfrm>
            <a:off x="521208" y="3700577"/>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20" name="Text 18"/>
          <p:cNvSpPr/>
          <p:nvPr/>
        </p:nvSpPr>
        <p:spPr>
          <a:xfrm>
            <a:off x="987552" y="3712464"/>
            <a:ext cx="4846320"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Sign in as the other account</a:t>
            </a:r>
            <a:endParaRPr lang="en-US" sz="1200" dirty="0"/>
          </a:p>
        </p:txBody>
      </p:sp>
      <p:sp>
        <p:nvSpPr>
          <p:cNvPr id="21" name="Text 19"/>
          <p:cNvSpPr/>
          <p:nvPr/>
        </p:nvSpPr>
        <p:spPr>
          <a:xfrm>
            <a:off x="987552" y="3986784"/>
            <a:ext cx="4846320" cy="415138"/>
          </a:xfrm>
          <a:prstGeom prst="rect">
            <a:avLst/>
          </a:prstGeom>
          <a:noFill/>
          <a:ln/>
        </p:spPr>
        <p:txBody>
          <a:bodyPr wrap="square" lIns="0" tIns="0" rIns="0" bIns="0" rtlCol="0" anchor="t"/>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If the browser signs you straight back in as the old one, sign out of github.com first, then retry.</a:t>
            </a:r>
            <a:endParaRPr lang="en-US" sz="1050" dirty="0"/>
          </a:p>
        </p:txBody>
      </p:sp>
      <p:sp>
        <p:nvSpPr>
          <p:cNvPr id="22" name="Shape 20"/>
          <p:cNvSpPr/>
          <p:nvPr/>
        </p:nvSpPr>
        <p:spPr>
          <a:xfrm>
            <a:off x="566928" y="4617720"/>
            <a:ext cx="5266944" cy="1325880"/>
          </a:xfrm>
          <a:prstGeom prst="rect">
            <a:avLst/>
          </a:prstGeom>
          <a:solidFill>
            <a:srgbClr val="ECEEEE"/>
          </a:solidFill>
          <a:ln/>
        </p:spPr>
      </p:sp>
      <p:sp>
        <p:nvSpPr>
          <p:cNvPr id="23" name="Text 21"/>
          <p:cNvSpPr/>
          <p:nvPr/>
        </p:nvSpPr>
        <p:spPr>
          <a:xfrm>
            <a:off x="786384" y="4764024"/>
            <a:ext cx="4828032"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4" name="Text 22"/>
          <p:cNvSpPr/>
          <p:nvPr/>
        </p:nvSpPr>
        <p:spPr>
          <a:xfrm>
            <a:off x="786384" y="4983480"/>
            <a:ext cx="4828032" cy="813816"/>
          </a:xfrm>
          <a:prstGeom prst="rect">
            <a:avLst/>
          </a:prstGeom>
          <a:noFill/>
          <a:ln/>
        </p:spPr>
        <p:txBody>
          <a:bodyPr wrap="square" lIns="0" tIns="0" rIns="0" bIns="0" rtlCol="0" anchor="t"/>
          <a:lstStyle/>
          <a:p>
            <a:pPr indent="0" marL="0">
              <a:lnSpc>
                <a:spcPts val="1380"/>
              </a:lnSpc>
              <a:buNone/>
            </a:pPr>
            <a:r>
              <a:rPr lang="en-US" sz="1100" b="1" dirty="0">
                <a:solidFill>
                  <a:srgbClr val="000000"/>
                </a:solidFill>
                <a:latin typeface="Work Sans" pitchFamily="34" charset="0"/>
                <a:ea typeface="Work Sans" pitchFamily="34" charset="-122"/>
                <a:cs typeface="Work Sans" pitchFamily="34" charset="-120"/>
              </a:rPr>
              <a:t>Two things people confuse
</a:t>
            </a:r>
            <a:pPr indent="0" marL="0">
              <a:lnSpc>
                <a:spcPts val="1380"/>
              </a:lnSpc>
              <a:buNone/>
            </a:pPr>
            <a:r>
              <a:rPr lang="en-US" sz="1000" dirty="0">
                <a:solidFill>
                  <a:srgbClr val="5C6366"/>
                </a:solidFill>
                <a:latin typeface="Work Sans" pitchFamily="34" charset="0"/>
                <a:ea typeface="Work Sans" pitchFamily="34" charset="-122"/>
                <a:cs typeface="Work Sans" pitchFamily="34" charset="-120"/>
              </a:rPr>
              <a:t>A session can reach any repository the connected account can see. Installing the Claude app on a repository is a separate step — that is what switches on pull-request previews and automatic CI fixes.</a:t>
            </a:r>
            <a:endParaRPr lang="en-US" sz="1100" dirty="0"/>
          </a:p>
        </p:txBody>
      </p:sp>
      <p:pic>
        <p:nvPicPr>
          <p:cNvPr id="25" name="Image 0" descr="/tmp/claude-0/-home-user-satis-group-website/413e3116-b2ac-5c73-95bb-0277a69048d6/scratchpad/shots/claude-connectors.png">    </p:cNvPr>
          <p:cNvPicPr>
            <a:picLocks noChangeAspect="1"/>
          </p:cNvPicPr>
          <p:nvPr/>
        </p:nvPicPr>
        <p:blipFill>
          <a:blip r:embed="rId1"/>
          <a:stretch>
            <a:fillRect/>
          </a:stretch>
        </p:blipFill>
        <p:spPr>
          <a:xfrm>
            <a:off x="6053328" y="2011680"/>
            <a:ext cx="5568696" cy="2766974"/>
          </a:xfrm>
          <a:prstGeom prst="rect">
            <a:avLst/>
          </a:prstGeom>
        </p:spPr>
      </p:pic>
      <p:sp>
        <p:nvSpPr>
          <p:cNvPr id="26" name="Text 23"/>
          <p:cNvSpPr/>
          <p:nvPr/>
        </p:nvSpPr>
        <p:spPr>
          <a:xfrm>
            <a:off x="6053328" y="4998082"/>
            <a:ext cx="5568696" cy="640080"/>
          </a:xfrm>
          <a:prstGeom prst="rect">
            <a:avLst/>
          </a:prstGeom>
          <a:noFill/>
          <a:ln/>
        </p:spPr>
        <p:txBody>
          <a:bodyPr wrap="square" lIns="0" tIns="0" rIns="0" bIns="0" rtlCol="0" anchor="t"/>
          <a:lstStyle/>
          <a:p>
            <a:pPr indent="0" marL="0">
              <a:lnSpc>
                <a:spcPts val="1400"/>
              </a:lnSpc>
              <a:buNone/>
            </a:pPr>
            <a:r>
              <a:rPr lang="en-US" sz="1100" b="1" dirty="0">
                <a:solidFill>
                  <a:srgbClr val="000000"/>
                </a:solidFill>
                <a:latin typeface="Work Sans" pitchFamily="34" charset="0"/>
                <a:ea typeface="Work Sans" pitchFamily="34" charset="-122"/>
                <a:cs typeface="Work Sans" pitchFamily="34" charset="-120"/>
              </a:rPr>
              <a:t>claude.ai → Settings → Connectors
</a:t>
            </a:r>
            <a:pPr indent="0" marL="0">
              <a:lnSpc>
                <a:spcPts val="1400"/>
              </a:lnSpc>
              <a:buNone/>
            </a:pPr>
            <a:r>
              <a:rPr lang="en-US" sz="1000" dirty="0">
                <a:solidFill>
                  <a:srgbClr val="5C6366"/>
                </a:solidFill>
                <a:latin typeface="Work Sans" pitchFamily="34" charset="0"/>
                <a:ea typeface="Work Sans" pitchFamily="34" charset="-122"/>
                <a:cs typeface="Work Sans" pitchFamily="34" charset="-120"/>
              </a:rPr>
              <a:t>The account named here is the one every session will use. Change it here and the repository list changes with it.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ACCESS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06</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Choosing the account, then the repositories.</a:t>
            </a:r>
            <a:endParaRPr lang="en-US" sz="2500" dirty="0"/>
          </a:p>
        </p:txBody>
      </p:sp>
      <p:sp>
        <p:nvSpPr>
          <p:cNvPr id="9" name="Text 7"/>
          <p:cNvSpPr/>
          <p:nvPr/>
        </p:nvSpPr>
        <p:spPr>
          <a:xfrm>
            <a:off x="566928" y="1517904"/>
            <a:ext cx="106070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GitHub then asks two questions in turn: whose repositories, and which of them. Answer both for the organisation that owns the site.</a:t>
            </a:r>
            <a:endParaRPr lang="en-US" sz="1150" dirty="0"/>
          </a:p>
        </p:txBody>
      </p:sp>
      <p:pic>
        <p:nvPicPr>
          <p:cNvPr id="10" name="Image 0" descr="/tmp/claude-0/-home-user-satis-group-website/413e3116-b2ac-5c73-95bb-0277a69048d6/scratchpad/shots/github-choose-account.png">    </p:cNvPr>
          <p:cNvPicPr>
            <a:picLocks noChangeAspect="1"/>
          </p:cNvPicPr>
          <p:nvPr/>
        </p:nvPicPr>
        <p:blipFill>
          <a:blip r:embed="rId1"/>
          <a:stretch>
            <a:fillRect/>
          </a:stretch>
        </p:blipFill>
        <p:spPr>
          <a:xfrm>
            <a:off x="566928" y="2103120"/>
            <a:ext cx="5167274" cy="2852928"/>
          </a:xfrm>
          <a:prstGeom prst="rect">
            <a:avLst/>
          </a:prstGeom>
        </p:spPr>
      </p:pic>
      <p:pic>
        <p:nvPicPr>
          <p:cNvPr id="11" name="Image 1" descr="/tmp/claude-0/-home-user-satis-group-website/413e3116-b2ac-5c73-95bb-0277a69048d6/scratchpad/shots/github-repo-access.png">    </p:cNvPr>
          <p:cNvPicPr>
            <a:picLocks noChangeAspect="1"/>
          </p:cNvPicPr>
          <p:nvPr/>
        </p:nvPicPr>
        <p:blipFill>
          <a:blip r:embed="rId2"/>
          <a:stretch>
            <a:fillRect/>
          </a:stretch>
        </p:blipFill>
        <p:spPr>
          <a:xfrm>
            <a:off x="6734033" y="2103120"/>
            <a:ext cx="4891126" cy="2852928"/>
          </a:xfrm>
          <a:prstGeom prst="rect">
            <a:avLst/>
          </a:prstGeom>
        </p:spPr>
      </p:pic>
      <p:sp>
        <p:nvSpPr>
          <p:cNvPr id="12" name="Text 8"/>
          <p:cNvSpPr/>
          <p:nvPr/>
        </p:nvSpPr>
        <p:spPr>
          <a:xfrm>
            <a:off x="566928" y="5193792"/>
            <a:ext cx="4984394" cy="1051560"/>
          </a:xfrm>
          <a:prstGeom prst="rect">
            <a:avLst/>
          </a:prstGeom>
          <a:noFill/>
          <a:ln/>
        </p:spPr>
        <p:txBody>
          <a:bodyPr wrap="square" lIns="0" tIns="0" rIns="0" bIns="0" rtlCol="0" anchor="t"/>
          <a:lstStyle/>
          <a:p>
            <a:pPr indent="0" marL="0">
              <a:lnSpc>
                <a:spcPts val="1400"/>
              </a:lnSpc>
              <a:buNone/>
            </a:pPr>
            <a:r>
              <a:rPr lang="en-US" sz="1100" b="1" dirty="0">
                <a:solidFill>
                  <a:srgbClr val="000000"/>
                </a:solidFill>
                <a:latin typeface="Work Sans" pitchFamily="34" charset="0"/>
                <a:ea typeface="Work Sans" pitchFamily="34" charset="-122"/>
                <a:cs typeface="Work Sans" pitchFamily="34" charset="-120"/>
              </a:rPr>
              <a:t>1 — Where do you want to install Claude?
</a:t>
            </a:r>
            <a:pPr indent="0" marL="0">
              <a:lnSpc>
                <a:spcPts val="1400"/>
              </a:lnSpc>
              <a:buNone/>
            </a:pPr>
            <a:r>
              <a:rPr lang="en-US" sz="1000" dirty="0">
                <a:solidFill>
                  <a:srgbClr val="5C6366"/>
                </a:solidFill>
                <a:latin typeface="Work Sans" pitchFamily="34" charset="0"/>
                <a:ea typeface="Work Sans" pitchFamily="34" charset="-122"/>
                <a:cs typeface="Work Sans" pitchFamily="34" charset="-120"/>
              </a:rPr>
              <a:t>Pick the organisation that owns the site: Satisgroup-1. Your personal account will not contain it. If the organisation is missing from the list, a GitHub owner has to approve the Claude app once.</a:t>
            </a:r>
            <a:endParaRPr lang="en-US" sz="1100" dirty="0"/>
          </a:p>
        </p:txBody>
      </p:sp>
      <p:sp>
        <p:nvSpPr>
          <p:cNvPr id="13" name="Text 9"/>
          <p:cNvSpPr/>
          <p:nvPr/>
        </p:nvSpPr>
        <p:spPr>
          <a:xfrm>
            <a:off x="6733642" y="5193792"/>
            <a:ext cx="4891126" cy="1051560"/>
          </a:xfrm>
          <a:prstGeom prst="rect">
            <a:avLst/>
          </a:prstGeom>
          <a:noFill/>
          <a:ln/>
        </p:spPr>
        <p:txBody>
          <a:bodyPr wrap="square" lIns="0" tIns="0" rIns="0" bIns="0" rtlCol="0" anchor="t"/>
          <a:lstStyle/>
          <a:p>
            <a:pPr indent="0" marL="0">
              <a:lnSpc>
                <a:spcPts val="1400"/>
              </a:lnSpc>
              <a:buNone/>
            </a:pPr>
            <a:r>
              <a:rPr lang="en-US" sz="1100" b="1" dirty="0">
                <a:solidFill>
                  <a:srgbClr val="000000"/>
                </a:solidFill>
                <a:latin typeface="Work Sans" pitchFamily="34" charset="0"/>
                <a:ea typeface="Work Sans" pitchFamily="34" charset="-122"/>
                <a:cs typeface="Work Sans" pitchFamily="34" charset="-120"/>
              </a:rPr>
              <a:t>2 — Repository access
</a:t>
            </a:r>
            <a:pPr indent="0" marL="0">
              <a:lnSpc>
                <a:spcPts val="1400"/>
              </a:lnSpc>
              <a:buNone/>
            </a:pPr>
            <a:r>
              <a:rPr lang="en-US" sz="1000" dirty="0">
                <a:solidFill>
                  <a:srgbClr val="5C6366"/>
                </a:solidFill>
                <a:latin typeface="Work Sans" pitchFamily="34" charset="0"/>
                <a:ea typeface="Work Sans" pitchFamily="34" charset="-122"/>
                <a:cs typeface="Work Sans" pitchFamily="34" charset="-120"/>
              </a:rPr>
              <a:t>Choose “Only select repositories” and tick satis-group-website, then Install &amp; Authorize. To change it later: github.com → Settings → Applications → Claude → Configure.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PREVIEWS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10</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Seeing a change before it goes live.</a:t>
            </a:r>
            <a:endParaRPr lang="en-US" sz="2500" dirty="0"/>
          </a:p>
        </p:txBody>
      </p:sp>
      <p:sp>
        <p:nvSpPr>
          <p:cNvPr id="9" name="Text 7"/>
          <p:cNvSpPr/>
          <p:nvPr/>
        </p:nvSpPr>
        <p:spPr>
          <a:xfrm>
            <a:off x="566928" y="1517904"/>
            <a:ext cx="106070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Every branch gets its own private copy of the whole website, at its own web address. Vercel builds it automatically. Nothing on www.satisgroup.co.uk moves until that branch is merged.</a:t>
            </a:r>
            <a:endParaRPr lang="en-US" sz="1150" dirty="0"/>
          </a:p>
        </p:txBody>
      </p:sp>
      <p:sp>
        <p:nvSpPr>
          <p:cNvPr id="10" name="Shape 8"/>
          <p:cNvSpPr/>
          <p:nvPr/>
        </p:nvSpPr>
        <p:spPr>
          <a:xfrm>
            <a:off x="566928" y="2098548"/>
            <a:ext cx="246888" cy="246888"/>
          </a:xfrm>
          <a:prstGeom prst="ellipse">
            <a:avLst/>
          </a:prstGeom>
          <a:solidFill>
            <a:srgbClr val="B3400C"/>
          </a:solidFill>
          <a:ln/>
        </p:spPr>
      </p:sp>
      <p:sp>
        <p:nvSpPr>
          <p:cNvPr id="11" name="Text 9"/>
          <p:cNvSpPr/>
          <p:nvPr/>
        </p:nvSpPr>
        <p:spPr>
          <a:xfrm>
            <a:off x="521208" y="2072945"/>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2" name="Text 10"/>
          <p:cNvSpPr/>
          <p:nvPr/>
        </p:nvSpPr>
        <p:spPr>
          <a:xfrm>
            <a:off x="987552" y="2084832"/>
            <a:ext cx="4937760"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Ask for a branch, not a direct change</a:t>
            </a:r>
            <a:endParaRPr lang="en-US" sz="1200" dirty="0"/>
          </a:p>
        </p:txBody>
      </p:sp>
      <p:sp>
        <p:nvSpPr>
          <p:cNvPr id="13" name="Text 11"/>
          <p:cNvSpPr/>
          <p:nvPr/>
        </p:nvSpPr>
        <p:spPr>
          <a:xfrm>
            <a:off x="987552" y="2359152"/>
            <a:ext cx="4937760" cy="415138"/>
          </a:xfrm>
          <a:prstGeom prst="rect">
            <a:avLst/>
          </a:prstGeom>
          <a:noFill/>
          <a:ln/>
        </p:spPr>
        <p:txBody>
          <a:bodyPr wrap="square" lIns="0" tIns="0" rIns="0" bIns="0" rtlCol="0" anchor="t"/>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End your request with: “…then commit and push to a new branch and open a pull request.” Claude will not touch the live site.</a:t>
            </a:r>
            <a:endParaRPr lang="en-US" sz="1050" dirty="0"/>
          </a:p>
        </p:txBody>
      </p:sp>
      <p:sp>
        <p:nvSpPr>
          <p:cNvPr id="14" name="Shape 12"/>
          <p:cNvSpPr/>
          <p:nvPr/>
        </p:nvSpPr>
        <p:spPr>
          <a:xfrm>
            <a:off x="566928" y="2976372"/>
            <a:ext cx="246888" cy="246888"/>
          </a:xfrm>
          <a:prstGeom prst="ellipse">
            <a:avLst/>
          </a:prstGeom>
          <a:solidFill>
            <a:srgbClr val="B3400C"/>
          </a:solidFill>
          <a:ln/>
        </p:spPr>
      </p:sp>
      <p:sp>
        <p:nvSpPr>
          <p:cNvPr id="15" name="Text 13"/>
          <p:cNvSpPr/>
          <p:nvPr/>
        </p:nvSpPr>
        <p:spPr>
          <a:xfrm>
            <a:off x="521208" y="2950769"/>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6" name="Text 14"/>
          <p:cNvSpPr/>
          <p:nvPr/>
        </p:nvSpPr>
        <p:spPr>
          <a:xfrm>
            <a:off x="987552" y="2962656"/>
            <a:ext cx="4937760"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Vercel builds the preview by itself</a:t>
            </a:r>
            <a:endParaRPr lang="en-US" sz="1200" dirty="0"/>
          </a:p>
        </p:txBody>
      </p:sp>
      <p:sp>
        <p:nvSpPr>
          <p:cNvPr id="17" name="Text 15"/>
          <p:cNvSpPr/>
          <p:nvPr/>
        </p:nvSpPr>
        <p:spPr>
          <a:xfrm>
            <a:off x="987552" y="3236976"/>
            <a:ext cx="4937760" cy="415138"/>
          </a:xfrm>
          <a:prstGeom prst="rect">
            <a:avLst/>
          </a:prstGeom>
          <a:noFill/>
          <a:ln/>
        </p:spPr>
        <p:txBody>
          <a:bodyPr wrap="square" lIns="0" tIns="0" rIns="0" bIns="0" rtlCol="0" anchor="t"/>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Within a minute or two the branch has a complete copy of the site — pages, photographs, navigation, all of it — on its own address.</a:t>
            </a:r>
            <a:endParaRPr lang="en-US" sz="1050" dirty="0"/>
          </a:p>
        </p:txBody>
      </p:sp>
      <p:sp>
        <p:nvSpPr>
          <p:cNvPr id="18" name="Shape 16"/>
          <p:cNvSpPr/>
          <p:nvPr/>
        </p:nvSpPr>
        <p:spPr>
          <a:xfrm>
            <a:off x="566928" y="3854196"/>
            <a:ext cx="246888" cy="246888"/>
          </a:xfrm>
          <a:prstGeom prst="ellipse">
            <a:avLst/>
          </a:prstGeom>
          <a:solidFill>
            <a:srgbClr val="B3400C"/>
          </a:solidFill>
          <a:ln/>
        </p:spPr>
      </p:sp>
      <p:sp>
        <p:nvSpPr>
          <p:cNvPr id="19" name="Text 17"/>
          <p:cNvSpPr/>
          <p:nvPr/>
        </p:nvSpPr>
        <p:spPr>
          <a:xfrm>
            <a:off x="521208" y="382859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20" name="Text 18"/>
          <p:cNvSpPr/>
          <p:nvPr/>
        </p:nvSpPr>
        <p:spPr>
          <a:xfrm>
            <a:off x="987552" y="3840480"/>
            <a:ext cx="4937760"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Ask Claude for the link</a:t>
            </a:r>
            <a:endParaRPr lang="en-US" sz="1200" dirty="0"/>
          </a:p>
        </p:txBody>
      </p:sp>
      <p:sp>
        <p:nvSpPr>
          <p:cNvPr id="21" name="Text 19"/>
          <p:cNvSpPr/>
          <p:nvPr/>
        </p:nvSpPr>
        <p:spPr>
          <a:xfrm>
            <a:off x="987552" y="4114800"/>
            <a:ext cx="4937760" cy="415138"/>
          </a:xfrm>
          <a:prstGeom prst="rect">
            <a:avLst/>
          </a:prstGeom>
          <a:noFill/>
          <a:ln/>
        </p:spPr>
        <p:txBody>
          <a:bodyPr wrap="square" lIns="0" tIns="0" rIns="0" bIns="0" rtlCol="0" anchor="t"/>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“What is the preview URL for this branch?” is the fastest route of all. Claude reads it off the pull request and hands you the address.</a:t>
            </a:r>
            <a:endParaRPr lang="en-US" sz="1050" dirty="0"/>
          </a:p>
        </p:txBody>
      </p:sp>
      <p:sp>
        <p:nvSpPr>
          <p:cNvPr id="22" name="Shape 20"/>
          <p:cNvSpPr/>
          <p:nvPr/>
        </p:nvSpPr>
        <p:spPr>
          <a:xfrm>
            <a:off x="566928" y="4754880"/>
            <a:ext cx="5742432" cy="1188720"/>
          </a:xfrm>
          <a:prstGeom prst="rect">
            <a:avLst/>
          </a:prstGeom>
          <a:solidFill>
            <a:srgbClr val="ECEEEE"/>
          </a:solidFill>
          <a:ln/>
        </p:spPr>
      </p:sp>
      <p:sp>
        <p:nvSpPr>
          <p:cNvPr id="23" name="Text 21"/>
          <p:cNvSpPr/>
          <p:nvPr/>
        </p:nvSpPr>
        <p:spPr>
          <a:xfrm>
            <a:off x="786384" y="4901184"/>
            <a:ext cx="5303520"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4" name="Text 22"/>
          <p:cNvSpPr/>
          <p:nvPr/>
        </p:nvSpPr>
        <p:spPr>
          <a:xfrm>
            <a:off x="786384" y="5120640"/>
            <a:ext cx="5303520" cy="676656"/>
          </a:xfrm>
          <a:prstGeom prst="rect">
            <a:avLst/>
          </a:prstGeom>
          <a:noFill/>
          <a:ln/>
        </p:spPr>
        <p:txBody>
          <a:bodyPr wrap="square" lIns="0" tIns="0" rIns="0" bIns="0" rtlCol="0" anchor="t"/>
          <a:lstStyle/>
          <a:p>
            <a:pPr indent="0" marL="0">
              <a:lnSpc>
                <a:spcPts val="1380"/>
              </a:lnSpc>
              <a:buNone/>
            </a:pPr>
            <a:r>
              <a:rPr lang="en-US" sz="1100" b="1" dirty="0">
                <a:solidFill>
                  <a:srgbClr val="000000"/>
                </a:solidFill>
                <a:latin typeface="Work Sans" pitchFamily="34" charset="0"/>
                <a:ea typeface="Work Sans" pitchFamily="34" charset="-122"/>
                <a:cs typeface="Work Sans" pitchFamily="34" charset="-120"/>
              </a:rPr>
              <a:t>A preview is a rehearsal, not a broadcast
</a:t>
            </a:r>
            <a:pPr indent="0" marL="0">
              <a:lnSpc>
                <a:spcPts val="1380"/>
              </a:lnSpc>
              <a:buNone/>
            </a:pPr>
            <a:r>
              <a:rPr lang="en-US" sz="1000" dirty="0">
                <a:solidFill>
                  <a:srgbClr val="5C6366"/>
                </a:solidFill>
                <a:latin typeface="Work Sans" pitchFamily="34" charset="0"/>
                <a:ea typeface="Work Sans" pitchFamily="34" charset="-122"/>
                <a:cs typeface="Work Sans" pitchFamily="34" charset="-120"/>
              </a:rPr>
              <a:t>The address is unlisted and entirely separate from the live site. Share it, click around it, change your mind — the public site is untouched until someone merges the branch.</a:t>
            </a:r>
            <a:endParaRPr lang="en-US" sz="1100" dirty="0"/>
          </a:p>
        </p:txBody>
      </p:sp>
      <p:pic>
        <p:nvPicPr>
          <p:cNvPr id="25" name="Image 0" descr="/tmp/claude-0/-home-user-satis-group-website/413e3116-b2ac-5c73-95bb-0277a69048d6/scratchpad/shots/vercel-pr-comment.png">    </p:cNvPr>
          <p:cNvPicPr>
            <a:picLocks noChangeAspect="1"/>
          </p:cNvPicPr>
          <p:nvPr/>
        </p:nvPicPr>
        <p:blipFill>
          <a:blip r:embed="rId1"/>
          <a:stretch>
            <a:fillRect/>
          </a:stretch>
        </p:blipFill>
        <p:spPr>
          <a:xfrm>
            <a:off x="6583680" y="2084832"/>
            <a:ext cx="5038344" cy="1925726"/>
          </a:xfrm>
          <a:prstGeom prst="rect">
            <a:avLst/>
          </a:prstGeom>
        </p:spPr>
      </p:pic>
      <p:sp>
        <p:nvSpPr>
          <p:cNvPr id="26" name="Shape 23"/>
          <p:cNvSpPr/>
          <p:nvPr/>
        </p:nvSpPr>
        <p:spPr>
          <a:xfrm>
            <a:off x="6583680" y="4266981"/>
            <a:ext cx="5038344" cy="1645920"/>
          </a:xfrm>
          <a:prstGeom prst="rect">
            <a:avLst/>
          </a:prstGeom>
          <a:solidFill>
            <a:srgbClr val="FFFFFF"/>
          </a:solidFill>
          <a:ln w="9525">
            <a:solidFill>
              <a:srgbClr val="000000"/>
            </a:solidFill>
            <a:prstDash val="solid"/>
          </a:ln>
        </p:spPr>
      </p:sp>
      <p:sp>
        <p:nvSpPr>
          <p:cNvPr id="27" name="Text 24"/>
          <p:cNvSpPr/>
          <p:nvPr/>
        </p:nvSpPr>
        <p:spPr>
          <a:xfrm>
            <a:off x="6803136" y="4413285"/>
            <a:ext cx="4599432"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WHAT YOU SHOULD SEE</a:t>
            </a:r>
            <a:endParaRPr lang="en-US" sz="750" dirty="0"/>
          </a:p>
        </p:txBody>
      </p:sp>
      <p:sp>
        <p:nvSpPr>
          <p:cNvPr id="28" name="Text 25"/>
          <p:cNvSpPr/>
          <p:nvPr/>
        </p:nvSpPr>
        <p:spPr>
          <a:xfrm>
            <a:off x="6803136" y="4632741"/>
            <a:ext cx="4599432" cy="1133856"/>
          </a:xfrm>
          <a:prstGeom prst="rect">
            <a:avLst/>
          </a:prstGeom>
          <a:noFill/>
          <a:ln/>
        </p:spPr>
        <p:txBody>
          <a:bodyPr wrap="square" lIns="0" tIns="0" rIns="0" bIns="0" rtlCol="0" anchor="t"/>
          <a:lstStyle/>
          <a:p>
            <a:pPr indent="0" marL="0">
              <a:lnSpc>
                <a:spcPts val="1380"/>
              </a:lnSpc>
              <a:buNone/>
            </a:pPr>
            <a:r>
              <a:rPr lang="en-US" sz="1100" b="1" dirty="0">
                <a:solidFill>
                  <a:srgbClr val="000000"/>
                </a:solidFill>
                <a:latin typeface="Work Sans" pitchFamily="34" charset="0"/>
                <a:ea typeface="Work Sans" pitchFamily="34" charset="-122"/>
                <a:cs typeface="Work Sans" pitchFamily="34" charset="-120"/>
              </a:rPr>
              <a:t>Every pull request grows a table
</a:t>
            </a:r>
            <a:pPr indent="0" marL="0">
              <a:lnSpc>
                <a:spcPts val="1380"/>
              </a:lnSpc>
              <a:buNone/>
            </a:pPr>
            <a:r>
              <a:rPr lang="en-US" sz="1000" dirty="0">
                <a:solidFill>
                  <a:srgbClr val="5C6366"/>
                </a:solidFill>
                <a:latin typeface="Work Sans" pitchFamily="34" charset="0"/>
                <a:ea typeface="Work Sans" pitchFamily="34" charset="-122"/>
                <a:cs typeface="Work Sans" pitchFamily="34" charset="-120"/>
              </a:rPr>
              <a:t>Vercel posts it as a comment within a couple of minutes: the project name, a green Ready, and a Visit Preview link. That link is your change, working, on its own address — and anyone can open it without a Vercel login.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PREVIEWS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11</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Finding a preview in Vercel, click by click.</a:t>
            </a:r>
            <a:endParaRPr lang="en-US" sz="2500" dirty="0"/>
          </a:p>
        </p:txBody>
      </p:sp>
      <p:sp>
        <p:nvSpPr>
          <p:cNvPr id="9" name="Text 7"/>
          <p:cNvSpPr/>
          <p:nvPr/>
        </p:nvSpPr>
        <p:spPr>
          <a:xfrm>
            <a:off x="566928" y="1517904"/>
            <a:ext cx="106070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If you would rather go and look for yourself, the route is four clicks from the Vercel dashboard. Sign in with the Satis Group team account.</a:t>
            </a:r>
            <a:endParaRPr lang="en-US" sz="1150" dirty="0"/>
          </a:p>
        </p:txBody>
      </p:sp>
      <p:pic>
        <p:nvPicPr>
          <p:cNvPr id="10" name="Image 0" descr="/tmp/claude-0/-home-user-satis-group-website/413e3116-b2ac-5c73-95bb-0277a69048d6/scratchpad/shots/vercel-deployments.png">    </p:cNvPr>
          <p:cNvPicPr>
            <a:picLocks noChangeAspect="1"/>
          </p:cNvPicPr>
          <p:nvPr/>
        </p:nvPicPr>
        <p:blipFill>
          <a:blip r:embed="rId1"/>
          <a:stretch>
            <a:fillRect/>
          </a:stretch>
        </p:blipFill>
        <p:spPr>
          <a:xfrm>
            <a:off x="566928" y="2066544"/>
            <a:ext cx="5394960" cy="2574036"/>
          </a:xfrm>
          <a:prstGeom prst="rect">
            <a:avLst/>
          </a:prstGeom>
        </p:spPr>
      </p:pic>
      <p:pic>
        <p:nvPicPr>
          <p:cNvPr id="11" name="Image 1" descr="/tmp/claude-0/-home-user-satis-group-website/413e3116-b2ac-5c73-95bb-0277a69048d6/scratchpad/shots/vercel-preview-url.png">    </p:cNvPr>
          <p:cNvPicPr>
            <a:picLocks noChangeAspect="1"/>
          </p:cNvPicPr>
          <p:nvPr/>
        </p:nvPicPr>
        <p:blipFill>
          <a:blip r:embed="rId2"/>
          <a:stretch>
            <a:fillRect/>
          </a:stretch>
        </p:blipFill>
        <p:spPr>
          <a:xfrm>
            <a:off x="6227064" y="2066544"/>
            <a:ext cx="5394960" cy="2585009"/>
          </a:xfrm>
          <a:prstGeom prst="rect">
            <a:avLst/>
          </a:prstGeom>
        </p:spPr>
      </p:pic>
      <p:sp>
        <p:nvSpPr>
          <p:cNvPr id="12" name="Shape 8"/>
          <p:cNvSpPr/>
          <p:nvPr/>
        </p:nvSpPr>
        <p:spPr>
          <a:xfrm>
            <a:off x="566928" y="4946713"/>
            <a:ext cx="246888" cy="246888"/>
          </a:xfrm>
          <a:prstGeom prst="ellipse">
            <a:avLst/>
          </a:prstGeom>
          <a:solidFill>
            <a:srgbClr val="B3400C"/>
          </a:solidFill>
          <a:ln/>
        </p:spPr>
      </p:sp>
      <p:sp>
        <p:nvSpPr>
          <p:cNvPr id="13" name="Text 9"/>
          <p:cNvSpPr/>
          <p:nvPr/>
        </p:nvSpPr>
        <p:spPr>
          <a:xfrm>
            <a:off x="521208" y="4921110"/>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4" name="Text 10"/>
          <p:cNvSpPr/>
          <p:nvPr/>
        </p:nvSpPr>
        <p:spPr>
          <a:xfrm>
            <a:off x="987552" y="4932998"/>
            <a:ext cx="2331720" cy="256032"/>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Open the project</a:t>
            </a:r>
            <a:endParaRPr lang="en-US" sz="1200" dirty="0"/>
          </a:p>
        </p:txBody>
      </p:sp>
      <p:sp>
        <p:nvSpPr>
          <p:cNvPr id="15" name="Text 11"/>
          <p:cNvSpPr/>
          <p:nvPr/>
        </p:nvSpPr>
        <p:spPr>
          <a:xfrm>
            <a:off x="987552" y="5189030"/>
            <a:ext cx="2331720" cy="822960"/>
          </a:xfrm>
          <a:prstGeom prst="rect">
            <a:avLst/>
          </a:prstGeom>
          <a:noFill/>
          <a:ln/>
        </p:spPr>
        <p:txBody>
          <a:bodyPr wrap="square" lIns="0" tIns="0" rIns="0" bIns="0" rtlCol="0" anchor="t"/>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vercel.com → the satis-group team → satis-group-website.</a:t>
            </a:r>
            <a:endParaRPr lang="en-US" sz="1050" dirty="0"/>
          </a:p>
        </p:txBody>
      </p:sp>
      <p:sp>
        <p:nvSpPr>
          <p:cNvPr id="16" name="Shape 12"/>
          <p:cNvSpPr/>
          <p:nvPr/>
        </p:nvSpPr>
        <p:spPr>
          <a:xfrm>
            <a:off x="3364992" y="4946713"/>
            <a:ext cx="246888" cy="246888"/>
          </a:xfrm>
          <a:prstGeom prst="ellipse">
            <a:avLst/>
          </a:prstGeom>
          <a:solidFill>
            <a:srgbClr val="B3400C"/>
          </a:solidFill>
          <a:ln/>
        </p:spPr>
      </p:sp>
      <p:sp>
        <p:nvSpPr>
          <p:cNvPr id="17" name="Text 13"/>
          <p:cNvSpPr/>
          <p:nvPr/>
        </p:nvSpPr>
        <p:spPr>
          <a:xfrm>
            <a:off x="3319272" y="4921110"/>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8" name="Text 14"/>
          <p:cNvSpPr/>
          <p:nvPr/>
        </p:nvSpPr>
        <p:spPr>
          <a:xfrm>
            <a:off x="3785616" y="4932998"/>
            <a:ext cx="2331720" cy="256032"/>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Deployments, then filter</a:t>
            </a:r>
            <a:endParaRPr lang="en-US" sz="1200" dirty="0"/>
          </a:p>
        </p:txBody>
      </p:sp>
      <p:sp>
        <p:nvSpPr>
          <p:cNvPr id="19" name="Text 15"/>
          <p:cNvSpPr/>
          <p:nvPr/>
        </p:nvSpPr>
        <p:spPr>
          <a:xfrm>
            <a:off x="3785616" y="5189030"/>
            <a:ext cx="2331720" cy="822960"/>
          </a:xfrm>
          <a:prstGeom prst="rect">
            <a:avLst/>
          </a:prstGeom>
          <a:noFill/>
          <a:ln/>
        </p:spPr>
        <p:txBody>
          <a:bodyPr wrap="square" lIns="0" tIns="0" rIns="0" bIns="0" rtlCol="0" anchor="t"/>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Every build ever made, newest first. Type the branch name to find yours.</a:t>
            </a:r>
            <a:endParaRPr lang="en-US" sz="1050" dirty="0"/>
          </a:p>
        </p:txBody>
      </p:sp>
      <p:sp>
        <p:nvSpPr>
          <p:cNvPr id="20" name="Shape 16"/>
          <p:cNvSpPr/>
          <p:nvPr/>
        </p:nvSpPr>
        <p:spPr>
          <a:xfrm>
            <a:off x="6163056" y="4946713"/>
            <a:ext cx="246888" cy="246888"/>
          </a:xfrm>
          <a:prstGeom prst="ellipse">
            <a:avLst/>
          </a:prstGeom>
          <a:solidFill>
            <a:srgbClr val="B3400C"/>
          </a:solidFill>
          <a:ln/>
        </p:spPr>
      </p:sp>
      <p:sp>
        <p:nvSpPr>
          <p:cNvPr id="21" name="Text 17"/>
          <p:cNvSpPr/>
          <p:nvPr/>
        </p:nvSpPr>
        <p:spPr>
          <a:xfrm>
            <a:off x="6117336" y="4921110"/>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22" name="Text 18"/>
          <p:cNvSpPr/>
          <p:nvPr/>
        </p:nvSpPr>
        <p:spPr>
          <a:xfrm>
            <a:off x="6583680" y="4932998"/>
            <a:ext cx="2331720" cy="256032"/>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Open the Ready one</a:t>
            </a:r>
            <a:endParaRPr lang="en-US" sz="1200" dirty="0"/>
          </a:p>
        </p:txBody>
      </p:sp>
      <p:sp>
        <p:nvSpPr>
          <p:cNvPr id="23" name="Text 19"/>
          <p:cNvSpPr/>
          <p:nvPr/>
        </p:nvSpPr>
        <p:spPr>
          <a:xfrm>
            <a:off x="6583680" y="5189030"/>
            <a:ext cx="2331720" cy="822960"/>
          </a:xfrm>
          <a:prstGeom prst="rect">
            <a:avLst/>
          </a:prstGeom>
          <a:noFill/>
          <a:ln/>
        </p:spPr>
        <p:txBody>
          <a:bodyPr wrap="square" lIns="0" tIns="0" rIns="0" bIns="0" rtlCol="0" anchor="t"/>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Green is built. Amber is still building — wait a moment and refresh.</a:t>
            </a:r>
            <a:endParaRPr lang="en-US" sz="1050" dirty="0"/>
          </a:p>
        </p:txBody>
      </p:sp>
      <p:sp>
        <p:nvSpPr>
          <p:cNvPr id="24" name="Shape 20"/>
          <p:cNvSpPr/>
          <p:nvPr/>
        </p:nvSpPr>
        <p:spPr>
          <a:xfrm>
            <a:off x="8961120" y="4946713"/>
            <a:ext cx="246888" cy="246888"/>
          </a:xfrm>
          <a:prstGeom prst="ellipse">
            <a:avLst/>
          </a:prstGeom>
          <a:solidFill>
            <a:srgbClr val="B3400C"/>
          </a:solidFill>
          <a:ln/>
        </p:spPr>
      </p:sp>
      <p:sp>
        <p:nvSpPr>
          <p:cNvPr id="25" name="Text 21"/>
          <p:cNvSpPr/>
          <p:nvPr/>
        </p:nvSpPr>
        <p:spPr>
          <a:xfrm>
            <a:off x="8915400" y="4921110"/>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4</a:t>
            </a:r>
            <a:endParaRPr lang="en-US" sz="1050" dirty="0"/>
          </a:p>
        </p:txBody>
      </p:sp>
      <p:sp>
        <p:nvSpPr>
          <p:cNvPr id="26" name="Text 22"/>
          <p:cNvSpPr/>
          <p:nvPr/>
        </p:nvSpPr>
        <p:spPr>
          <a:xfrm>
            <a:off x="9381744" y="4932998"/>
            <a:ext cx="2331720" cy="256032"/>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Visit, or copy the link</a:t>
            </a:r>
            <a:endParaRPr lang="en-US" sz="1200" dirty="0"/>
          </a:p>
        </p:txBody>
      </p:sp>
      <p:sp>
        <p:nvSpPr>
          <p:cNvPr id="27" name="Text 23"/>
          <p:cNvSpPr/>
          <p:nvPr/>
        </p:nvSpPr>
        <p:spPr>
          <a:xfrm>
            <a:off x="9381744" y="5189030"/>
            <a:ext cx="2331720" cy="822960"/>
          </a:xfrm>
          <a:prstGeom prst="rect">
            <a:avLst/>
          </a:prstGeom>
          <a:noFill/>
          <a:ln/>
        </p:spPr>
        <p:txBody>
          <a:bodyPr wrap="square" lIns="0" tIns="0" rIns="0" bIns="0" rtlCol="0" anchor="t"/>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Visit opens the preview. The …-git-branch-… address is the one to share.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SKILLS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EDITING THE WEBSITE WITH CLAUDE</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14</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Where the skills are, and what one actually is.</a:t>
            </a:r>
            <a:endParaRPr lang="en-US" sz="2500" dirty="0"/>
          </a:p>
        </p:txBody>
      </p:sp>
      <p:sp>
        <p:nvSpPr>
          <p:cNvPr id="9" name="Text 7"/>
          <p:cNvSpPr/>
          <p:nvPr/>
        </p:nvSpPr>
        <p:spPr>
          <a:xfrm>
            <a:off x="566928" y="1517904"/>
            <a:ext cx="106070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A skill is a written playbook: a professional procedure Claude loads when a job calls for it, so the same work is done the same way every time. They reach a session from two places.</a:t>
            </a:r>
            <a:endParaRPr lang="en-US" sz="1150" dirty="0"/>
          </a:p>
        </p:txBody>
      </p:sp>
      <p:pic>
        <p:nvPicPr>
          <p:cNvPr id="10" name="Image 0" descr="/tmp/claude-0/-home-user-satis-group-website/413e3116-b2ac-5c73-95bb-0277a69048d6/scratchpad/shots/claude-skills-slash.png">    </p:cNvPr>
          <p:cNvPicPr>
            <a:picLocks noChangeAspect="1"/>
          </p:cNvPicPr>
          <p:nvPr/>
        </p:nvPicPr>
        <p:blipFill>
          <a:blip r:embed="rId1"/>
          <a:stretch>
            <a:fillRect/>
          </a:stretch>
        </p:blipFill>
        <p:spPr>
          <a:xfrm>
            <a:off x="566928" y="2103120"/>
            <a:ext cx="6030468" cy="2788920"/>
          </a:xfrm>
          <a:prstGeom prst="rect">
            <a:avLst/>
          </a:prstGeom>
        </p:spPr>
      </p:pic>
      <p:pic>
        <p:nvPicPr>
          <p:cNvPr id="11" name="Image 1" descr="/tmp/claude-0/-home-user-satis-group-website/413e3116-b2ac-5c73-95bb-0277a69048d6/scratchpad/shots/claude-skills-settings.png">    </p:cNvPr>
          <p:cNvPicPr>
            <a:picLocks noChangeAspect="1"/>
          </p:cNvPicPr>
          <p:nvPr/>
        </p:nvPicPr>
        <p:blipFill>
          <a:blip r:embed="rId2"/>
          <a:stretch>
            <a:fillRect/>
          </a:stretch>
        </p:blipFill>
        <p:spPr>
          <a:xfrm>
            <a:off x="7040241" y="2103120"/>
            <a:ext cx="4584802" cy="2788920"/>
          </a:xfrm>
          <a:prstGeom prst="rect">
            <a:avLst/>
          </a:prstGeom>
        </p:spPr>
      </p:pic>
      <p:sp>
        <p:nvSpPr>
          <p:cNvPr id="12" name="Text 8"/>
          <p:cNvSpPr/>
          <p:nvPr/>
        </p:nvSpPr>
        <p:spPr>
          <a:xfrm>
            <a:off x="566928" y="5148072"/>
            <a:ext cx="5756148" cy="1097280"/>
          </a:xfrm>
          <a:prstGeom prst="rect">
            <a:avLst/>
          </a:prstGeom>
          <a:noFill/>
          <a:ln/>
        </p:spPr>
        <p:txBody>
          <a:bodyPr wrap="square" lIns="0" tIns="0" rIns="0" bIns="0" rtlCol="0" anchor="t"/>
          <a:lstStyle/>
          <a:p>
            <a:pPr indent="0" marL="0">
              <a:lnSpc>
                <a:spcPts val="1400"/>
              </a:lnSpc>
              <a:buNone/>
            </a:pPr>
            <a:r>
              <a:rPr lang="en-US" sz="1100" b="1" dirty="0">
                <a:solidFill>
                  <a:srgbClr val="000000"/>
                </a:solidFill>
                <a:latin typeface="Work Sans" pitchFamily="34" charset="0"/>
                <a:ea typeface="Work Sans" pitchFamily="34" charset="-122"/>
                <a:cs typeface="Work Sans" pitchFamily="34" charset="-120"/>
              </a:rPr>
              <a:t>In the session — type “/”
</a:t>
            </a:r>
            <a:pPr indent="0" marL="0">
              <a:lnSpc>
                <a:spcPts val="1400"/>
              </a:lnSpc>
              <a:buNone/>
            </a:pPr>
            <a:r>
              <a:rPr lang="en-US" sz="1000" dirty="0">
                <a:solidFill>
                  <a:srgbClr val="5C6366"/>
                </a:solidFill>
                <a:latin typeface="Work Sans" pitchFamily="34" charset="0"/>
                <a:ea typeface="Work Sans" pitchFamily="34" charset="-122"/>
                <a:cs typeface="Work Sans" pitchFamily="34" charset="-120"/>
              </a:rPr>
              <a:t>All 105 playbooks are committed to this repository, so they are there in every session, for everyone, with nothing to install. Type “/” to list them and keep typing to narrow it down.</a:t>
            </a:r>
            <a:endParaRPr lang="en-US" sz="1100" dirty="0"/>
          </a:p>
        </p:txBody>
      </p:sp>
      <p:sp>
        <p:nvSpPr>
          <p:cNvPr id="13" name="Text 9"/>
          <p:cNvSpPr/>
          <p:nvPr/>
        </p:nvSpPr>
        <p:spPr>
          <a:xfrm>
            <a:off x="7039966" y="5148072"/>
            <a:ext cx="4584802" cy="1097280"/>
          </a:xfrm>
          <a:prstGeom prst="rect">
            <a:avLst/>
          </a:prstGeom>
          <a:noFill/>
          <a:ln/>
        </p:spPr>
        <p:txBody>
          <a:bodyPr wrap="square" lIns="0" tIns="0" rIns="0" bIns="0" rtlCol="0" anchor="t"/>
          <a:lstStyle/>
          <a:p>
            <a:pPr indent="0" marL="0">
              <a:lnSpc>
                <a:spcPts val="1400"/>
              </a:lnSpc>
              <a:buNone/>
            </a:pPr>
            <a:r>
              <a:rPr lang="en-US" sz="1100" b="1" dirty="0">
                <a:solidFill>
                  <a:srgbClr val="000000"/>
                </a:solidFill>
                <a:latin typeface="Work Sans" pitchFamily="34" charset="0"/>
                <a:ea typeface="Work Sans" pitchFamily="34" charset="-122"/>
                <a:cs typeface="Work Sans" pitchFamily="34" charset="-120"/>
              </a:rPr>
              <a:t>In your account — Settings → Capabilities
</a:t>
            </a:r>
            <a:pPr indent="0" marL="0">
              <a:lnSpc>
                <a:spcPts val="1400"/>
              </a:lnSpc>
              <a:buNone/>
            </a:pPr>
            <a:r>
              <a:rPr lang="en-US" sz="1000" dirty="0">
                <a:solidFill>
                  <a:srgbClr val="5C6366"/>
                </a:solidFill>
                <a:latin typeface="Work Sans" pitchFamily="34" charset="0"/>
                <a:ea typeface="Work Sans" pitchFamily="34" charset="-122"/>
                <a:cs typeface="Work Sans" pitchFamily="34" charset="-120"/>
              </a:rPr>
              <a:t>Skills you switch on here follow your Claude account into every session you start. “Code execution and file creation” has to be on first, or none of them can run.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Satis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Editing the website with Claude.</dc:title>
  <dc:subject>PptxGenJS Presentation</dc:subject>
  <dc:creator>Satis Group</dc:creator>
  <cp:lastModifiedBy>Satis Group</cp:lastModifiedBy>
  <cp:revision>1</cp:revision>
  <dcterms:created xsi:type="dcterms:W3CDTF">2026-08-20T00:35:10Z</dcterms:created>
  <dcterms:modified xsi:type="dcterms:W3CDTF">2026-08-20T00:35:10Z</dcterms:modified>
</cp:coreProperties>
</file>