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shows how we make changes to satisgroup.co.uk without a developer on call: we describe the change to Claude in plain English, and it edits the website's master copy for us. By the end you'll be able to request any content change yourself. No technical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agenda quickly. Emphasise the promise: by the end of the session everyone here can change the website themselves —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mental model comes from the operations guide and explains every behaviour they'll meet: why changes take a minute to appear, why nothing can be broken by browsing, and why every change is traceable. Repeat the brochure line —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room: a Claude session is a conversation, not a control panel. Nothing they type goes live by itself — there's a deliberate step (commit, then the automatic republish) between conversation and the public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examples come straight from the operations guide and cover 90% of day-to-day requests. Encourage people to include the page name and exact wording they want — precision in, precision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and push” is the one phrase worth memorising. Explain the audit trail: this is why the repository approach is safer than editing a live site — every version of every page,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of a few minutes' delay — it prevents the “it didn't work” moment when a change hasn't propagated yet. The verification habit (always look at the live page) catches misunderstandings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guide's own recipe. The point to land: gather the five ingredients before starting, then it's one message and under an hour — most of which is Claude working, not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gentle demystification. The takeaway isn't the file names — it's that the site is structured data plus a design system, which is why plain-English requests work so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examples are verbatim from the guide's Claude agents &amp; skills chapter. Quarterly habit worth suggesting: an SEO audit and an accessibility audit cost one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fear. The three safety properties: visibility before commit, audit trail after, rollback always. Invite the room to try one small real request this week — a typo fix or a status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takeaways, answer questions, and point everyone at the written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tmp/claude-0/-home-user-satis-group-website/ff8ab6f4-f9c2-556a-89f3-8bea05ba205c/build/assets/cover-claud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Shape 1"/>
          <p:cNvSpPr/>
          <p:nvPr/>
        </p:nvSpPr>
        <p:spPr>
          <a:xfrm>
            <a:off x="566928" y="566928"/>
            <a:ext cx="11057839" cy="0"/>
          </a:xfrm>
          <a:prstGeom prst="line">
            <a:avLst/>
          </a:prstGeom>
          <a:noFill/>
          <a:ln w="9525">
            <a:solidFill>
              <a:srgbClr val="FFFFFF"/>
            </a:solidFill>
            <a:prstDash val="solid"/>
          </a:ln>
        </p:spPr>
      </p:sp>
      <p:sp>
        <p:nvSpPr>
          <p:cNvPr id="5" name="Text 2"/>
          <p:cNvSpPr/>
          <p:nvPr/>
        </p:nvSpPr>
        <p:spPr>
          <a:xfrm>
            <a:off x="566928" y="713232"/>
            <a:ext cx="11057839" cy="274320"/>
          </a:xfrm>
          <a:prstGeom prst="rect">
            <a:avLst/>
          </a:prstGeom>
          <a:noFill/>
          <a:ln/>
        </p:spPr>
        <p:txBody>
          <a:bodyPr wrap="square" lIns="0" tIns="0" rIns="0" bIns="0" rtlCol="0" anchor="ctr"/>
          <a:lstStyle/>
          <a:p>
            <a:pPr indent="0" marL="0">
              <a:buNone/>
            </a:pPr>
            <a:r>
              <a:rPr lang="en-US" sz="950" spc="300" kern="0" dirty="0">
                <a:solidFill>
                  <a:srgbClr val="FFFFFF"/>
                </a:solidFill>
                <a:latin typeface="Work Sans" pitchFamily="34" charset="0"/>
                <a:ea typeface="Work Sans" pitchFamily="34" charset="-122"/>
                <a:cs typeface="Work Sans" pitchFamily="34" charset="-120"/>
              </a:rPr>
              <a:t>SATIS GROUP — BACKEND WEBINAR SERIES</a:t>
            </a:r>
            <a:endParaRPr lang="en-US" sz="950" dirty="0"/>
          </a:p>
        </p:txBody>
      </p:sp>
      <p:sp>
        <p:nvSpPr>
          <p:cNvPr id="6" name="Text 3"/>
          <p:cNvSpPr/>
          <p:nvPr/>
        </p:nvSpPr>
        <p:spPr>
          <a:xfrm>
            <a:off x="0" y="2304288"/>
            <a:ext cx="12191695" cy="777240"/>
          </a:xfrm>
          <a:prstGeom prst="rect">
            <a:avLst/>
          </a:prstGeom>
          <a:noFill/>
          <a:ln/>
        </p:spPr>
        <p:txBody>
          <a:bodyPr wrap="square" lIns="0" tIns="0" rIns="0" bIns="0" rtlCol="0" anchor="ctr"/>
          <a:lstStyle/>
          <a:p>
            <a:pPr algn="ctr" indent="0" marL="0">
              <a:buNone/>
            </a:pPr>
            <a:r>
              <a:rPr lang="en-US" sz="4000" spc="3000" kern="0" dirty="0">
                <a:solidFill>
                  <a:srgbClr val="FFFFFF"/>
                </a:solidFill>
                <a:latin typeface="Work Sans" pitchFamily="34" charset="0"/>
                <a:ea typeface="Work Sans" pitchFamily="34" charset="-122"/>
                <a:cs typeface="Work Sans" pitchFamily="34" charset="-120"/>
              </a:rPr>
              <a:t>SATIS</a:t>
            </a:r>
            <a:endParaRPr lang="en-US" sz="4000" dirty="0"/>
          </a:p>
        </p:txBody>
      </p:sp>
      <p:sp>
        <p:nvSpPr>
          <p:cNvPr id="7" name="Text 4"/>
          <p:cNvSpPr/>
          <p:nvPr/>
        </p:nvSpPr>
        <p:spPr>
          <a:xfrm>
            <a:off x="0" y="3090672"/>
            <a:ext cx="12191695" cy="274320"/>
          </a:xfrm>
          <a:prstGeom prst="rect">
            <a:avLst/>
          </a:prstGeom>
          <a:noFill/>
          <a:ln/>
        </p:spPr>
        <p:txBody>
          <a:bodyPr wrap="square" lIns="0" tIns="0" rIns="0" bIns="0" rtlCol="0" anchor="ctr"/>
          <a:lstStyle/>
          <a:p>
            <a:pPr algn="ctr" indent="0" marL="0">
              <a:buNone/>
            </a:pPr>
            <a:r>
              <a:rPr lang="en-US" sz="1250" spc="1100" kern="0" dirty="0">
                <a:solidFill>
                  <a:srgbClr val="FFFFFF"/>
                </a:solidFill>
                <a:latin typeface="Work Sans" pitchFamily="34" charset="0"/>
                <a:ea typeface="Work Sans" pitchFamily="34" charset="-122"/>
                <a:cs typeface="Work Sans" pitchFamily="34" charset="-120"/>
              </a:rPr>
              <a:t>GROUP</a:t>
            </a:r>
            <a:endParaRPr lang="en-US" sz="1250" dirty="0"/>
          </a:p>
        </p:txBody>
      </p:sp>
      <p:sp>
        <p:nvSpPr>
          <p:cNvPr id="8" name="Text 5"/>
          <p:cNvSpPr/>
          <p:nvPr/>
        </p:nvSpPr>
        <p:spPr>
          <a:xfrm>
            <a:off x="1371600" y="3913632"/>
            <a:ext cx="9448495" cy="640080"/>
          </a:xfrm>
          <a:prstGeom prst="rect">
            <a:avLst/>
          </a:prstGeom>
          <a:noFill/>
          <a:ln/>
        </p:spPr>
        <p:txBody>
          <a:bodyPr wrap="square" lIns="0" tIns="0" rIns="0" bIns="0" rtlCol="0" anchor="ctr"/>
          <a:lstStyle/>
          <a:p>
            <a:pPr algn="ctr" indent="0" marL="0">
              <a:buNone/>
            </a:pPr>
            <a:r>
              <a:rPr lang="en-US" sz="2700" dirty="0">
                <a:solidFill>
                  <a:srgbClr val="FFFFFF"/>
                </a:solidFill>
                <a:latin typeface="Work Sans" pitchFamily="34" charset="0"/>
                <a:ea typeface="Work Sans" pitchFamily="34" charset="-122"/>
                <a:cs typeface="Work Sans" pitchFamily="34" charset="-120"/>
              </a:rPr>
              <a:t>Editing the website with Claude.</a:t>
            </a:r>
            <a:endParaRPr lang="en-US" sz="2700" dirty="0"/>
          </a:p>
        </p:txBody>
      </p:sp>
      <p:sp>
        <p:nvSpPr>
          <p:cNvPr id="9" name="Text 6"/>
          <p:cNvSpPr/>
          <p:nvPr/>
        </p:nvSpPr>
        <p:spPr>
          <a:xfrm>
            <a:off x="2194560" y="4590288"/>
            <a:ext cx="7802575" cy="566928"/>
          </a:xfrm>
          <a:prstGeom prst="rect">
            <a:avLst/>
          </a:prstGeom>
          <a:noFill/>
          <a:ln/>
        </p:spPr>
        <p:txBody>
          <a:bodyPr wrap="square" lIns="0" tIns="0" rIns="0" bIns="0" rtlCol="0" anchor="ctr"/>
          <a:lstStyle/>
          <a:p>
            <a:pPr algn="ctr" indent="0" marL="0">
              <a:lnSpc>
                <a:spcPts val="1700"/>
              </a:lnSpc>
              <a:buNone/>
            </a:pPr>
            <a:r>
              <a:rPr lang="en-US" sz="1200" dirty="0">
                <a:solidFill>
                  <a:srgbClr val="E8EAEA"/>
                </a:solidFill>
                <a:latin typeface="Work Sans" pitchFamily="34" charset="0"/>
                <a:ea typeface="Work Sans" pitchFamily="34" charset="-122"/>
                <a:cs typeface="Work Sans" pitchFamily="34" charset="-120"/>
              </a:rPr>
              <a:t>How anyone on the team changes pages, photos and copy — by describing the change in plain English.</a:t>
            </a:r>
            <a:endParaRPr lang="en-US" sz="1200" dirty="0"/>
          </a:p>
        </p:txBody>
      </p:sp>
      <p:sp>
        <p:nvSpPr>
          <p:cNvPr id="10" name="Text 7"/>
          <p:cNvSpPr/>
          <p:nvPr/>
        </p:nvSpPr>
        <p:spPr>
          <a:xfrm>
            <a:off x="566928" y="6327648"/>
            <a:ext cx="11057839" cy="237744"/>
          </a:xfrm>
          <a:prstGeom prst="rect">
            <a:avLst/>
          </a:prstGeom>
          <a:noFill/>
          <a:ln/>
        </p:spPr>
        <p:txBody>
          <a:bodyPr wrap="square" lIns="0" tIns="0" rIns="0" bIns="0" rtlCol="0" anchor="ctr"/>
          <a:lstStyle/>
          <a:p>
            <a:pPr algn="ctr" indent="0" marL="0">
              <a:buNone/>
            </a:pPr>
            <a:r>
              <a:rPr lang="en-US" sz="850" spc="300" kern="0" dirty="0">
                <a:solidFill>
                  <a:srgbClr val="D8DADA"/>
                </a:solidFill>
                <a:latin typeface="Work Sans" pitchFamily="34" charset="0"/>
                <a:ea typeface="Work Sans" pitchFamily="34" charset="-122"/>
                <a:cs typeface="Work Sans" pitchFamily="34" charset="-120"/>
              </a:rPr>
              <a:t>BACKEND WEBINAR 01 OF 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IN THIS WEBINAR</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02</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this session covers.</a:t>
            </a:r>
            <a:endParaRPr lang="en-US" sz="2500" dirty="0"/>
          </a:p>
        </p:txBody>
      </p:sp>
      <p:sp>
        <p:nvSpPr>
          <p:cNvPr id="9" name="Text 7"/>
          <p:cNvSpPr/>
          <p:nvPr/>
        </p:nvSpPr>
        <p:spPr>
          <a:xfrm>
            <a:off x="566928" y="1499616"/>
            <a:ext cx="87782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Forty minutes, no technical background needed. By the end, you can request any website change yourself.</a:t>
            </a:r>
            <a:endParaRPr lang="en-US" sz="1150" dirty="0"/>
          </a:p>
        </p:txBody>
      </p:sp>
      <p:sp>
        <p:nvSpPr>
          <p:cNvPr id="10" name="Text 8"/>
          <p:cNvSpPr/>
          <p:nvPr/>
        </p:nvSpPr>
        <p:spPr>
          <a:xfrm>
            <a:off x="56692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01</a:t>
            </a:r>
            <a:endParaRPr lang="en-US" sz="1100" dirty="0"/>
          </a:p>
        </p:txBody>
      </p:sp>
      <p:sp>
        <p:nvSpPr>
          <p:cNvPr id="11" name="Text 9"/>
          <p:cNvSpPr/>
          <p:nvPr/>
        </p:nvSpPr>
        <p:spPr>
          <a:xfrm>
            <a:off x="106984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one idea behind everything</a:t>
            </a:r>
            <a:endParaRPr lang="en-US" sz="1250" dirty="0"/>
          </a:p>
        </p:txBody>
      </p:sp>
      <p:sp>
        <p:nvSpPr>
          <p:cNvPr id="12" name="Text 10"/>
          <p:cNvSpPr/>
          <p:nvPr/>
        </p:nvSpPr>
        <p:spPr>
          <a:xfrm>
            <a:off x="106984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live site is a printed brochure — you change the master copy, not the print.</a:t>
            </a:r>
            <a:endParaRPr lang="en-US" sz="950" dirty="0"/>
          </a:p>
        </p:txBody>
      </p:sp>
      <p:sp>
        <p:nvSpPr>
          <p:cNvPr id="13" name="Text 11"/>
          <p:cNvSpPr/>
          <p:nvPr/>
        </p:nvSpPr>
        <p:spPr>
          <a:xfrm>
            <a:off x="56692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02</a:t>
            </a:r>
            <a:endParaRPr lang="en-US" sz="1100" dirty="0"/>
          </a:p>
        </p:txBody>
      </p:sp>
      <p:sp>
        <p:nvSpPr>
          <p:cNvPr id="14" name="Text 12"/>
          <p:cNvSpPr/>
          <p:nvPr/>
        </p:nvSpPr>
        <p:spPr>
          <a:xfrm>
            <a:off x="106984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Starting a Claude session</a:t>
            </a:r>
            <a:endParaRPr lang="en-US" sz="1250" dirty="0"/>
          </a:p>
        </p:txBody>
      </p:sp>
      <p:sp>
        <p:nvSpPr>
          <p:cNvPr id="15" name="Text 13"/>
          <p:cNvSpPr/>
          <p:nvPr/>
        </p:nvSpPr>
        <p:spPr>
          <a:xfrm>
            <a:off x="106984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Where to go, what to click, what you need access to.</a:t>
            </a:r>
            <a:endParaRPr lang="en-US" sz="950" dirty="0"/>
          </a:p>
        </p:txBody>
      </p:sp>
      <p:sp>
        <p:nvSpPr>
          <p:cNvPr id="16" name="Text 14"/>
          <p:cNvSpPr/>
          <p:nvPr/>
        </p:nvSpPr>
        <p:spPr>
          <a:xfrm>
            <a:off x="56692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03</a:t>
            </a:r>
            <a:endParaRPr lang="en-US" sz="1100" dirty="0"/>
          </a:p>
        </p:txBody>
      </p:sp>
      <p:sp>
        <p:nvSpPr>
          <p:cNvPr id="17" name="Text 15"/>
          <p:cNvSpPr/>
          <p:nvPr/>
        </p:nvSpPr>
        <p:spPr>
          <a:xfrm>
            <a:off x="106984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How to ask for changes</a:t>
            </a:r>
            <a:endParaRPr lang="en-US" sz="1250" dirty="0"/>
          </a:p>
        </p:txBody>
      </p:sp>
      <p:sp>
        <p:nvSpPr>
          <p:cNvPr id="18" name="Text 16"/>
          <p:cNvSpPr/>
          <p:nvPr/>
        </p:nvSpPr>
        <p:spPr>
          <a:xfrm>
            <a:off x="106984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Proven plain-English requests you can copy verbatim.</a:t>
            </a:r>
            <a:endParaRPr lang="en-US" sz="950" dirty="0"/>
          </a:p>
        </p:txBody>
      </p:sp>
      <p:sp>
        <p:nvSpPr>
          <p:cNvPr id="19" name="Text 17"/>
          <p:cNvSpPr/>
          <p:nvPr/>
        </p:nvSpPr>
        <p:spPr>
          <a:xfrm>
            <a:off x="634730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04</a:t>
            </a:r>
            <a:endParaRPr lang="en-US" sz="1100" dirty="0"/>
          </a:p>
        </p:txBody>
      </p:sp>
      <p:sp>
        <p:nvSpPr>
          <p:cNvPr id="20" name="Text 18"/>
          <p:cNvSpPr/>
          <p:nvPr/>
        </p:nvSpPr>
        <p:spPr>
          <a:xfrm>
            <a:off x="685022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magic words</a:t>
            </a:r>
            <a:endParaRPr lang="en-US" sz="1250" dirty="0"/>
          </a:p>
        </p:txBody>
      </p:sp>
      <p:sp>
        <p:nvSpPr>
          <p:cNvPr id="21" name="Text 19"/>
          <p:cNvSpPr/>
          <p:nvPr/>
        </p:nvSpPr>
        <p:spPr>
          <a:xfrm>
            <a:off x="685022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“…then commit and push the change” — and what happens next.</a:t>
            </a:r>
            <a:endParaRPr lang="en-US" sz="950" dirty="0"/>
          </a:p>
        </p:txBody>
      </p:sp>
      <p:sp>
        <p:nvSpPr>
          <p:cNvPr id="22" name="Text 20"/>
          <p:cNvSpPr/>
          <p:nvPr/>
        </p:nvSpPr>
        <p:spPr>
          <a:xfrm>
            <a:off x="634730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05</a:t>
            </a:r>
            <a:endParaRPr lang="en-US" sz="1100" dirty="0"/>
          </a:p>
        </p:txBody>
      </p:sp>
      <p:sp>
        <p:nvSpPr>
          <p:cNvPr id="23" name="Text 21"/>
          <p:cNvSpPr/>
          <p:nvPr/>
        </p:nvSpPr>
        <p:spPr>
          <a:xfrm>
            <a:off x="685022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Bigger jobs</a:t>
            </a:r>
            <a:endParaRPr lang="en-US" sz="1250" dirty="0"/>
          </a:p>
        </p:txBody>
      </p:sp>
      <p:sp>
        <p:nvSpPr>
          <p:cNvPr id="24" name="Text 22"/>
          <p:cNvSpPr/>
          <p:nvPr/>
        </p:nvSpPr>
        <p:spPr>
          <a:xfrm>
            <a:off x="685022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Adding a whole new development in one request.</a:t>
            </a:r>
            <a:endParaRPr lang="en-US" sz="950" dirty="0"/>
          </a:p>
        </p:txBody>
      </p:sp>
      <p:sp>
        <p:nvSpPr>
          <p:cNvPr id="25" name="Text 23"/>
          <p:cNvSpPr/>
          <p:nvPr/>
        </p:nvSpPr>
        <p:spPr>
          <a:xfrm>
            <a:off x="634730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06</a:t>
            </a:r>
            <a:endParaRPr lang="en-US" sz="1100" dirty="0"/>
          </a:p>
        </p:txBody>
      </p:sp>
      <p:sp>
        <p:nvSpPr>
          <p:cNvPr id="26" name="Text 24"/>
          <p:cNvSpPr/>
          <p:nvPr/>
        </p:nvSpPr>
        <p:spPr>
          <a:xfrm>
            <a:off x="685022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Skills and safety nets</a:t>
            </a:r>
            <a:endParaRPr lang="en-US" sz="1250" dirty="0"/>
          </a:p>
        </p:txBody>
      </p:sp>
      <p:sp>
        <p:nvSpPr>
          <p:cNvPr id="27" name="Text 25"/>
          <p:cNvSpPr/>
          <p:nvPr/>
        </p:nvSpPr>
        <p:spPr>
          <a:xfrm>
            <a:off x="685022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100+ playbooks in the repository, and how nothing is ever lost.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BIG IDEA</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03</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The live site is a printed brochure.</a:t>
            </a:r>
            <a:endParaRPr lang="en-US" sz="2500" dirty="0"/>
          </a:p>
        </p:txBody>
      </p:sp>
      <p:sp>
        <p:nvSpPr>
          <p:cNvPr id="9" name="Text 7"/>
          <p:cNvSpPr/>
          <p:nvPr/>
        </p:nvSpPr>
        <p:spPr>
          <a:xfrm>
            <a:off x="566928" y="1517904"/>
            <a:ext cx="96926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You cannot scribble on a printed brochure — you change the master copy and print a new one. The master copy of this website lives in a shared, version-tracked folder called the repository, and the live site reprints itself automatically whenever the master changes.</a:t>
            </a:r>
            <a:endParaRPr lang="en-US" sz="1150" dirty="0"/>
          </a:p>
        </p:txBody>
      </p:sp>
      <p:sp>
        <p:nvSpPr>
          <p:cNvPr id="10" name="Shape 8"/>
          <p:cNvSpPr/>
          <p:nvPr/>
        </p:nvSpPr>
        <p:spPr>
          <a:xfrm>
            <a:off x="749808" y="3200400"/>
            <a:ext cx="2331720" cy="960120"/>
          </a:xfrm>
          <a:prstGeom prst="rect">
            <a:avLst/>
          </a:prstGeom>
          <a:solidFill>
            <a:srgbClr val="FFFFFF"/>
          </a:solidFill>
          <a:ln w="12700">
            <a:solidFill>
              <a:srgbClr val="000000"/>
            </a:solidFill>
            <a:prstDash val="solid"/>
          </a:ln>
        </p:spPr>
      </p:sp>
      <p:sp>
        <p:nvSpPr>
          <p:cNvPr id="11" name="Text 9"/>
          <p:cNvSpPr/>
          <p:nvPr/>
        </p:nvSpPr>
        <p:spPr>
          <a:xfrm>
            <a:off x="822960"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You describe a change</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in plain English, to Claude</a:t>
            </a:r>
            <a:endParaRPr lang="en-US" sz="1100" dirty="0"/>
          </a:p>
        </p:txBody>
      </p:sp>
      <p:sp>
        <p:nvSpPr>
          <p:cNvPr id="12" name="Shape 10"/>
          <p:cNvSpPr/>
          <p:nvPr/>
        </p:nvSpPr>
        <p:spPr>
          <a:xfrm>
            <a:off x="3648456" y="3200400"/>
            <a:ext cx="2331720" cy="960120"/>
          </a:xfrm>
          <a:prstGeom prst="rect">
            <a:avLst/>
          </a:prstGeom>
          <a:solidFill>
            <a:srgbClr val="000000"/>
          </a:solidFill>
          <a:ln w="12700">
            <a:solidFill>
              <a:srgbClr val="000000"/>
            </a:solidFill>
            <a:prstDash val="solid"/>
          </a:ln>
        </p:spPr>
      </p:sp>
      <p:sp>
        <p:nvSpPr>
          <p:cNvPr id="13" name="Text 11"/>
          <p:cNvSpPr/>
          <p:nvPr/>
        </p:nvSpPr>
        <p:spPr>
          <a:xfrm>
            <a:off x="3721608"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FFFFFF"/>
                </a:solidFill>
                <a:latin typeface="Work Sans" pitchFamily="34" charset="0"/>
                <a:ea typeface="Work Sans" pitchFamily="34" charset="-122"/>
                <a:cs typeface="Work Sans" pitchFamily="34" charset="-120"/>
              </a:rPr>
              <a:t>Claude edits the master copy</a:t>
            </a:r>
            <a:pPr algn="ctr" indent="0" marL="0">
              <a:lnSpc>
                <a:spcPts val="1300"/>
              </a:lnSpc>
              <a:buNone/>
            </a:pPr>
            <a:endParaRPr lang="en-US" sz="1100" dirty="0"/>
          </a:p>
          <a:p>
            <a:pPr algn="ctr" indent="0" marL="0">
              <a:lnSpc>
                <a:spcPts val="1300"/>
              </a:lnSpc>
              <a:buNone/>
            </a:pPr>
            <a:r>
              <a:rPr lang="en-US" sz="850" dirty="0">
                <a:solidFill>
                  <a:srgbClr val="B9BDBE"/>
                </a:solidFill>
                <a:latin typeface="Work Sans" pitchFamily="34" charset="0"/>
                <a:ea typeface="Work Sans" pitchFamily="34" charset="-122"/>
                <a:cs typeface="Work Sans" pitchFamily="34" charset="-120"/>
              </a:rPr>
              <a:t>the GitHub repository</a:t>
            </a:r>
            <a:endParaRPr lang="en-US" sz="1100" dirty="0"/>
          </a:p>
        </p:txBody>
      </p:sp>
      <p:sp>
        <p:nvSpPr>
          <p:cNvPr id="14" name="Shape 12"/>
          <p:cNvSpPr/>
          <p:nvPr/>
        </p:nvSpPr>
        <p:spPr>
          <a:xfrm>
            <a:off x="6547104" y="3200400"/>
            <a:ext cx="2331720" cy="960120"/>
          </a:xfrm>
          <a:prstGeom prst="rect">
            <a:avLst/>
          </a:prstGeom>
          <a:solidFill>
            <a:srgbClr val="FFFFFF"/>
          </a:solidFill>
          <a:ln w="12700">
            <a:solidFill>
              <a:srgbClr val="000000"/>
            </a:solidFill>
            <a:prstDash val="solid"/>
          </a:ln>
        </p:spPr>
      </p:sp>
      <p:sp>
        <p:nvSpPr>
          <p:cNvPr id="15" name="Text 13"/>
          <p:cNvSpPr/>
          <p:nvPr/>
        </p:nvSpPr>
        <p:spPr>
          <a:xfrm>
            <a:off x="6620256"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The site reprints itself</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Vercel rebuilds automatically</a:t>
            </a:r>
            <a:endParaRPr lang="en-US" sz="1100" dirty="0"/>
          </a:p>
        </p:txBody>
      </p:sp>
      <p:sp>
        <p:nvSpPr>
          <p:cNvPr id="16" name="Shape 14"/>
          <p:cNvSpPr/>
          <p:nvPr/>
        </p:nvSpPr>
        <p:spPr>
          <a:xfrm>
            <a:off x="9445752" y="3200400"/>
            <a:ext cx="2331720" cy="960120"/>
          </a:xfrm>
          <a:prstGeom prst="rect">
            <a:avLst/>
          </a:prstGeom>
          <a:solidFill>
            <a:srgbClr val="FFFFFF"/>
          </a:solidFill>
          <a:ln w="12700">
            <a:solidFill>
              <a:srgbClr val="000000"/>
            </a:solidFill>
            <a:prstDash val="solid"/>
          </a:ln>
        </p:spPr>
      </p:sp>
      <p:sp>
        <p:nvSpPr>
          <p:cNvPr id="17" name="Text 15"/>
          <p:cNvSpPr/>
          <p:nvPr/>
        </p:nvSpPr>
        <p:spPr>
          <a:xfrm>
            <a:off x="9518904"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Change is live</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www.satisgroup.co.uk</a:t>
            </a:r>
            <a:endParaRPr lang="en-US" sz="1100" dirty="0"/>
          </a:p>
        </p:txBody>
      </p:sp>
      <p:sp>
        <p:nvSpPr>
          <p:cNvPr id="18" name="Shape 16"/>
          <p:cNvSpPr/>
          <p:nvPr/>
        </p:nvSpPr>
        <p:spPr>
          <a:xfrm>
            <a:off x="3081528" y="3680460"/>
            <a:ext cx="566928" cy="0"/>
          </a:xfrm>
          <a:prstGeom prst="line">
            <a:avLst/>
          </a:prstGeom>
          <a:noFill/>
          <a:ln w="15240">
            <a:solidFill>
              <a:srgbClr val="000000"/>
            </a:solidFill>
            <a:prstDash val="solid"/>
            <a:tailEnd type="triangle"/>
          </a:ln>
        </p:spPr>
      </p:sp>
      <p:sp>
        <p:nvSpPr>
          <p:cNvPr id="19" name="Shape 17"/>
          <p:cNvSpPr/>
          <p:nvPr/>
        </p:nvSpPr>
        <p:spPr>
          <a:xfrm>
            <a:off x="5980176" y="3680460"/>
            <a:ext cx="566928" cy="0"/>
          </a:xfrm>
          <a:prstGeom prst="line">
            <a:avLst/>
          </a:prstGeom>
          <a:noFill/>
          <a:ln w="15240">
            <a:solidFill>
              <a:srgbClr val="000000"/>
            </a:solidFill>
            <a:prstDash val="solid"/>
            <a:tailEnd type="triangle"/>
          </a:ln>
        </p:spPr>
      </p:sp>
      <p:sp>
        <p:nvSpPr>
          <p:cNvPr id="20" name="Shape 18"/>
          <p:cNvSpPr/>
          <p:nvPr/>
        </p:nvSpPr>
        <p:spPr>
          <a:xfrm>
            <a:off x="8878824" y="3680460"/>
            <a:ext cx="566928" cy="0"/>
          </a:xfrm>
          <a:prstGeom prst="line">
            <a:avLst/>
          </a:prstGeom>
          <a:noFill/>
          <a:ln w="15240">
            <a:solidFill>
              <a:srgbClr val="000000"/>
            </a:solidFill>
            <a:prstDash val="solid"/>
            <a:tailEnd type="triangle"/>
          </a:ln>
        </p:spPr>
      </p:sp>
      <p:sp>
        <p:nvSpPr>
          <p:cNvPr id="21" name="Text 19"/>
          <p:cNvSpPr/>
          <p:nvPr/>
        </p:nvSpPr>
        <p:spPr>
          <a:xfrm>
            <a:off x="5705856" y="4480560"/>
            <a:ext cx="3447288" cy="182880"/>
          </a:xfrm>
          <a:prstGeom prst="rect">
            <a:avLst/>
          </a:prstGeom>
          <a:noFill/>
          <a:ln/>
        </p:spPr>
        <p:txBody>
          <a:bodyPr wrap="square" lIns="0" tIns="0" rIns="0" bIns="0" rtlCol="0" anchor="ctr"/>
          <a:lstStyle/>
          <a:p>
            <a:pPr algn="ctr" indent="0" marL="0">
              <a:buNone/>
            </a:pPr>
            <a:r>
              <a:rPr lang="en-US" sz="800" spc="100" kern="0" dirty="0">
                <a:solidFill>
                  <a:srgbClr val="5C6366"/>
                </a:solidFill>
                <a:latin typeface="Work Sans" pitchFamily="34" charset="0"/>
                <a:ea typeface="Work Sans" pitchFamily="34" charset="-122"/>
                <a:cs typeface="Work Sans" pitchFamily="34" charset="-120"/>
              </a:rPr>
              <a:t>MINUTES, NOT DAYS</a:t>
            </a:r>
            <a:endParaRPr lang="en-US" sz="800" dirty="0"/>
          </a:p>
        </p:txBody>
      </p:sp>
      <p:sp>
        <p:nvSpPr>
          <p:cNvPr id="22" name="Text 20"/>
          <p:cNvSpPr/>
          <p:nvPr/>
        </p:nvSpPr>
        <p:spPr>
          <a:xfrm>
            <a:off x="566928" y="5074920"/>
            <a:ext cx="10143439" cy="548640"/>
          </a:xfrm>
          <a:prstGeom prst="rect">
            <a:avLst/>
          </a:prstGeom>
          <a:noFill/>
          <a:ln/>
        </p:spPr>
        <p:txBody>
          <a:bodyPr wrap="square" lIns="0" tIns="0" rIns="0" bIns="0" rtlCol="0" anchor="ctr"/>
          <a:lstStyle/>
          <a:p>
            <a:pPr indent="0" marL="0">
              <a:lnSpc>
                <a:spcPts val="1700"/>
              </a:lnSpc>
              <a:buNone/>
            </a:pPr>
            <a:r>
              <a:rPr lang="en-US" sz="1150" b="1" dirty="0">
                <a:solidFill>
                  <a:srgbClr val="000000"/>
                </a:solidFill>
                <a:latin typeface="Work Sans" pitchFamily="34" charset="0"/>
                <a:ea typeface="Work Sans" pitchFamily="34" charset="-122"/>
                <a:cs typeface="Work Sans" pitchFamily="34" charset="-120"/>
              </a:rPr>
              <a:t>Two rules cover everything: </a:t>
            </a:r>
            <a:pPr indent="0" marL="0">
              <a:lnSpc>
                <a:spcPts val="1700"/>
              </a:lnSpc>
              <a:buNone/>
            </a:pPr>
            <a:r>
              <a:rPr lang="en-US" sz="1150" dirty="0">
                <a:solidFill>
                  <a:srgbClr val="5C6366"/>
                </a:solidFill>
                <a:latin typeface="Work Sans" pitchFamily="34" charset="0"/>
                <a:ea typeface="Work Sans" pitchFamily="34" charset="-122"/>
                <a:cs typeface="Work Sans" pitchFamily="34" charset="-120"/>
              </a:rPr>
              <a:t>nothing changes until it reaches the master copy, and every change to the master is recorded — so nothing is ever lost.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GETTING STARTED</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04</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Starting a Claude session on the website.</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Claude Code is Claude working directly on the website's repository. You reach it from a web browser — nothing to install.</a:t>
            </a:r>
            <a:endParaRPr lang="en-US" sz="1150" dirty="0"/>
          </a:p>
        </p:txBody>
      </p:sp>
      <p:pic>
        <p:nvPicPr>
          <p:cNvPr id="10" name="Image 0" descr="/tmp/claude-0/-home-user-satis-group-website/ff8ab6f4-f9c2-556a-89f3-8bea05ba205c/build/assets/guide-claude-chapter.png">    </p:cNvPr>
          <p:cNvPicPr>
            <a:picLocks noChangeAspect="1"/>
          </p:cNvPicPr>
          <p:nvPr/>
        </p:nvPicPr>
        <p:blipFill>
          <a:blip r:embed="rId1"/>
          <a:stretch>
            <a:fillRect/>
          </a:stretch>
        </p:blipFill>
        <p:spPr>
          <a:xfrm>
            <a:off x="6778447" y="2584390"/>
            <a:ext cx="4846320" cy="3207124"/>
          </a:xfrm>
          <a:prstGeom prst="rect">
            <a:avLst/>
          </a:prstGeom>
        </p:spPr>
      </p:pic>
      <p:sp>
        <p:nvSpPr>
          <p:cNvPr id="11" name="Shape 8"/>
          <p:cNvSpPr/>
          <p:nvPr/>
        </p:nvSpPr>
        <p:spPr>
          <a:xfrm>
            <a:off x="6778447" y="2584390"/>
            <a:ext cx="4846320" cy="3207124"/>
          </a:xfrm>
          <a:prstGeom prst="rect">
            <a:avLst/>
          </a:prstGeom>
          <a:ln w="12700">
            <a:solidFill>
              <a:srgbClr val="CED1D2"/>
            </a:solidFill>
            <a:prstDash val="solid"/>
          </a:ln>
        </p:spPr>
      </p:sp>
      <p:sp>
        <p:nvSpPr>
          <p:cNvPr id="12" name="Text 9"/>
          <p:cNvSpPr/>
          <p:nvPr/>
        </p:nvSpPr>
        <p:spPr>
          <a:xfrm>
            <a:off x="6778447" y="5855522"/>
            <a:ext cx="4846320"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The written version of this walkthrough lives at /admin/guide — chapter “Making changes with Claude”.</a:t>
            </a:r>
            <a:endParaRPr lang="en-US" sz="850" dirty="0"/>
          </a:p>
        </p:txBody>
      </p:sp>
      <p:sp>
        <p:nvSpPr>
          <p:cNvPr id="13" name="Shape 10"/>
          <p:cNvSpPr/>
          <p:nvPr/>
        </p:nvSpPr>
        <p:spPr>
          <a:xfrm>
            <a:off x="566928" y="2116836"/>
            <a:ext cx="246888" cy="246888"/>
          </a:xfrm>
          <a:prstGeom prst="ellipse">
            <a:avLst/>
          </a:prstGeom>
          <a:solidFill>
            <a:srgbClr val="B3400C"/>
          </a:solidFill>
          <a:ln/>
        </p:spPr>
      </p:sp>
      <p:sp>
        <p:nvSpPr>
          <p:cNvPr id="14" name="Text 11"/>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5" name="Text 12"/>
          <p:cNvSpPr/>
          <p:nvPr/>
        </p:nvSpPr>
        <p:spPr>
          <a:xfrm>
            <a:off x="987552" y="2103120"/>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Open claude.ai/code in your browser</a:t>
            </a:r>
            <a:endParaRPr lang="en-US" sz="1200" dirty="0"/>
          </a:p>
        </p:txBody>
      </p:sp>
      <p:sp>
        <p:nvSpPr>
          <p:cNvPr id="16" name="Text 13"/>
          <p:cNvSpPr/>
          <p:nvPr/>
        </p:nvSpPr>
        <p:spPr>
          <a:xfrm>
            <a:off x="987552" y="2377440"/>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Sign in with your work Claude account. The development team sets up your access the first time — ask once, use forever.</a:t>
            </a:r>
            <a:endParaRPr lang="en-US" sz="1050" dirty="0"/>
          </a:p>
        </p:txBody>
      </p:sp>
      <p:sp>
        <p:nvSpPr>
          <p:cNvPr id="17" name="Shape 14"/>
          <p:cNvSpPr/>
          <p:nvPr/>
        </p:nvSpPr>
        <p:spPr>
          <a:xfrm>
            <a:off x="566928" y="2952750"/>
            <a:ext cx="246888" cy="246888"/>
          </a:xfrm>
          <a:prstGeom prst="ellipse">
            <a:avLst/>
          </a:prstGeom>
          <a:solidFill>
            <a:srgbClr val="B3400C"/>
          </a:solidFill>
          <a:ln/>
        </p:spPr>
      </p:sp>
      <p:sp>
        <p:nvSpPr>
          <p:cNvPr id="18" name="Text 15"/>
          <p:cNvSpPr/>
          <p:nvPr/>
        </p:nvSpPr>
        <p:spPr>
          <a:xfrm>
            <a:off x="521208" y="292714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9" name="Text 16"/>
          <p:cNvSpPr/>
          <p:nvPr/>
        </p:nvSpPr>
        <p:spPr>
          <a:xfrm>
            <a:off x="987552" y="2939034"/>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Choose the website repository</a:t>
            </a:r>
            <a:endParaRPr lang="en-US" sz="1200" dirty="0"/>
          </a:p>
        </p:txBody>
      </p:sp>
      <p:sp>
        <p:nvSpPr>
          <p:cNvPr id="20" name="Text 17"/>
          <p:cNvSpPr/>
          <p:nvPr/>
        </p:nvSpPr>
        <p:spPr>
          <a:xfrm>
            <a:off x="987552" y="3213354"/>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Select satis-group-website from the repository list. That connects the session to the site's master copy.</a:t>
            </a:r>
            <a:endParaRPr lang="en-US" sz="1050" dirty="0"/>
          </a:p>
        </p:txBody>
      </p:sp>
      <p:sp>
        <p:nvSpPr>
          <p:cNvPr id="21" name="Shape 18"/>
          <p:cNvSpPr/>
          <p:nvPr/>
        </p:nvSpPr>
        <p:spPr>
          <a:xfrm>
            <a:off x="566928" y="3788664"/>
            <a:ext cx="246888" cy="246888"/>
          </a:xfrm>
          <a:prstGeom prst="ellipse">
            <a:avLst/>
          </a:prstGeom>
          <a:solidFill>
            <a:srgbClr val="B3400C"/>
          </a:solidFill>
          <a:ln/>
        </p:spPr>
      </p:sp>
      <p:sp>
        <p:nvSpPr>
          <p:cNvPr id="22" name="Text 19"/>
          <p:cNvSpPr/>
          <p:nvPr/>
        </p:nvSpPr>
        <p:spPr>
          <a:xfrm>
            <a:off x="521208" y="376306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3" name="Text 20"/>
          <p:cNvSpPr/>
          <p:nvPr/>
        </p:nvSpPr>
        <p:spPr>
          <a:xfrm>
            <a:off x="987552" y="3774948"/>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Describe your change and send</a:t>
            </a:r>
            <a:endParaRPr lang="en-US" sz="1200" dirty="0"/>
          </a:p>
        </p:txBody>
      </p:sp>
      <p:sp>
        <p:nvSpPr>
          <p:cNvPr id="24" name="Text 21"/>
          <p:cNvSpPr/>
          <p:nvPr/>
        </p:nvSpPr>
        <p:spPr>
          <a:xfrm>
            <a:off x="987552" y="4049268"/>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Type what you want changed as if briefing a colleague. Claude reads the site's files, makes the edit, and shows you what it did.</a:t>
            </a:r>
            <a:endParaRPr lang="en-US" sz="1050" dirty="0"/>
          </a:p>
        </p:txBody>
      </p:sp>
      <p:sp>
        <p:nvSpPr>
          <p:cNvPr id="25" name="Shape 22"/>
          <p:cNvSpPr/>
          <p:nvPr/>
        </p:nvSpPr>
        <p:spPr>
          <a:xfrm>
            <a:off x="566928" y="4720590"/>
            <a:ext cx="5708599" cy="960120"/>
          </a:xfrm>
          <a:prstGeom prst="rect">
            <a:avLst/>
          </a:prstGeom>
          <a:solidFill>
            <a:srgbClr val="ECEEEE"/>
          </a:solidFill>
          <a:ln/>
        </p:spPr>
      </p:sp>
      <p:sp>
        <p:nvSpPr>
          <p:cNvPr id="26" name="Text 23"/>
          <p:cNvSpPr/>
          <p:nvPr/>
        </p:nvSpPr>
        <p:spPr>
          <a:xfrm>
            <a:off x="786384" y="4866894"/>
            <a:ext cx="526968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7" name="Text 24"/>
          <p:cNvSpPr/>
          <p:nvPr/>
        </p:nvSpPr>
        <p:spPr>
          <a:xfrm>
            <a:off x="786384" y="5086350"/>
            <a:ext cx="5269687" cy="4572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You cannot break anything by asking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Claude works on a copy until the change is committed and merged. Asking questions, exploring, or changing your mind costs nothing.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HOW TO ASK</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05</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Proven requests — copy these word for word.</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Describe the outcome, not the mechanics. These real examples all work verbatim:</a:t>
            </a:r>
            <a:endParaRPr lang="en-US" sz="1150" dirty="0"/>
          </a:p>
        </p:txBody>
      </p:sp>
      <p:sp>
        <p:nvSpPr>
          <p:cNvPr id="10" name="Shape 8"/>
          <p:cNvSpPr/>
          <p:nvPr/>
        </p:nvSpPr>
        <p:spPr>
          <a:xfrm>
            <a:off x="566928" y="2212848"/>
            <a:ext cx="5373472" cy="1874520"/>
          </a:xfrm>
          <a:prstGeom prst="rect">
            <a:avLst/>
          </a:prstGeom>
          <a:solidFill>
            <a:srgbClr val="ECEEEE"/>
          </a:solidFill>
          <a:ln/>
        </p:spPr>
      </p:sp>
      <p:sp>
        <p:nvSpPr>
          <p:cNvPr id="11" name="Text 9"/>
          <p:cNvSpPr/>
          <p:nvPr/>
        </p:nvSpPr>
        <p:spPr>
          <a:xfrm>
            <a:off x="786384" y="2377440"/>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“Change the status of 22 St John Street to ‘Fully let’ on its portfolio card and property page.”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Content edits — statuses, copy, dates, figures.</a:t>
            </a:r>
            <a:endParaRPr lang="en-US" sz="1150" dirty="0"/>
          </a:p>
        </p:txBody>
      </p:sp>
      <p:sp>
        <p:nvSpPr>
          <p:cNvPr id="12" name="Shape 10"/>
          <p:cNvSpPr/>
          <p:nvPr/>
        </p:nvSpPr>
        <p:spPr>
          <a:xfrm>
            <a:off x="6251296" y="2212848"/>
            <a:ext cx="5373472" cy="1874520"/>
          </a:xfrm>
          <a:prstGeom prst="rect">
            <a:avLst/>
          </a:prstGeom>
          <a:solidFill>
            <a:srgbClr val="ECEEEE"/>
          </a:solidFill>
          <a:ln/>
        </p:spPr>
      </p:sp>
      <p:sp>
        <p:nvSpPr>
          <p:cNvPr id="13" name="Text 11"/>
          <p:cNvSpPr/>
          <p:nvPr/>
        </p:nvSpPr>
        <p:spPr>
          <a:xfrm>
            <a:off x="6470752" y="2377440"/>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“Replace the hero photo on the Courthouse page with the attached image.”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Photography — attach the image to your message.</a:t>
            </a:r>
            <a:endParaRPr lang="en-US" sz="1150" dirty="0"/>
          </a:p>
        </p:txBody>
      </p:sp>
      <p:sp>
        <p:nvSpPr>
          <p:cNvPr id="14" name="Shape 12"/>
          <p:cNvSpPr/>
          <p:nvPr/>
        </p:nvSpPr>
        <p:spPr>
          <a:xfrm>
            <a:off x="566928" y="4398264"/>
            <a:ext cx="5373472" cy="1874520"/>
          </a:xfrm>
          <a:prstGeom prst="rect">
            <a:avLst/>
          </a:prstGeom>
          <a:solidFill>
            <a:srgbClr val="ECEEEE"/>
          </a:solidFill>
          <a:ln/>
        </p:spPr>
      </p:sp>
      <p:sp>
        <p:nvSpPr>
          <p:cNvPr id="15" name="Text 13"/>
          <p:cNvSpPr/>
          <p:nvPr/>
        </p:nvSpPr>
        <p:spPr>
          <a:xfrm>
            <a:off x="786384" y="4562856"/>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“Add this award to the About page: RESI Awards Rising Star 2026.”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Additions — awards, team members, accolades.</a:t>
            </a:r>
            <a:endParaRPr lang="en-US" sz="1150" dirty="0"/>
          </a:p>
        </p:txBody>
      </p:sp>
      <p:sp>
        <p:nvSpPr>
          <p:cNvPr id="16" name="Shape 14"/>
          <p:cNvSpPr/>
          <p:nvPr/>
        </p:nvSpPr>
        <p:spPr>
          <a:xfrm>
            <a:off x="6251296" y="4398264"/>
            <a:ext cx="5373472" cy="1874520"/>
          </a:xfrm>
          <a:prstGeom prst="rect">
            <a:avLst/>
          </a:prstGeom>
          <a:solidFill>
            <a:srgbClr val="ECEEEE"/>
          </a:solidFill>
          <a:ln/>
        </p:spPr>
      </p:sp>
      <p:sp>
        <p:nvSpPr>
          <p:cNvPr id="17" name="Text 15"/>
          <p:cNvSpPr/>
          <p:nvPr/>
        </p:nvSpPr>
        <p:spPr>
          <a:xfrm>
            <a:off x="6470752" y="4562856"/>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“Fix a typo on the contact page: ‘recieve’ should be ‘receive’.”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Small fixes — describe what's wrong and what right looks like.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MAGIC WORDS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06</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End every request with: “…then commit and push the change.”</a:t>
            </a:r>
            <a:endParaRPr lang="en-US" sz="2500" dirty="0"/>
          </a:p>
        </p:txBody>
      </p:sp>
      <p:sp>
        <p:nvSpPr>
          <p:cNvPr id="9" name="Text 7"/>
          <p:cNvSpPr/>
          <p:nvPr/>
        </p:nvSpPr>
        <p:spPr>
          <a:xfrm>
            <a:off x="566928" y="1517904"/>
            <a:ext cx="96926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commit is a saved, dated snapshot of the master copy with a note of what changed and why. Committing and pushing is what sends your change to the master — and the master is what the live site reprints from.</a:t>
            </a:r>
            <a:endParaRPr lang="en-US" sz="1150" dirty="0"/>
          </a:p>
        </p:txBody>
      </p:sp>
      <p:sp>
        <p:nvSpPr>
          <p:cNvPr id="10" name="Shape 8"/>
          <p:cNvSpPr/>
          <p:nvPr/>
        </p:nvSpPr>
        <p:spPr>
          <a:xfrm>
            <a:off x="566928" y="2880360"/>
            <a:ext cx="6949440" cy="1371600"/>
          </a:xfrm>
          <a:prstGeom prst="rect">
            <a:avLst/>
          </a:prstGeom>
          <a:solidFill>
            <a:srgbClr val="ECEEEE"/>
          </a:solidFill>
          <a:ln/>
        </p:spPr>
      </p:sp>
      <p:sp>
        <p:nvSpPr>
          <p:cNvPr id="11" name="Text 9"/>
          <p:cNvSpPr/>
          <p:nvPr/>
        </p:nvSpPr>
        <p:spPr>
          <a:xfrm>
            <a:off x="841248" y="2880360"/>
            <a:ext cx="6400800" cy="1371600"/>
          </a:xfrm>
          <a:prstGeom prst="rect">
            <a:avLst/>
          </a:prstGeom>
          <a:noFill/>
          <a:ln/>
        </p:spPr>
        <p:txBody>
          <a:bodyPr wrap="square" lIns="0" tIns="0" rIns="0" bIns="0" rtlCol="0" anchor="ctr"/>
          <a:lstStyle/>
          <a:p>
            <a:pPr indent="0" marL="0">
              <a:lnSpc>
                <a:spcPts val="1900"/>
              </a:lnSpc>
              <a:buNone/>
            </a:pPr>
            <a:r>
              <a:rPr lang="en-US" sz="1300" i="1" dirty="0">
                <a:solidFill>
                  <a:srgbClr val="000000"/>
                </a:solidFill>
                <a:latin typeface="Work Sans" pitchFamily="34" charset="0"/>
                <a:ea typeface="Work Sans" pitchFamily="34" charset="-122"/>
                <a:cs typeface="Work Sans" pitchFamily="34" charset="-120"/>
              </a:rPr>
              <a:t>“Replace the hero photo on the Courthouse page with the attached image, </a:t>
            </a:r>
            <a:pPr indent="0" marL="0">
              <a:lnSpc>
                <a:spcPts val="1900"/>
              </a:lnSpc>
              <a:buNone/>
            </a:pPr>
            <a:r>
              <a:rPr lang="en-US" sz="1300" b="1" i="1" dirty="0">
                <a:solidFill>
                  <a:srgbClr val="000000"/>
                </a:solidFill>
                <a:latin typeface="Work Sans" pitchFamily="34" charset="0"/>
                <a:ea typeface="Work Sans" pitchFamily="34" charset="-122"/>
                <a:cs typeface="Work Sans" pitchFamily="34" charset="-120"/>
              </a:rPr>
              <a:t>then commit and push the change.”</a:t>
            </a:r>
            <a:endParaRPr lang="en-US" sz="1300" dirty="0"/>
          </a:p>
        </p:txBody>
      </p:sp>
      <p:sp>
        <p:nvSpPr>
          <p:cNvPr id="12" name="Shape 10"/>
          <p:cNvSpPr/>
          <p:nvPr/>
        </p:nvSpPr>
        <p:spPr>
          <a:xfrm>
            <a:off x="8138160" y="2880360"/>
            <a:ext cx="3493008" cy="1737360"/>
          </a:xfrm>
          <a:prstGeom prst="rect">
            <a:avLst/>
          </a:prstGeom>
          <a:solidFill>
            <a:srgbClr val="ECEEEE"/>
          </a:solidFill>
          <a:ln/>
        </p:spPr>
      </p:sp>
      <p:sp>
        <p:nvSpPr>
          <p:cNvPr id="13" name="Text 11"/>
          <p:cNvSpPr/>
          <p:nvPr/>
        </p:nvSpPr>
        <p:spPr>
          <a:xfrm>
            <a:off x="8357616" y="3026664"/>
            <a:ext cx="3054096"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4" name="Text 12"/>
          <p:cNvSpPr/>
          <p:nvPr/>
        </p:nvSpPr>
        <p:spPr>
          <a:xfrm>
            <a:off x="8357616" y="3246120"/>
            <a:ext cx="3054096" cy="123444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Why it matters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Without the magic words the edit stays in the session — reviewed but not sent. With them, Claude commits, pushes, and tells you when it is done.</a:t>
            </a:r>
            <a:endParaRPr lang="en-US" sz="1100" dirty="0"/>
          </a:p>
        </p:txBody>
      </p:sp>
      <p:sp>
        <p:nvSpPr>
          <p:cNvPr id="15" name="Text 13"/>
          <p:cNvSpPr/>
          <p:nvPr/>
        </p:nvSpPr>
        <p:spPr>
          <a:xfrm>
            <a:off x="566928" y="4892040"/>
            <a:ext cx="10607040" cy="685800"/>
          </a:xfrm>
          <a:prstGeom prst="rect">
            <a:avLst/>
          </a:prstGeom>
          <a:noFill/>
          <a:ln/>
        </p:spPr>
        <p:txBody>
          <a:bodyPr wrap="square" lIns="0" tIns="0" rIns="0" bIns="0" rtlCol="0" anchor="ctr"/>
          <a:lstStyle/>
          <a:p>
            <a:pPr indent="0" marL="0">
              <a:lnSpc>
                <a:spcPts val="1700"/>
              </a:lnSpc>
              <a:buNone/>
            </a:pPr>
            <a:r>
              <a:rPr lang="en-US" sz="1150" b="1" dirty="0">
                <a:solidFill>
                  <a:srgbClr val="000000"/>
                </a:solidFill>
                <a:latin typeface="Work Sans" pitchFamily="34" charset="0"/>
                <a:ea typeface="Work Sans" pitchFamily="34" charset="-122"/>
                <a:cs typeface="Work Sans" pitchFamily="34" charset="-120"/>
              </a:rPr>
              <a:t>Commits are the audit trail.  </a:t>
            </a:r>
            <a:pPr indent="0" marL="0">
              <a:lnSpc>
                <a:spcPts val="1700"/>
              </a:lnSpc>
              <a:buNone/>
            </a:pPr>
            <a:r>
              <a:rPr lang="en-US" sz="1150" dirty="0">
                <a:solidFill>
                  <a:srgbClr val="5C6366"/>
                </a:solidFill>
                <a:latin typeface="Work Sans" pitchFamily="34" charset="0"/>
                <a:ea typeface="Work Sans" pitchFamily="34" charset="-122"/>
                <a:cs typeface="Work Sans" pitchFamily="34" charset="-120"/>
              </a:rPr>
              <a:t>Every change is dated, described and attributed — and any mistake can be rolled back to the snapshot before it. Ask Claude “what changed this month?” and it can tell you.</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AFTER YOU ASK</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07</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happens next — and how to check.</a:t>
            </a:r>
            <a:endParaRPr lang="en-US" sz="2500" dirty="0"/>
          </a:p>
        </p:txBody>
      </p:sp>
      <p:sp>
        <p:nvSpPr>
          <p:cNvPr id="9" name="Shape 7"/>
          <p:cNvSpPr/>
          <p:nvPr/>
        </p:nvSpPr>
        <p:spPr>
          <a:xfrm>
            <a:off x="566928" y="1586484"/>
            <a:ext cx="246888" cy="246888"/>
          </a:xfrm>
          <a:prstGeom prst="ellipse">
            <a:avLst/>
          </a:prstGeom>
          <a:solidFill>
            <a:srgbClr val="B3400C"/>
          </a:solidFill>
          <a:ln/>
        </p:spPr>
      </p:sp>
      <p:sp>
        <p:nvSpPr>
          <p:cNvPr id="10" name="Text 8"/>
          <p:cNvSpPr/>
          <p:nvPr/>
        </p:nvSpPr>
        <p:spPr>
          <a:xfrm>
            <a:off x="521208" y="156088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1" name="Text 9"/>
          <p:cNvSpPr/>
          <p:nvPr/>
        </p:nvSpPr>
        <p:spPr>
          <a:xfrm>
            <a:off x="987552" y="1572768"/>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Claude confirms the commit</a:t>
            </a:r>
            <a:endParaRPr lang="en-US" sz="1200" dirty="0"/>
          </a:p>
        </p:txBody>
      </p:sp>
      <p:sp>
        <p:nvSpPr>
          <p:cNvPr id="12" name="Text 10"/>
          <p:cNvSpPr/>
          <p:nvPr/>
        </p:nvSpPr>
        <p:spPr>
          <a:xfrm>
            <a:off x="987552" y="1847088"/>
            <a:ext cx="698601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It tells you what it changed and that the change is pushed. If the team reviews changes first, it opens a pull request — a change waiting for approval — instead.</a:t>
            </a:r>
            <a:endParaRPr lang="en-US" sz="1050" dirty="0"/>
          </a:p>
        </p:txBody>
      </p:sp>
      <p:sp>
        <p:nvSpPr>
          <p:cNvPr id="13" name="Shape 11"/>
          <p:cNvSpPr/>
          <p:nvPr/>
        </p:nvSpPr>
        <p:spPr>
          <a:xfrm>
            <a:off x="566928" y="2422398"/>
            <a:ext cx="246888" cy="246888"/>
          </a:xfrm>
          <a:prstGeom prst="ellipse">
            <a:avLst/>
          </a:prstGeom>
          <a:solidFill>
            <a:srgbClr val="B3400C"/>
          </a:solidFill>
          <a:ln/>
        </p:spPr>
      </p:sp>
      <p:sp>
        <p:nvSpPr>
          <p:cNvPr id="14" name="Text 12"/>
          <p:cNvSpPr/>
          <p:nvPr/>
        </p:nvSpPr>
        <p:spPr>
          <a:xfrm>
            <a:off x="521208" y="2396795"/>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5" name="Text 13"/>
          <p:cNvSpPr/>
          <p:nvPr/>
        </p:nvSpPr>
        <p:spPr>
          <a:xfrm>
            <a:off x="987552" y="2408682"/>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The site republishes itself</a:t>
            </a:r>
            <a:endParaRPr lang="en-US" sz="1200" dirty="0"/>
          </a:p>
        </p:txBody>
      </p:sp>
      <p:sp>
        <p:nvSpPr>
          <p:cNvPr id="16" name="Text 14"/>
          <p:cNvSpPr/>
          <p:nvPr/>
        </p:nvSpPr>
        <p:spPr>
          <a:xfrm>
            <a:off x="987552" y="2683002"/>
            <a:ext cx="698601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Vercel, the hosting platform, notices the new master copy and reprints the site automatically. Typically a few minutes. There is nothing to press.</a:t>
            </a:r>
            <a:endParaRPr lang="en-US" sz="1050" dirty="0"/>
          </a:p>
        </p:txBody>
      </p:sp>
      <p:sp>
        <p:nvSpPr>
          <p:cNvPr id="17" name="Shape 15"/>
          <p:cNvSpPr/>
          <p:nvPr/>
        </p:nvSpPr>
        <p:spPr>
          <a:xfrm>
            <a:off x="566928" y="3258312"/>
            <a:ext cx="246888" cy="246888"/>
          </a:xfrm>
          <a:prstGeom prst="ellipse">
            <a:avLst/>
          </a:prstGeom>
          <a:solidFill>
            <a:srgbClr val="B3400C"/>
          </a:solidFill>
          <a:ln/>
        </p:spPr>
      </p:sp>
      <p:sp>
        <p:nvSpPr>
          <p:cNvPr id="18" name="Text 16"/>
          <p:cNvSpPr/>
          <p:nvPr/>
        </p:nvSpPr>
        <p:spPr>
          <a:xfrm>
            <a:off x="521208" y="3232709"/>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19" name="Text 17"/>
          <p:cNvSpPr/>
          <p:nvPr/>
        </p:nvSpPr>
        <p:spPr>
          <a:xfrm>
            <a:off x="987552" y="3244596"/>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Verify on the live page</a:t>
            </a:r>
            <a:endParaRPr lang="en-US" sz="1200" dirty="0"/>
          </a:p>
        </p:txBody>
      </p:sp>
      <p:sp>
        <p:nvSpPr>
          <p:cNvPr id="20" name="Text 18"/>
          <p:cNvSpPr/>
          <p:nvPr/>
        </p:nvSpPr>
        <p:spPr>
          <a:xfrm>
            <a:off x="987552" y="3518916"/>
            <a:ext cx="6986016" cy="604647"/>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Open the page and check your change is showing. Not there after ten minutes? Ask in the same Claude session: “Was the commit pushed, and did the deployment succeed?” — Claude can check both.</a:t>
            </a:r>
            <a:endParaRPr lang="en-US" sz="1050" dirty="0"/>
          </a:p>
        </p:txBody>
      </p:sp>
      <p:sp>
        <p:nvSpPr>
          <p:cNvPr id="21" name="Shape 19"/>
          <p:cNvSpPr/>
          <p:nvPr/>
        </p:nvSpPr>
        <p:spPr>
          <a:xfrm>
            <a:off x="8430768" y="1618488"/>
            <a:ext cx="3193999" cy="1828800"/>
          </a:xfrm>
          <a:prstGeom prst="rect">
            <a:avLst/>
          </a:prstGeom>
          <a:solidFill>
            <a:srgbClr val="FFFFFF"/>
          </a:solidFill>
          <a:ln w="9525">
            <a:solidFill>
              <a:srgbClr val="000000"/>
            </a:solidFill>
            <a:prstDash val="solid"/>
          </a:ln>
        </p:spPr>
      </p:sp>
      <p:sp>
        <p:nvSpPr>
          <p:cNvPr id="22" name="Text 20"/>
          <p:cNvSpPr/>
          <p:nvPr/>
        </p:nvSpPr>
        <p:spPr>
          <a:xfrm>
            <a:off x="8650224" y="1764792"/>
            <a:ext cx="275508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23" name="Text 21"/>
          <p:cNvSpPr/>
          <p:nvPr/>
        </p:nvSpPr>
        <p:spPr>
          <a:xfrm>
            <a:off x="8650224" y="1984248"/>
            <a:ext cx="2755087" cy="132588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 good session ends with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 confirmation naming what changed, and the live page showing it. Keep the session open until you have seen both.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BIGGER JOBS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08</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Adding a whole new development — one request.</a:t>
            </a:r>
            <a:endParaRPr lang="en-US" sz="2500" dirty="0"/>
          </a:p>
        </p:txBody>
      </p:sp>
      <p:sp>
        <p:nvSpPr>
          <p:cNvPr id="9" name="Text 7"/>
          <p:cNvSpPr/>
          <p:nvPr/>
        </p:nvSpPr>
        <p:spPr>
          <a:xfrm>
            <a:off x="566928" y="1517904"/>
            <a:ext cx="896112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new development touches the portfolio grid, its own property page, the map and the investor platform. Claude follows a set checklist — you just supply the ingredients:</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Name, brand and address</a:t>
            </a:r>
            <a:endParaRPr lang="en-US" sz="1200" dirty="0"/>
          </a:p>
        </p:txBody>
      </p:sp>
      <p:sp>
        <p:nvSpPr>
          <p:cNvPr id="13" name="Text 11"/>
          <p:cNvSpPr/>
          <p:nvPr/>
        </p:nvSpPr>
        <p:spPr>
          <a:xfrm>
            <a:off x="987552" y="237744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e.g. “The Foundry, Altrincham” and the full address.</a:t>
            </a:r>
            <a:endParaRPr lang="en-US" sz="1000" dirty="0"/>
          </a:p>
        </p:txBody>
      </p:sp>
      <p:sp>
        <p:nvSpPr>
          <p:cNvPr id="14" name="Shape 12"/>
          <p:cNvSpPr/>
          <p:nvPr/>
        </p:nvSpPr>
        <p:spPr>
          <a:xfrm>
            <a:off x="566928" y="2754376"/>
            <a:ext cx="246888" cy="246888"/>
          </a:xfrm>
          <a:prstGeom prst="ellipse">
            <a:avLst/>
          </a:prstGeom>
          <a:solidFill>
            <a:srgbClr val="B3400C"/>
          </a:solidFill>
          <a:ln/>
        </p:spPr>
      </p:sp>
      <p:sp>
        <p:nvSpPr>
          <p:cNvPr id="15" name="Text 13"/>
          <p:cNvSpPr/>
          <p:nvPr/>
        </p:nvSpPr>
        <p:spPr>
          <a:xfrm>
            <a:off x="521208" y="272877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74066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Status and phase</a:t>
            </a:r>
            <a:endParaRPr lang="en-US" sz="1200" dirty="0"/>
          </a:p>
        </p:txBody>
      </p:sp>
      <p:sp>
        <p:nvSpPr>
          <p:cNvPr id="17" name="Text 15"/>
          <p:cNvSpPr/>
          <p:nvPr/>
        </p:nvSpPr>
        <p:spPr>
          <a:xfrm>
            <a:off x="987552" y="301498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e.g. Acquired / Pre-construction.</a:t>
            </a:r>
            <a:endParaRPr lang="en-US" sz="1000" dirty="0"/>
          </a:p>
        </p:txBody>
      </p:sp>
      <p:sp>
        <p:nvSpPr>
          <p:cNvPr id="18" name="Shape 16"/>
          <p:cNvSpPr/>
          <p:nvPr/>
        </p:nvSpPr>
        <p:spPr>
          <a:xfrm>
            <a:off x="566928" y="3391916"/>
            <a:ext cx="246888" cy="246888"/>
          </a:xfrm>
          <a:prstGeom prst="ellipse">
            <a:avLst/>
          </a:prstGeom>
          <a:solidFill>
            <a:srgbClr val="B3400C"/>
          </a:solidFill>
          <a:ln/>
        </p:spPr>
      </p:sp>
      <p:sp>
        <p:nvSpPr>
          <p:cNvPr id="19" name="Text 17"/>
          <p:cNvSpPr/>
          <p:nvPr/>
        </p:nvSpPr>
        <p:spPr>
          <a:xfrm>
            <a:off x="521208" y="336631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37820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Photography</a:t>
            </a:r>
            <a:endParaRPr lang="en-US" sz="1200" dirty="0"/>
          </a:p>
        </p:txBody>
      </p:sp>
      <p:sp>
        <p:nvSpPr>
          <p:cNvPr id="21" name="Text 19"/>
          <p:cNvSpPr/>
          <p:nvPr/>
        </p:nvSpPr>
        <p:spPr>
          <a:xfrm>
            <a:off x="987552" y="3652520"/>
            <a:ext cx="7443216" cy="39725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A hero photograph, any gallery photos, and the project logo if the scheme is branded. Attach them to the message.</a:t>
            </a:r>
            <a:endParaRPr lang="en-US" sz="1000" dirty="0"/>
          </a:p>
        </p:txBody>
      </p:sp>
      <p:sp>
        <p:nvSpPr>
          <p:cNvPr id="22" name="Shape 20"/>
          <p:cNvSpPr/>
          <p:nvPr/>
        </p:nvSpPr>
        <p:spPr>
          <a:xfrm>
            <a:off x="566928" y="4209796"/>
            <a:ext cx="246888" cy="246888"/>
          </a:xfrm>
          <a:prstGeom prst="ellipse">
            <a:avLst/>
          </a:prstGeom>
          <a:solidFill>
            <a:srgbClr val="B3400C"/>
          </a:solidFill>
          <a:ln/>
        </p:spPr>
      </p:sp>
      <p:sp>
        <p:nvSpPr>
          <p:cNvPr id="23" name="Text 21"/>
          <p:cNvSpPr/>
          <p:nvPr/>
        </p:nvSpPr>
        <p:spPr>
          <a:xfrm>
            <a:off x="521208" y="418419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4" name="Text 22"/>
          <p:cNvSpPr/>
          <p:nvPr/>
        </p:nvSpPr>
        <p:spPr>
          <a:xfrm>
            <a:off x="987552" y="419608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Brochure PDF, if there is one</a:t>
            </a:r>
            <a:endParaRPr lang="en-US" sz="1200" dirty="0"/>
          </a:p>
        </p:txBody>
      </p:sp>
      <p:sp>
        <p:nvSpPr>
          <p:cNvPr id="25" name="Text 23"/>
          <p:cNvSpPr/>
          <p:nvPr/>
        </p:nvSpPr>
        <p:spPr>
          <a:xfrm>
            <a:off x="987552" y="447040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It becomes a download on the property page.</a:t>
            </a:r>
            <a:endParaRPr lang="en-US" sz="1000" dirty="0"/>
          </a:p>
        </p:txBody>
      </p:sp>
      <p:sp>
        <p:nvSpPr>
          <p:cNvPr id="26" name="Shape 24"/>
          <p:cNvSpPr/>
          <p:nvPr/>
        </p:nvSpPr>
        <p:spPr>
          <a:xfrm>
            <a:off x="566928" y="4847336"/>
            <a:ext cx="246888" cy="246888"/>
          </a:xfrm>
          <a:prstGeom prst="ellipse">
            <a:avLst/>
          </a:prstGeom>
          <a:solidFill>
            <a:srgbClr val="B3400C"/>
          </a:solidFill>
          <a:ln/>
        </p:spPr>
      </p:sp>
      <p:sp>
        <p:nvSpPr>
          <p:cNvPr id="27" name="Text 25"/>
          <p:cNvSpPr/>
          <p:nvPr/>
        </p:nvSpPr>
        <p:spPr>
          <a:xfrm>
            <a:off x="521208" y="48217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5</a:t>
            </a:r>
            <a:endParaRPr lang="en-US" sz="1050" dirty="0"/>
          </a:p>
        </p:txBody>
      </p:sp>
      <p:sp>
        <p:nvSpPr>
          <p:cNvPr id="28" name="Text 26"/>
          <p:cNvSpPr/>
          <p:nvPr/>
        </p:nvSpPr>
        <p:spPr>
          <a:xfrm>
            <a:off x="987552" y="483362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Investor-platform figures</a:t>
            </a:r>
            <a:endParaRPr lang="en-US" sz="1200" dirty="0"/>
          </a:p>
        </p:txBody>
      </p:sp>
      <p:sp>
        <p:nvSpPr>
          <p:cNvPr id="29" name="Text 27"/>
          <p:cNvSpPr/>
          <p:nvPr/>
        </p:nvSpPr>
        <p:spPr>
          <a:xfrm>
            <a:off x="987552" y="510794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SPV name, equity value, total committed, senior debt and forecast IRR.</a:t>
            </a:r>
            <a:endParaRPr lang="en-US" sz="1000" dirty="0"/>
          </a:p>
        </p:txBody>
      </p:sp>
      <p:sp>
        <p:nvSpPr>
          <p:cNvPr id="30" name="Shape 28"/>
          <p:cNvSpPr/>
          <p:nvPr/>
        </p:nvSpPr>
        <p:spPr>
          <a:xfrm>
            <a:off x="566928" y="5608320"/>
            <a:ext cx="7863840" cy="914400"/>
          </a:xfrm>
          <a:prstGeom prst="rect">
            <a:avLst/>
          </a:prstGeom>
          <a:solidFill>
            <a:srgbClr val="FFFFFF"/>
          </a:solidFill>
          <a:ln w="9525">
            <a:solidFill>
              <a:srgbClr val="000000"/>
            </a:solidFill>
            <a:prstDash val="solid"/>
          </a:ln>
        </p:spPr>
      </p:sp>
      <p:sp>
        <p:nvSpPr>
          <p:cNvPr id="31" name="Text 29"/>
          <p:cNvSpPr/>
          <p:nvPr/>
        </p:nvSpPr>
        <p:spPr>
          <a:xfrm>
            <a:off x="786384" y="5754624"/>
            <a:ext cx="7424928"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32" name="Text 30"/>
          <p:cNvSpPr/>
          <p:nvPr/>
        </p:nvSpPr>
        <p:spPr>
          <a:xfrm>
            <a:off x="786384" y="5974080"/>
            <a:ext cx="7424928" cy="41148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Afterwards, check four places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portfolio grid shows the new card · its property page opens · the map shows its pin · the Developments &amp; SPVs tab lists its SPV.</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WHERE THINGS LIVE</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09</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Claude is actually editing.</a:t>
            </a:r>
            <a:endParaRPr lang="en-US" sz="2500" dirty="0"/>
          </a:p>
        </p:txBody>
      </p:sp>
      <p:sp>
        <p:nvSpPr>
          <p:cNvPr id="9" name="Text 7"/>
          <p:cNvSpPr/>
          <p:nvPr/>
        </p:nvSpPr>
        <p:spPr>
          <a:xfrm>
            <a:off x="566928" y="1618488"/>
            <a:ext cx="4114800" cy="4297680"/>
          </a:xfrm>
          <a:prstGeom prst="rect">
            <a:avLst/>
          </a:prstGeom>
          <a:noFill/>
          <a:ln/>
        </p:spPr>
        <p:txBody>
          <a:bodyPr wrap="square" lIns="0" tIns="0" rIns="0" bIns="0" rtlCol="0" anchor="t"/>
          <a:lstStyle/>
          <a:p>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The public website is data-driven: every page is generated from structured files in the repository. You never edit a page's design — you change the data and the design applies itself.
</a:t>
            </a:r>
            <a:pPr indent="0" marL="0">
              <a:lnSpc>
                <a:spcPts val="1600"/>
              </a:lnSpc>
              <a:spcAft>
                <a:spcPts val="1000"/>
              </a:spcAft>
              <a:buNone/>
            </a:pPr>
            <a:r>
              <a:rPr lang="en-US" sz="1100" b="1" dirty="0">
                <a:solidFill>
                  <a:srgbClr val="000000"/>
                </a:solidFill>
                <a:latin typeface="Work Sans" pitchFamily="34" charset="0"/>
                <a:ea typeface="Work Sans" pitchFamily="34" charset="-122"/>
                <a:cs typeface="Work Sans" pitchFamily="34" charset="-120"/>
              </a:rPr>
              <a:t>For the curious: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Portfolio cards — lib/portfolio-data.ts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Property pages — lib/property-pages.ts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Photography — public/images/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News stories — content/newsletters/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Investor data — content/investors/
</a:t>
            </a:r>
            <a:endParaRPr lang="en-US" sz="1100" dirty="0"/>
          </a:p>
        </p:txBody>
      </p:sp>
      <p:pic>
        <p:nvPicPr>
          <p:cNvPr id="10" name="Image 0" descr="/tmp/claude-0/-home-user-satis-group-website/ff8ab6f4-f9c2-556a-89f3-8bea05ba205c/build/assets/portfolio-top.png">    </p:cNvPr>
          <p:cNvPicPr>
            <a:picLocks noChangeAspect="1"/>
          </p:cNvPicPr>
          <p:nvPr/>
        </p:nvPicPr>
        <p:blipFill>
          <a:blip r:embed="rId1"/>
          <a:stretch>
            <a:fillRect/>
          </a:stretch>
        </p:blipFill>
        <p:spPr>
          <a:xfrm>
            <a:off x="5093208" y="1761598"/>
            <a:ext cx="6531559" cy="4322355"/>
          </a:xfrm>
          <a:prstGeom prst="rect">
            <a:avLst/>
          </a:prstGeom>
        </p:spPr>
      </p:pic>
      <p:sp>
        <p:nvSpPr>
          <p:cNvPr id="11" name="Shape 8"/>
          <p:cNvSpPr/>
          <p:nvPr/>
        </p:nvSpPr>
        <p:spPr>
          <a:xfrm>
            <a:off x="5093208" y="1761598"/>
            <a:ext cx="6531559" cy="4322355"/>
          </a:xfrm>
          <a:prstGeom prst="rect">
            <a:avLst/>
          </a:prstGeom>
          <a:ln w="12700">
            <a:solidFill>
              <a:srgbClr val="CED1D2"/>
            </a:solidFill>
            <a:prstDash val="solid"/>
          </a:ln>
        </p:spPr>
      </p:sp>
      <p:sp>
        <p:nvSpPr>
          <p:cNvPr id="12" name="Text 9"/>
          <p:cNvSpPr/>
          <p:nvPr/>
        </p:nvSpPr>
        <p:spPr>
          <a:xfrm>
            <a:off x="5093208" y="6147962"/>
            <a:ext cx="6531559"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Every card on the portfolio grid is generated from a data file — no page is edited by hand.</a:t>
            </a:r>
            <a:endParaRPr lang="en-US" sz="850" dirty="0"/>
          </a:p>
        </p:txBody>
      </p:sp>
      <p:sp>
        <p:nvSpPr>
          <p:cNvPr id="13" name="Shape 10"/>
          <p:cNvSpPr/>
          <p:nvPr/>
        </p:nvSpPr>
        <p:spPr>
          <a:xfrm>
            <a:off x="566928" y="5029200"/>
            <a:ext cx="4114800" cy="1188720"/>
          </a:xfrm>
          <a:prstGeom prst="rect">
            <a:avLst/>
          </a:prstGeom>
          <a:solidFill>
            <a:srgbClr val="ECEEEE"/>
          </a:solidFill>
          <a:ln/>
        </p:spPr>
      </p:sp>
      <p:sp>
        <p:nvSpPr>
          <p:cNvPr id="14" name="Text 11"/>
          <p:cNvSpPr/>
          <p:nvPr/>
        </p:nvSpPr>
        <p:spPr>
          <a:xfrm>
            <a:off x="786384" y="5175504"/>
            <a:ext cx="3675888"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5" name="Text 12"/>
          <p:cNvSpPr/>
          <p:nvPr/>
        </p:nvSpPr>
        <p:spPr>
          <a:xfrm>
            <a:off x="786384" y="5394960"/>
            <a:ext cx="3675888" cy="6858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You never need these paths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Claude finds the right file from your description. They are here to demystify, not to memorise.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SKILLS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10</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100+ specialist playbooks, already installed.</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repository carries a catalogue of professional “skills” Claude loads to work to a set standard. You never install anything — ask for the outcome and the right playbook loads:</a:t>
            </a:r>
            <a:endParaRPr lang="en-US" sz="1150" dirty="0"/>
          </a:p>
        </p:txBody>
      </p:sp>
      <p:sp>
        <p:nvSpPr>
          <p:cNvPr id="10" name="Shape 8"/>
          <p:cNvSpPr/>
          <p:nvPr/>
        </p:nvSpPr>
        <p:spPr>
          <a:xfrm>
            <a:off x="566928" y="2212848"/>
            <a:ext cx="3478682" cy="1417320"/>
          </a:xfrm>
          <a:prstGeom prst="rect">
            <a:avLst/>
          </a:prstGeom>
          <a:solidFill>
            <a:srgbClr val="ECEEEE"/>
          </a:solidFill>
          <a:ln/>
        </p:spPr>
      </p:sp>
      <p:sp>
        <p:nvSpPr>
          <p:cNvPr id="11" name="Text 9"/>
          <p:cNvSpPr/>
          <p:nvPr/>
        </p:nvSpPr>
        <p:spPr>
          <a:xfrm>
            <a:off x="786384"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2" name="Text 10"/>
          <p:cNvSpPr/>
          <p:nvPr/>
        </p:nvSpPr>
        <p:spPr>
          <a:xfrm>
            <a:off x="786384"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“Run an accessibility audit and fix what it finds.”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WCAG accessibility review of the whole site.</a:t>
            </a:r>
            <a:endParaRPr lang="en-US" sz="1100" dirty="0"/>
          </a:p>
        </p:txBody>
      </p:sp>
      <p:sp>
        <p:nvSpPr>
          <p:cNvPr id="13" name="Shape 11"/>
          <p:cNvSpPr/>
          <p:nvPr/>
        </p:nvSpPr>
        <p:spPr>
          <a:xfrm>
            <a:off x="4356506" y="2212848"/>
            <a:ext cx="3478682" cy="1417320"/>
          </a:xfrm>
          <a:prstGeom prst="rect">
            <a:avLst/>
          </a:prstGeom>
          <a:solidFill>
            <a:srgbClr val="ECEEEE"/>
          </a:solidFill>
          <a:ln/>
        </p:spPr>
      </p:sp>
      <p:sp>
        <p:nvSpPr>
          <p:cNvPr id="14" name="Text 12"/>
          <p:cNvSpPr/>
          <p:nvPr/>
        </p:nvSpPr>
        <p:spPr>
          <a:xfrm>
            <a:off x="4575962"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5" name="Text 13"/>
          <p:cNvSpPr/>
          <p:nvPr/>
        </p:nvSpPr>
        <p:spPr>
          <a:xfrm>
            <a:off x="4575962"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“Audit the site's SEO and implement the quick wins.”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Search-ranking audit and fixes.</a:t>
            </a:r>
            <a:endParaRPr lang="en-US" sz="1100" dirty="0"/>
          </a:p>
        </p:txBody>
      </p:sp>
      <p:sp>
        <p:nvSpPr>
          <p:cNvPr id="16" name="Shape 14"/>
          <p:cNvSpPr/>
          <p:nvPr/>
        </p:nvSpPr>
        <p:spPr>
          <a:xfrm>
            <a:off x="8146085" y="2212848"/>
            <a:ext cx="3478682" cy="1417320"/>
          </a:xfrm>
          <a:prstGeom prst="rect">
            <a:avLst/>
          </a:prstGeom>
          <a:solidFill>
            <a:srgbClr val="ECEEEE"/>
          </a:solidFill>
          <a:ln/>
        </p:spPr>
      </p:sp>
      <p:sp>
        <p:nvSpPr>
          <p:cNvPr id="17" name="Text 15"/>
          <p:cNvSpPr/>
          <p:nvPr/>
        </p:nvSpPr>
        <p:spPr>
          <a:xfrm>
            <a:off x="8365541"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8" name="Text 16"/>
          <p:cNvSpPr/>
          <p:nvPr/>
        </p:nvSpPr>
        <p:spPr>
          <a:xfrm>
            <a:off x="8365541"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“Review my last change for bugs and security issues.”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 second pair of expert eyes on any change.</a:t>
            </a:r>
            <a:endParaRPr lang="en-US" sz="1100" dirty="0"/>
          </a:p>
        </p:txBody>
      </p:sp>
      <p:sp>
        <p:nvSpPr>
          <p:cNvPr id="19" name="Shape 17"/>
          <p:cNvSpPr/>
          <p:nvPr/>
        </p:nvSpPr>
        <p:spPr>
          <a:xfrm>
            <a:off x="566928" y="3941064"/>
            <a:ext cx="3478682" cy="1417320"/>
          </a:xfrm>
          <a:prstGeom prst="rect">
            <a:avLst/>
          </a:prstGeom>
          <a:solidFill>
            <a:srgbClr val="ECEEEE"/>
          </a:solidFill>
          <a:ln/>
        </p:spPr>
      </p:sp>
      <p:sp>
        <p:nvSpPr>
          <p:cNvPr id="20" name="Text 18"/>
          <p:cNvSpPr/>
          <p:nvPr/>
        </p:nvSpPr>
        <p:spPr>
          <a:xfrm>
            <a:off x="786384"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1" name="Text 19"/>
          <p:cNvSpPr/>
          <p:nvPr/>
        </p:nvSpPr>
        <p:spPr>
          <a:xfrm>
            <a:off x="786384"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“Rewrite this paragraph in the house voice.”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Writing and editing to the Satis tone.</a:t>
            </a:r>
            <a:endParaRPr lang="en-US" sz="1100" dirty="0"/>
          </a:p>
        </p:txBody>
      </p:sp>
      <p:sp>
        <p:nvSpPr>
          <p:cNvPr id="22" name="Shape 20"/>
          <p:cNvSpPr/>
          <p:nvPr/>
        </p:nvSpPr>
        <p:spPr>
          <a:xfrm>
            <a:off x="4356506" y="3941064"/>
            <a:ext cx="3478682" cy="1417320"/>
          </a:xfrm>
          <a:prstGeom prst="rect">
            <a:avLst/>
          </a:prstGeom>
          <a:solidFill>
            <a:srgbClr val="ECEEEE"/>
          </a:solidFill>
          <a:ln/>
        </p:spPr>
      </p:sp>
      <p:sp>
        <p:nvSpPr>
          <p:cNvPr id="23" name="Text 21"/>
          <p:cNvSpPr/>
          <p:nvPr/>
        </p:nvSpPr>
        <p:spPr>
          <a:xfrm>
            <a:off x="4575962"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4" name="Text 22"/>
          <p:cNvSpPr/>
          <p:nvPr/>
        </p:nvSpPr>
        <p:spPr>
          <a:xfrm>
            <a:off x="4575962"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“/design-standards review the contact page.”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Design QA against the site's spacing, contrast and type rules.</a:t>
            </a:r>
            <a:endParaRPr lang="en-US" sz="1100" dirty="0"/>
          </a:p>
        </p:txBody>
      </p:sp>
      <p:sp>
        <p:nvSpPr>
          <p:cNvPr id="25" name="Shape 23"/>
          <p:cNvSpPr/>
          <p:nvPr/>
        </p:nvSpPr>
        <p:spPr>
          <a:xfrm>
            <a:off x="8146085" y="3941064"/>
            <a:ext cx="3478682" cy="1417320"/>
          </a:xfrm>
          <a:prstGeom prst="rect">
            <a:avLst/>
          </a:prstGeom>
          <a:solidFill>
            <a:srgbClr val="ECEEEE"/>
          </a:solidFill>
          <a:ln/>
        </p:spPr>
      </p:sp>
      <p:sp>
        <p:nvSpPr>
          <p:cNvPr id="26" name="Text 24"/>
          <p:cNvSpPr/>
          <p:nvPr/>
        </p:nvSpPr>
        <p:spPr>
          <a:xfrm>
            <a:off x="8365541"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7" name="Text 25"/>
          <p:cNvSpPr/>
          <p:nvPr/>
        </p:nvSpPr>
        <p:spPr>
          <a:xfrm>
            <a:off x="8365541"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“Run SEO, accessibility and code-review agents in parallel and fix the findings.”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Site-wide sweeps — how the current standards were set.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SAFETY</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11</a:t>
            </a:r>
            <a:endParaRPr lang="en-US" sz="800" dirty="0"/>
          </a:p>
        </p:txBody>
      </p:sp>
      <p:sp>
        <p:nvSpPr>
          <p:cNvPr id="8" name="Text 6"/>
          <p:cNvSpPr/>
          <p:nvPr/>
        </p:nvSpPr>
        <p:spPr>
          <a:xfrm>
            <a:off x="566928" y="2377440"/>
            <a:ext cx="10143439" cy="1463040"/>
          </a:xfrm>
          <a:prstGeom prst="rect">
            <a:avLst/>
          </a:prstGeom>
          <a:noFill/>
          <a:ln/>
        </p:spPr>
        <p:txBody>
          <a:bodyPr wrap="square" lIns="0" tIns="0" rIns="0" bIns="0" rtlCol="0" anchor="ctr"/>
          <a:lstStyle/>
          <a:p>
            <a:pPr indent="0" marL="0">
              <a:lnSpc>
                <a:spcPts val="3250"/>
              </a:lnSpc>
              <a:buNone/>
            </a:pPr>
            <a:r>
              <a:rPr lang="en-US" sz="2600" dirty="0">
                <a:solidFill>
                  <a:srgbClr val="FFFFFF"/>
                </a:solidFill>
                <a:latin typeface="Work Sans" pitchFamily="34" charset="0"/>
                <a:ea typeface="Work Sans" pitchFamily="34" charset="-122"/>
                <a:cs typeface="Work Sans" pitchFamily="34" charset="-120"/>
              </a:rPr>
              <a:t>Nothing is ever lost, and nothing goes live unseen.</a:t>
            </a:r>
            <a:endParaRPr lang="en-US" sz="2600" dirty="0"/>
          </a:p>
        </p:txBody>
      </p:sp>
      <p:sp>
        <p:nvSpPr>
          <p:cNvPr id="9" name="Text 7"/>
          <p:cNvSpPr/>
          <p:nvPr/>
        </p:nvSpPr>
        <p:spPr>
          <a:xfrm>
            <a:off x="566928" y="4160520"/>
            <a:ext cx="9692640" cy="1371600"/>
          </a:xfrm>
          <a:prstGeom prst="rect">
            <a:avLst/>
          </a:prstGeom>
          <a:noFill/>
          <a:ln/>
        </p:spPr>
        <p:txBody>
          <a:bodyPr wrap="square" lIns="0" tIns="0" rIns="0" bIns="0" rtlCol="0" anchor="ctr"/>
          <a:lstStyle/>
          <a:p>
            <a:pPr indent="0" marL="0">
              <a:lnSpc>
                <a:spcPts val="1900"/>
              </a:lnSpc>
              <a:buNone/>
            </a:pPr>
            <a:r>
              <a:rPr lang="en-US" sz="1250" dirty="0">
                <a:solidFill>
                  <a:srgbClr val="B9BDBE"/>
                </a:solidFill>
                <a:latin typeface="Work Sans" pitchFamily="34" charset="0"/>
                <a:ea typeface="Work Sans" pitchFamily="34" charset="-122"/>
                <a:cs typeface="Work Sans" pitchFamily="34" charset="-120"/>
              </a:rPr>
              <a:t>Every change is a dated snapshot that can be rolled back. Claude explains what it changed before it commits, and the live site only ever reprints from the master copy. If anything ever looks wrong: ask Claude to undo the last change — that is a one-sentence request too.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RECAP</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12</a:t>
            </a:r>
            <a:endParaRPr lang="en-US" sz="800" dirty="0"/>
          </a:p>
        </p:txBody>
      </p:sp>
      <p:sp>
        <p:nvSpPr>
          <p:cNvPr id="8" name="Text 6"/>
          <p:cNvSpPr/>
          <p:nvPr/>
        </p:nvSpPr>
        <p:spPr>
          <a:xfrm>
            <a:off x="566928" y="969264"/>
            <a:ext cx="11057839" cy="548640"/>
          </a:xfrm>
          <a:prstGeom prst="rect">
            <a:avLst/>
          </a:prstGeom>
          <a:noFill/>
          <a:ln/>
        </p:spPr>
        <p:txBody>
          <a:bodyPr wrap="square" lIns="0" tIns="0" rIns="0" bIns="0" rtlCol="0" anchor="ctr"/>
          <a:lstStyle/>
          <a:p>
            <a:pPr indent="0" marL="0">
              <a:buNone/>
            </a:pPr>
            <a:r>
              <a:rPr lang="en-US" sz="2400" dirty="0">
                <a:solidFill>
                  <a:srgbClr val="FFFFFF"/>
                </a:solidFill>
                <a:latin typeface="Work Sans" pitchFamily="34" charset="0"/>
                <a:ea typeface="Work Sans" pitchFamily="34" charset="-122"/>
                <a:cs typeface="Work Sans" pitchFamily="34" charset="-120"/>
              </a:rPr>
              <a:t>What to remember.</a:t>
            </a:r>
            <a:endParaRPr lang="en-US" sz="2400" dirty="0"/>
          </a:p>
        </p:txBody>
      </p:sp>
      <p:sp>
        <p:nvSpPr>
          <p:cNvPr id="9" name="Text 7"/>
          <p:cNvSpPr/>
          <p:nvPr/>
        </p:nvSpPr>
        <p:spPr>
          <a:xfrm>
            <a:off x="612648" y="1783080"/>
            <a:ext cx="6675120" cy="4023360"/>
          </a:xfrm>
          <a:prstGeom prst="rect">
            <a:avLst/>
          </a:prstGeom>
          <a:noFill/>
          <a:ln/>
        </p:spPr>
        <p:txBody>
          <a:bodyPr wrap="square" lIns="0" tIns="0" rIns="0" bIns="0" rtlCol="0" anchor="t"/>
          <a:lstStyle/>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The live site reprints from a master copy — Claude is how you edit the master.</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Describe outcomes in plain English; include the page and exact wording you want.</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End with “…then commit and push the change”, then verify on the live page.</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New development = one request with five ingredients.</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Ask for outcomes and the specialist skills load themselves.</a:t>
            </a:r>
            <a:endParaRPr lang="en-US" sz="1250" dirty="0"/>
          </a:p>
        </p:txBody>
      </p:sp>
      <p:sp>
        <p:nvSpPr>
          <p:cNvPr id="10" name="Shape 8"/>
          <p:cNvSpPr/>
          <p:nvPr/>
        </p:nvSpPr>
        <p:spPr>
          <a:xfrm>
            <a:off x="7818120" y="1828800"/>
            <a:ext cx="0" cy="3291840"/>
          </a:xfrm>
          <a:prstGeom prst="line">
            <a:avLst/>
          </a:prstGeom>
          <a:noFill/>
          <a:ln w="9525">
            <a:solidFill>
              <a:srgbClr val="3A3A3A"/>
            </a:solidFill>
            <a:prstDash val="solid"/>
          </a:ln>
        </p:spPr>
      </p:sp>
      <p:sp>
        <p:nvSpPr>
          <p:cNvPr id="11" name="Text 9"/>
          <p:cNvSpPr/>
          <p:nvPr/>
        </p:nvSpPr>
        <p:spPr>
          <a:xfrm>
            <a:off x="8183880" y="1828800"/>
            <a:ext cx="3383280" cy="219456"/>
          </a:xfrm>
          <a:prstGeom prst="rect">
            <a:avLst/>
          </a:prstGeom>
          <a:noFill/>
          <a:ln/>
        </p:spPr>
        <p:txBody>
          <a:bodyPr wrap="square" lIns="0" tIns="0" rIns="0" bIns="0" rtlCol="0" anchor="ctr"/>
          <a:lstStyle/>
          <a:p>
            <a:pPr indent="0" marL="0">
              <a:buNone/>
            </a:pPr>
            <a:r>
              <a:rPr lang="en-US" sz="850" spc="240" kern="0" dirty="0">
                <a:solidFill>
                  <a:srgbClr val="B9BDBE"/>
                </a:solidFill>
                <a:latin typeface="Work Sans" pitchFamily="34" charset="0"/>
                <a:ea typeface="Work Sans" pitchFamily="34" charset="-122"/>
                <a:cs typeface="Work Sans" pitchFamily="34" charset="-120"/>
              </a:rPr>
              <a:t>WHERE TO GET HELP</a:t>
            </a:r>
            <a:endParaRPr lang="en-US" sz="850" dirty="0"/>
          </a:p>
        </p:txBody>
      </p:sp>
      <p:sp>
        <p:nvSpPr>
          <p:cNvPr id="12" name="Text 10"/>
          <p:cNvSpPr/>
          <p:nvPr/>
        </p:nvSpPr>
        <p:spPr>
          <a:xfrm>
            <a:off x="8183880" y="2194560"/>
            <a:ext cx="3429000" cy="3108960"/>
          </a:xfrm>
          <a:prstGeom prst="rect">
            <a:avLst/>
          </a:prstGeom>
          <a:noFill/>
          <a:ln/>
        </p:spPr>
        <p:txBody>
          <a:bodyPr wrap="square" lIns="0" tIns="0" rIns="0" bIns="0" rtlCol="0" anchor="t"/>
          <a:lstStyle/>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The written walkthrough: /admin/guide → “Making changes with Claude”.</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Stuck mid-session? Ask Claude itself — “explain what just happened” works.</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Access to claude.ai/code: ask the development team once.</a:t>
            </a:r>
            <a:endParaRPr lang="en-US" sz="1050" dirty="0"/>
          </a:p>
        </p:txBody>
      </p:sp>
      <p:sp>
        <p:nvSpPr>
          <p:cNvPr id="13" name="Text 11"/>
          <p:cNvSpPr/>
          <p:nvPr/>
        </p:nvSpPr>
        <p:spPr>
          <a:xfrm>
            <a:off x="0" y="5806440"/>
            <a:ext cx="12191695" cy="457200"/>
          </a:xfrm>
          <a:prstGeom prst="rect">
            <a:avLst/>
          </a:prstGeom>
          <a:noFill/>
          <a:ln/>
        </p:spPr>
        <p:txBody>
          <a:bodyPr wrap="square" lIns="0" tIns="0" rIns="0" bIns="0" rtlCol="0" anchor="ctr"/>
          <a:lstStyle/>
          <a:p>
            <a:pPr algn="ctr" indent="0" marL="0">
              <a:buNone/>
            </a:pPr>
            <a:r>
              <a:rPr lang="en-US" sz="2000" spc="1500" kern="0" dirty="0">
                <a:solidFill>
                  <a:srgbClr val="FFFFFF"/>
                </a:solidFill>
                <a:latin typeface="Work Sans" pitchFamily="34" charset="0"/>
                <a:ea typeface="Work Sans" pitchFamily="34" charset="-122"/>
                <a:cs typeface="Work Sans" pitchFamily="34" charset="-120"/>
              </a:rPr>
              <a:t>SATIS</a:t>
            </a:r>
            <a:endParaRPr lang="en-US" sz="2000" dirty="0"/>
          </a:p>
        </p:txBody>
      </p:sp>
      <p:sp>
        <p:nvSpPr>
          <p:cNvPr id="14" name="Text 12"/>
          <p:cNvSpPr/>
          <p:nvPr/>
        </p:nvSpPr>
        <p:spPr>
          <a:xfrm>
            <a:off x="0" y="6236208"/>
            <a:ext cx="12191695" cy="219456"/>
          </a:xfrm>
          <a:prstGeom prst="rect">
            <a:avLst/>
          </a:prstGeom>
          <a:noFill/>
          <a:ln/>
        </p:spPr>
        <p:txBody>
          <a:bodyPr wrap="square" lIns="0" tIns="0" rIns="0" bIns="0" rtlCol="0" anchor="ctr"/>
          <a:lstStyle/>
          <a:p>
            <a:pPr algn="ctr" indent="0" marL="0">
              <a:buNone/>
            </a:pPr>
            <a:r>
              <a:rPr lang="en-US" sz="750" spc="600" kern="0" dirty="0">
                <a:solidFill>
                  <a:srgbClr val="B9BDBE"/>
                </a:solidFill>
                <a:latin typeface="Work Sans" pitchFamily="34" charset="0"/>
                <a:ea typeface="Work Sans" pitchFamily="34" charset="-122"/>
                <a:cs typeface="Work Sans" pitchFamily="34" charset="-120"/>
              </a:rPr>
              <a:t>GROUP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Satis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Editing the website with Claude.</dc:title>
  <dc:subject>PptxGenJS Presentation</dc:subject>
  <dc:creator>Satis Group</dc:creator>
  <cp:lastModifiedBy>Satis Group</cp:lastModifiedBy>
  <cp:revision>1</cp:revision>
  <dcterms:created xsi:type="dcterms:W3CDTF">2026-08-19T17:30:33Z</dcterms:created>
  <dcterms:modified xsi:type="dcterms:W3CDTF">2026-08-19T17:30:33Z</dcterms:modified>
</cp:coreProperties>
</file>