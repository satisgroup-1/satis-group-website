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longest session in the series — the investor platform end to end. First what investors see, then the seven-tab studio that drives it, then the working routines: accounts, holdings, cash events, reports, insights, raises, documents and support. Take a break in the middle if you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warning on length. If the audience only remembers two things: the golden rule (slide on values), and the quarterly routine (near the end). Everything else can be looked up in the guide chapter by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page if connected. The enquiry form is new — it captures prospective investors in the platform's own branding and emails each submission to the enquiries inbox (covered in webinar 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room absorb the screenshot — most of the team never sees the portal from the investor side. The framing sentence matters: the portal is a projection of the studio's data, which is why the studio routines are the whole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automatic tier is a favourite support fact: record a cap-table position and the account upgrades itself to invested — no switch to remember. The override drop-down on the investor form exists for rare exceptions only. My portfolio is the newest section: one tab per investment, each with its own private file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teach every tab now — this is the map. SPV in plain English: the limited company set up to own one development; investors buy shares in the SPV, not the building. Cap table: the list of who owns what percentage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platform's single most important idea and the diagnosis shortcut for every “my valuation looks wrong” call. Weighted IRR and distributions derive similarly — from SPV forecasts and paid cash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noting the starting password before saving — hashed means unreadable afterwards. The account card's ID (shown as “ID …”) is how you address the account later for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handover discipline as admin accounts. Investors are exactly the audience attackers would impersonate — a phone call for the password is thirty seconds well spent.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after saving: on the Investors tab the account now shows the position, a value equal to share% × equity value, and reads “Invested” automatically. Re-saving the same investor+SPV replaces the position — that's also how you correct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events don't replace like positions do: to fix a wrong event, Remove it and record it again correctly. Paid distributions and interest are what the portal sums into “distributions to date”.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syntax is the only fiddly bit: two “ — ” separators per line. If a task looks wrong in the portal, a missing separator is almost always why. To see reports as investors do, keep an in-house invested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two-part design (file into public/investor-reports/, path in the form) is the pattern for every attached document on the platform. Same Claude request works for data-room files — two slides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Richer blocks — statistic rows, tables, coloured callouts — exist through the JSON importer; ask Claude to add one. The slug-replace behaviour is the one asymmetry with news stories worth calling out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English for the terms: IRR = annualised return the deal aims for; multiple = money back per pound in (1.6x = £1.60 per £1). Updating uses the fill-in-everything rule: type the opportunity's ID, complete the whole form,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update Progress %, phase/status and next-report date while in the development form — they set expectations in the portal. Do all three steps together and every portal is current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 Claude sets the audience and stores the PDF under public/ — nothing you need to do. The verification habit in step 3 is non-negotiable for private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blank-password rule works in your favour: leaving Password empty when updating keeps the current one — routine detail edits can never accidentally lock someone out. To see what an investor sees, keep one in-house invested and one prospective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export is also the bridge to Claude for bulk edits: download, attach to a session, describe the changes, import — or let studio saves commit directly on the live site (webinar 06 covers the token that enables that).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takeaways, answer questions, and point everyone at the written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tis-group-website/ff8ab6f4-f9c2-556a-89f3-8bea05ba205c/build/assets/cover-investo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566928"/>
            <a:ext cx="1105783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7132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BACKEND WEBINAR SERIES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0" y="2304288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09067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1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3913632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investor platform.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194560" y="4590288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investors see, how to run it from the platform studio, and the routines that keep every figure current.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D8DAD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BACKEND WEBINAR 04 OF 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THIS WEBINAR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this session covers.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an investor sees is generated from a handful of datasets you edit in one place — the platform studio.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212848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investors see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2487168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portal, and the two kinds of account.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054096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seven tabs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3328416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studio's mental model in five minutes.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895344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golden rule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4169664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Portfolio values are worked out, not typed in.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730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0228" y="2212848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Accounts &amp; holdings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0228" y="2487168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Create an investor, record their position, log cash.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4730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0228" y="3054096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Publishing to the portal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0228" y="3328416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Monthly reports, insights, and upcoming raises.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4730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0228" y="3895344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Figures, documents &amp; support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0228" y="4169664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quarterly routine, the data room, and the sign-in playbook.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INVESTORS SEE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front door: satisgroup.co.uk/investors.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618488"/>
            <a:ext cx="3931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Investors sign in with their email address and a password you set for them. Sessions last 24 hours; five wrong tries pauses that connection for 15 minutes — the same protections as the admin.
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 an investor yet? The “Become an investor” buttons lead to a short enquiry form at /investors/enquire — name, email, company — styled to match the platform.
</a:t>
            </a:r>
            <a:endParaRPr lang="en-US" sz="1100" dirty="0"/>
          </a:p>
        </p:txBody>
      </p:sp>
      <p:pic>
        <p:nvPicPr>
          <p:cNvPr id="10" name="Image 0" descr="/tmp/claude-0/-home-user-satis-group-website/ff8ab6f4-f9c2-556a-89f3-8bea05ba205c/build/assets/investor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1701087"/>
            <a:ext cx="6714439" cy="444337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10328" y="1701087"/>
            <a:ext cx="6714439" cy="4443379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6208473"/>
            <a:ext cx="6714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investor platform's own sign-in — black and gold, separate from the admin.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4983480"/>
            <a:ext cx="3931920" cy="118872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1297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86384" y="534924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Separate doors, separate keys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 accounts are managed inside the platform studio — not on the admin accounts page. Different system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INVESTORS SEE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Inside the portal: every figure traces back to you.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618488"/>
            <a:ext cx="3703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overview greets the investor by first name and shows their headline numbers, live raises, latest reports and a value-progression chart.
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single figure on this screen is generated from something you edit in the platform studio — nothing on the portal is typed directly.
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sidebar navigation adapts to the kind of account — next slide.
</a:t>
            </a:r>
            <a:endParaRPr lang="en-US" sz="1100" dirty="0"/>
          </a:p>
        </p:txBody>
      </p:sp>
      <p:pic>
        <p:nvPicPr>
          <p:cNvPr id="10" name="Image 0" descr="/tmp/claude-0/-home-user-satis-group-website/ff8ab6f4-f9c2-556a-89f3-8bea05ba205c/build/assets/investor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625447"/>
            <a:ext cx="6943039" cy="459465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81728" y="1625447"/>
            <a:ext cx="6943039" cy="4594658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6284113"/>
            <a:ext cx="69430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 invested client's overview — portfolio value, committed capital, weighted IRR, distributions.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INVESTORS SEE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kinds of account, two different portals.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account is either prospective or invested — and the platform works the type out automatically: an account holding a position counts as invested.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537347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493456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Prospective — considering investing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Sees: overview, upcoming investments (deal flow), the data room, track record, market intelligence, insights.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Does not see: cap tables, financials, monthly reports — construction detail stays with committed investors.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shop window: raises and research make the case.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1296" y="2212848"/>
            <a:ext cx="537347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752" y="2377440"/>
            <a:ext cx="493456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Invested — money in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Sees: overview (with live raises flagged), My portfolio — a tab per investment with its files — developments, monthly reports, market intelligence, insights, financials and documents.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Figures update the moment you save in the studio.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Becomes the account type automatically when a position is recorded.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STUDIO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Seven tabs run the whole platform.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the control room, click Investors. Each tab edits one kind of information, and the small number on a tab shows how many records it holds.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platform-ta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1167" y="2231943"/>
            <a:ext cx="5943600" cy="74819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81167" y="2231943"/>
            <a:ext cx="5943600" cy="748194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1167" y="3044145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platform studio's tab bar at /admin/platform.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335127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332567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333756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3611880"/>
            <a:ext cx="419069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Accounts and quarterly valuations.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398881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396321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397510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Developments &amp; SPVs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4249420"/>
            <a:ext cx="419069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Each project and the company that owns it.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462635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60075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461264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 tables &amp; returns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4886960"/>
            <a:ext cx="419069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Who owns what share; money in and out.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" y="526389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523829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525018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Monthly reports · 5 Insights · 6 Opportunities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5524500"/>
            <a:ext cx="4190695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you publish to the portal: project updates, research, and raises.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6928" y="608177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" y="605617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6068060"/>
            <a:ext cx="4190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Import / export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6342380"/>
            <a:ext cx="419069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as one file — backup, bulk edit, restore.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GOLDEN RULE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Portfolio values are worked out, not typed in.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never type an investor's portfolio value anywhere. The platform computes it from two numbers you do control: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" y="30175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17520"/>
            <a:ext cx="2596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Share %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the cap 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3048" y="3246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×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498848" y="30175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017520"/>
            <a:ext cx="2596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SPV equity value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Developments &amp; SPVs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79208" y="3246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=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065008" y="3017520"/>
            <a:ext cx="329184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01752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investor's value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computed, per holding, summed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709160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things follow.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revaluation is one edit — update the SPV's equity value and every holder's figures move at once. And when a portal figure looks wrong, the cause is always one of these two numbers: the share % or the equity value. Check both; the culprit is one of them.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ACCOUNTS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Creating an investor account.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Investors tab → the “Add or update investor” form. About five minutes.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investor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2652" y="2103120"/>
            <a:ext cx="4037990" cy="41696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02652" y="2103120"/>
            <a:ext cx="4037990" cy="4169664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02652" y="6336792"/>
            <a:ext cx="4037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Numbers match the on-screen badges. After Save investor: a green confirmation, and the account lists as “Prospective investor”, £0, 0 positions — exactly right before any holding exists.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Account / entity name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59280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 it should appear in their portal — e.g. “Hartwell Family Office”.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2745359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719756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731643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Contact first name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005963"/>
            <a:ext cx="59280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Used for greetings — “Good morning, James”.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373882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348279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360166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Account ID — leave empty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634486"/>
            <a:ext cx="59280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Derived automatically. You only type one to update an existing account.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002405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3976802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3988689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Login email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263009"/>
            <a:ext cx="59280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they sign in with. Double-check the spelling — a typo locks them out.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463092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" y="460532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4617212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Account type — leave as is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4891532"/>
            <a:ext cx="59280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platform derives it from holdings.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" y="5259451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4" name="Text 31"/>
          <p:cNvSpPr/>
          <p:nvPr/>
        </p:nvSpPr>
        <p:spPr>
          <a:xfrm>
            <a:off x="521208" y="5233848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87552" y="5245735"/>
            <a:ext cx="5928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Password — note it now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87552" y="5520055"/>
            <a:ext cx="59280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Scrambled the instant you save; never visible again.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ACCOUNTS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Handing over credentials — safely.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347868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828800"/>
            <a:ext cx="303977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Use a trusted channel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Ideally by phone. Or split across two channels: email address by email, password by text message.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6506" y="1664208"/>
            <a:ext cx="3478682" cy="2148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5962" y="181051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5962" y="2029968"/>
            <a:ext cx="303977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Never both in one email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that email is ever compromised, so is their portal. One thread must never carry the address and the password together.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1664208"/>
            <a:ext cx="347868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1828800"/>
            <a:ext cx="303977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Then encourage a prompt sign-in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Point them at the website's Investors page. Trouble getting in? The support playbook near the end of this session covers every common case.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MONEY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Recording a holding (a cap-table position).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 tables &amp; returns tab, top half. This is what turns a prospect into an invested client.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captable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4207" y="2191181"/>
            <a:ext cx="4480560" cy="399354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44207" y="2191181"/>
            <a:ext cx="4480560" cy="3993543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44207" y="6248731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add-or-update position form.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Development / SPV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Which project the holding is in.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2745359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719756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731643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Platform investor — or external holder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005963"/>
            <a:ext cx="5653735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Pick the account. Use the External holder box only for shareholders without a portal account (e.g. the Satis Group stake). One or the other, never both.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71652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69092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702812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Committed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977132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they put in — £250k and £250,000 both work.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345051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4319448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4331335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Share %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605655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Their agreed percentage of the SPV — e.g. 12.5.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497357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" y="494797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4959858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Status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5234178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Active for live; Realised or Exited for concluded holdings.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" y="5394960"/>
            <a:ext cx="6074359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786384" y="5541264"/>
            <a:ext cx="5635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86384" y="5760720"/>
            <a:ext cx="56354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100% guard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SPV's positions can never exceed 100% — the form refuses and names the total it would have reached. Surprised? Something already on the table holds that share.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MONEY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Logging cash events.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Same tab, lower half. Cash events are the money-movement history: paid events feed “distributions to date”; forecast events appear as upcoming.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cash-even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4207" y="2267712"/>
            <a:ext cx="448056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44207" y="2267712"/>
            <a:ext cx="4480560" cy="3840480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44207" y="61722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record-cash-event form.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Whose money is moving.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2745359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719756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731643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Type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005963"/>
            <a:ext cx="565373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Distribution (profit out) · Forecast distribution (planned) · Capital call (money in) · Interest payment.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545205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519602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531489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Status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805809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Paid if it happened; Forecast if expected.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17372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414812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4160012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Date and amount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434332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Year-month-day, e.g. 2026-09-30 · £125,000.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4802251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" y="4776648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4788535"/>
            <a:ext cx="5653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Related development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5062855"/>
            <a:ext cx="565373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Optional, but linking keeps the history tidy.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" y="5486400"/>
            <a:ext cx="6074359" cy="91440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34" name="Text 31"/>
          <p:cNvSpPr/>
          <p:nvPr/>
        </p:nvSpPr>
        <p:spPr>
          <a:xfrm>
            <a:off x="786384" y="5632704"/>
            <a:ext cx="5635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86384" y="5852160"/>
            <a:ext cx="56354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When a forecast becomes real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Record a new event with status Paid, then Remove the old forecast entry — leaving both double-counts the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PUBLISHING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Publishing a monthly report.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Monthly reports tab. Reports reach invested clients only, the moment you publish — prospects never see construction detail.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repor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8370" y="2103120"/>
            <a:ext cx="3115155" cy="41696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78370" y="2103120"/>
            <a:ext cx="3115155" cy="4169664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78370" y="6336792"/>
            <a:ext cx="31151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publish-monthly-report form.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Development and period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Which project, and the month written out — “August 2026” is the headline investors see.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2916682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891079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902966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Category and title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177286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word for the kind of update — Construction, Planning, Lettings — and a one-line headline for the month.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71652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69092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702812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977132"/>
            <a:ext cx="61566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paragraph or two: progress, issues, next steps.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345051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4319448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4331335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Tasks — one per line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605655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Three parts separated by spaced dashes: Title — detail — status. E.g. “Superstructure — Frame at level three — On programme”.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5144897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" y="5119294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5131181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Report file — next slide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5405501"/>
            <a:ext cx="61566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Leave empty for now; the report publishes fine without it.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" y="5486400"/>
            <a:ext cx="6577279" cy="91440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34" name="Text 31"/>
          <p:cNvSpPr/>
          <p:nvPr/>
        </p:nvSpPr>
        <p:spPr>
          <a:xfrm>
            <a:off x="786384" y="5632704"/>
            <a:ext cx="61383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86384" y="5852160"/>
            <a:ext cx="61383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Why task lines matter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Each line becomes its own item investors can ask about directly. Specific, honest lines generate fewer worried calls than vague ones.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PUBLISHING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Attaching the report PDF.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Report file box records where the PDF lives on the website — it does not upload the file. Getting it there is a one-off step per report: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Ask Claude to add the 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a session on the website repository: “Add this PDF as public/investor-reports/august-2026.pdf” — and attach the file. Or hand it to the development team.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5275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92714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293903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Type the matching path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213354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Back in the form's Report file box, starting with a slash: /investor-reports/august-2026.pdf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78866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76306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774948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Or skip it entirely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049268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report still publishes — the portal's download button stays an inactive placeholder until a file is added.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YOU SHOULD SEE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the published list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Each report shows its period, task count, and “report uploaded” or “no report file yet” — so missing files are visible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PUBLISHING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Insights: research and market commentary.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Insights tab. Articles appear in the portal for both prospective and invested accounts — the same plain-typing style as news stories, with one extra trick.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insigh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051" y="2103120"/>
            <a:ext cx="3055792" cy="41696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08051" y="2103120"/>
            <a:ext cx="3055792" cy="4169664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08051" y="6336792"/>
            <a:ext cx="3055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compose-insight form.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Title, category, date, read time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Category is the card label — “Market note”, “Research”. Read time: about one minute per 200 words.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2916682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891079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902966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Card colour and slug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177286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Colour is purely cosmetic — balance the page. Slug: leave empty for new articles.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71652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69092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702812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Summary and body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977132"/>
            <a:ext cx="6156655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Paragraphs, ## headings and - bullets as in news stories — plus pull quotes: start a line with &gt; and a space; credit on the next line as “— Savills Research, 2026”.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687697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4662094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4673981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 insight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948301"/>
            <a:ext cx="61566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Live in the portal immediately; the published list shows the article's slug.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5394960"/>
            <a:ext cx="6577279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" y="5541264"/>
            <a:ext cx="61383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86384" y="5760720"/>
            <a:ext cx="61383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Slugs replace — by design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Typing an existing slug and publishing replaces that article (that is how you update one). The opposite of news stories — so keep the slug box empty for new pieces.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PUBLISHING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Opportunities: advertising a raise.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Opportunities tab — the deal-flow page prospective investors browse, with live raises also flagged on every investor's overview. This is the shop window for prospects.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opportunity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410" y="2103120"/>
            <a:ext cx="2659075" cy="41696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06410" y="2103120"/>
            <a:ext cx="2659075" cy="4169664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6410" y="6336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add-or-update opportunity form.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Name, location, status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Coming soon (visible, not open) · Open (accepting commitments) · Fully subscribed (closed, shown complete).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2916682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891079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902966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Target raise and raised to date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177286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progress bar is worked out from these two — £3.2m target with £2.1m raised shows 66%.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71652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69092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702812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headline terms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977132"/>
            <a:ext cx="6156655" cy="3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Min commitment, target IRR %, target multiple, horizon, and the structure — what investors actually buy, e.g. “Ordinary shares in Satis (QUBE) Ltd”.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51637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449077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4502658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Summary and highlights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776978"/>
            <a:ext cx="6156655" cy="20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pitch. Highlights are one per line and render as a bulleted list.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5240909"/>
            <a:ext cx="6577279" cy="114300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" y="5387213"/>
            <a:ext cx="61383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86384" y="5606669"/>
            <a:ext cx="61383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Keep the bar moving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Update Raised to date as commitments land — a moving bar does more for momentum than any covering email. When the raise completes: status Fully subscribed, then record each position on the cap table — the moment prospects become invested.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FIGURES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quarterly routine that keeps every portal current.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 confidence lives and dies on figures being current. Fifteen minutes at each quarter end: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Update each SPV's equity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6803136" cy="60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Developments &amp; SPVs tab. Type the development's ID to update it — and fill in the whole form: saving replaces everything, so copy current values across first, change what changed, save. This one number moves every holder's value.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42107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116504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3128391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Record each investor's quarterly valuation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402711"/>
            <a:ext cx="6803136" cy="60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Investors tab → “Record quarterly valuation”: investor, period label (“Q3 2026”), portfolio value — normally exactly the computed value already shown on their card. Adds the point to their value-progression chart.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16737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14177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415366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 the monthly reports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427982"/>
            <a:ext cx="6803136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 covered — one per development, while the valuation numbers are fresh.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2011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fill-in-everything rule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Updating a development with only one box filled saves the other fields empty. Copy the card's current values into the form first — then edit.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DOCUMENTS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data room: memorandums, appraisals, private documents.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Documents are the one dataset without a form — the easiest way to change them is to ask Claude. Getting the audience right matters more than anything else here: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Decide who should see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prospective (and invested) investor — marketing material like a raise memorandum. Or one investor only — a private document like their subscription agreement.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5275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92714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293903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Ask Claude — two proven forms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213354"/>
            <a:ext cx="6803136" cy="60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“Add this PDF to the investor data room for all prospective investors: title ‘QUBE Stockport — Investment Memorandum’, dated 2026-08-19.” · “Add a private data-room document for the Hartwell account only, titled ‘Subscription agreement — signed’, using this PDF.”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978021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952418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964305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Verify private really means private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238625"/>
            <a:ext cx="6803136" cy="60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 in as a different account (the in-house one) and confirm the document is NOT visible; then as the right account to confirm it is. Thirty seconds beats a confidentiality slip.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173736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Documents without files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document entry with no file still appears as a listed item — useful for “available on request” material.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SUPPORT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sign-in support playbook.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“I can't get in” comes down to one of these — all fixable in minutes: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47868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303977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Forgotten password → set a new one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Investors tab → note the account's ID → type it into the form, re-enter name, first name and email exactly as shown, type a new password, save. Tell them by phone — then they sign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6506" y="2212848"/>
            <a:ext cx="347868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2377440"/>
            <a:ext cx="303977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“Too many attempts” → 15 minutes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Five failures pauses their connection. Have them wait 15 minutes — and reset the password meanwhile if they're unsure of it, so the next try succeeds.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2212848"/>
            <a:ext cx="347868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377440"/>
            <a:ext cx="303977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“It signed me out” → normal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Sessions last 24 hours then quietly expire — protection, not a fault. They sign in again; nothing is lost.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ROUTINE — DATA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Import, export, and the backup habit.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618488"/>
            <a:ext cx="3931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Export current dataset downloads everything — every investor, development, cap table, report, insight and opportunity — as one file, exactly as the live site serves it.
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same tab accepts a prepared file back: Validate &amp; import checks everything first (including the 100% cap-table rule) and only replaces the datasets present in the file.
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Export before any big editing session — the file is a perfect backup and a perfect restore.
</a:t>
            </a:r>
            <a:endParaRPr lang="en-US" sz="1100" dirty="0"/>
          </a:p>
        </p:txBody>
      </p:sp>
      <p:pic>
        <p:nvPicPr>
          <p:cNvPr id="10" name="Image 0" descr="/tmp/claude-0/-home-user-satis-group-website/ff8ab6f4-f9c2-556a-89f3-8bea05ba205c/build/assets/data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4786" y="1572768"/>
            <a:ext cx="4225522" cy="4526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54786" y="1572768"/>
            <a:ext cx="4225522" cy="4526280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4786" y="6163056"/>
            <a:ext cx="4225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Import / export tab — the platform's back-up door.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5029200"/>
            <a:ext cx="3931920" cy="114300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17550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86384" y="5394960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JSON, in plain English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Structured text computers read reliably. You never write it by hand — Claude reads and edits it for you.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THE INVESTOR PLATFORM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to remember.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investors see is generated from datasets you edit in the seven-tab studio.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golden rule: value = share % × SPV equity value. A wrong figure is always one of those two numbers.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Position saved → account becomes invested automatically and sees reports and financials.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Quarterly: equity values → valuations → reports. Fifteen minutes keeps every portal current.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Documents and bulk edits go through Claude; export before big sessions.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828800"/>
            <a:ext cx="0" cy="329184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828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TO GET HELP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Written chapters: /admin/guide → the Investor platform group (six chapters).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Start with “How the investor platform fits together” — five minutes.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Figures look wrong? Check share % and equity value before anything else.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623620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6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Satis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investor platform.</dc:title>
  <dc:subject>PptxGenJS Presentation</dc:subject>
  <dc:creator>Satis Group</dc:creator>
  <cp:lastModifiedBy>Satis Group</cp:lastModifiedBy>
  <cp:revision>1</cp:revision>
  <dcterms:created xsi:type="dcterms:W3CDTF">2026-08-19T17:56:13Z</dcterms:created>
  <dcterms:modified xsi:type="dcterms:W3CDTF">2026-08-19T17:56:13Z</dcterms:modified>
</cp:coreProperties>
</file>