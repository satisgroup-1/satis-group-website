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longest session in the series: the investor platform end to end. First what investors see, then the seven-tab studio that drives it, then the working routines: accounts, holdings, cash events, reports, insights, raises, documents and support. Take a break in the middle if you need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warning on length. If the audience only remembers two things: the golden rule (slide on values), and the quarterly routine (near the end). Everything else can be looked up in the guide chapter by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page if connected. The enquiry form is new. It captures prospective investors in the platform's own branding and emails each submission to the enquiries inbox (covered in webinar 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absorb the screenshot; most of the team never sees the portal from the investor side. The framing sentence matters: the portal is a projection of the studio's data, which is why the studio routines are the whole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automatic tier is a favourite support fact: record a cap-table position and the account upgrades itself to invested. No switch to remember. The override drop-down on the investor form exists for rare exceptions only. My portfolio is the newest section: one tab per investment, each with its own private file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teach every tab now; this is the map. SPV in plain English: the limited company set up to own one development. Investors buy shares in the SPV, not the building. Cap table: the list of who owns what percentage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platform's single most important idea and the diagnosis shortcut for every “my valuation looks wrong” call. Weighted IRR and distributions derive similarly, from SPV forecasts and paid cash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noting the starting password before saving. Hashed means unreadable afterwards. The account card's ID (shown as “ID …”) is how you address the account later for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handover discipline as admin accounts. Investors are exactly the audience attackers would impersonate. A phone call for the password is thirty seconds well spent.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after saving: on the Investors tab the account now shows the position, a value equal to share % × equity value, and reads “Invested” automatically. Re-saving the same investor and SPV replaces the position. That is also how you correct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events don't replace like positions do: to fix a wrong event, Remove it and record it again correctly. Paid distributions and interest are what the portal sums into “distributions to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 syntax is the only fiddly bit: two “ -- ” separators per line (a long dash works too). If a task looks wrong in the portal, a missing separator is almost always why. To see reports as investors do, keep an in-house invested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two-part design (file into public/investor-reports/, path in the form) is the pattern for every attached document on the platform. The same Claude request works for data-room files, two slides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Richer blocks (statistic rows, tables, coloured callouts) exist through the JSON importer; ask Claude to add one. The slug-replace behaviour is the one asymmetry with news stories worth calling out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English for the terms: IRR is the annualised return the deal aims for; multiple is money back per pound in (1.6x means £1.60 per £1). Updating uses the fill-in-everything rule: type the opportunity's ID, complete the whole form, 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update Progress %, phase/status and next-report date while in the development form; they set expectations in the portal. Do all three steps together and every portal is current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hood Claude sets the audience and stores the PDF under public/. Nothing you need to do. The verification habit in step 3 is non-negotiable for private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blank-password rule works in your favour: leaving Password empty when updating keeps the current one, so routine detail edits can never accidentally lock anyone out. To see what an investor sees, keep one in-house invested and one prospective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export is also the bridge to Claude for bulk edits: download, attach to a session, describe the changes, import. Or let studio saves commit directly on the live site (webinar 06 covers the token that enables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takeaways, answer questions, and point everyone at the written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tmp/claude-0/-home-user-satis-group-website/ff8ab6f4-f9c2-556a-89f3-8bea05ba205c/build/assets/cover-investors.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00000">
              <a:alpha val="58000"/>
            </a:srgbClr>
          </a:solidFill>
          <a:ln/>
        </p:spPr>
      </p:sp>
      <p:sp>
        <p:nvSpPr>
          <p:cNvPr id="4" name="Shape 1"/>
          <p:cNvSpPr/>
          <p:nvPr/>
        </p:nvSpPr>
        <p:spPr>
          <a:xfrm>
            <a:off x="566928" y="566928"/>
            <a:ext cx="11057839" cy="0"/>
          </a:xfrm>
          <a:prstGeom prst="line">
            <a:avLst/>
          </a:prstGeom>
          <a:noFill/>
          <a:ln w="9525">
            <a:solidFill>
              <a:srgbClr val="FFFFFF"/>
            </a:solidFill>
            <a:prstDash val="solid"/>
          </a:ln>
        </p:spPr>
      </p:sp>
      <p:sp>
        <p:nvSpPr>
          <p:cNvPr id="5" name="Text 2"/>
          <p:cNvSpPr/>
          <p:nvPr/>
        </p:nvSpPr>
        <p:spPr>
          <a:xfrm>
            <a:off x="566928" y="713232"/>
            <a:ext cx="11057839" cy="274320"/>
          </a:xfrm>
          <a:prstGeom prst="rect">
            <a:avLst/>
          </a:prstGeom>
          <a:noFill/>
          <a:ln/>
        </p:spPr>
        <p:txBody>
          <a:bodyPr wrap="square" lIns="0" tIns="0" rIns="0" bIns="0" rtlCol="0" anchor="ctr"/>
          <a:lstStyle/>
          <a:p>
            <a:pPr indent="0" marL="0">
              <a:buNone/>
            </a:pPr>
            <a:r>
              <a:rPr lang="en-US" sz="950" spc="300" kern="0" dirty="0">
                <a:solidFill>
                  <a:srgbClr val="FFFFFF"/>
                </a:solidFill>
                <a:latin typeface="Work Sans" pitchFamily="34" charset="0"/>
                <a:ea typeface="Work Sans" pitchFamily="34" charset="-122"/>
                <a:cs typeface="Work Sans" pitchFamily="34" charset="-120"/>
              </a:rPr>
              <a:t>SATIS GROUP · BACKEND WEBINAR SERIES</a:t>
            </a:r>
            <a:endParaRPr lang="en-US" sz="950" dirty="0"/>
          </a:p>
        </p:txBody>
      </p:sp>
      <p:sp>
        <p:nvSpPr>
          <p:cNvPr id="6" name="Text 3"/>
          <p:cNvSpPr/>
          <p:nvPr/>
        </p:nvSpPr>
        <p:spPr>
          <a:xfrm>
            <a:off x="0" y="2304288"/>
            <a:ext cx="12191695" cy="777240"/>
          </a:xfrm>
          <a:prstGeom prst="rect">
            <a:avLst/>
          </a:prstGeom>
          <a:noFill/>
          <a:ln/>
        </p:spPr>
        <p:txBody>
          <a:bodyPr wrap="square" lIns="0" tIns="0" rIns="0" bIns="0" rtlCol="0" anchor="ctr"/>
          <a:lstStyle/>
          <a:p>
            <a:pPr algn="ctr" indent="0" marL="0">
              <a:buNone/>
            </a:pPr>
            <a:r>
              <a:rPr lang="en-US" sz="4000" spc="3000" kern="0" dirty="0">
                <a:solidFill>
                  <a:srgbClr val="FFFFFF"/>
                </a:solidFill>
                <a:latin typeface="Work Sans" pitchFamily="34" charset="0"/>
                <a:ea typeface="Work Sans" pitchFamily="34" charset="-122"/>
                <a:cs typeface="Work Sans" pitchFamily="34" charset="-120"/>
              </a:rPr>
              <a:t>SATIS</a:t>
            </a:r>
            <a:endParaRPr lang="en-US" sz="4000" dirty="0"/>
          </a:p>
        </p:txBody>
      </p:sp>
      <p:sp>
        <p:nvSpPr>
          <p:cNvPr id="7" name="Text 4"/>
          <p:cNvSpPr/>
          <p:nvPr/>
        </p:nvSpPr>
        <p:spPr>
          <a:xfrm>
            <a:off x="0" y="3090672"/>
            <a:ext cx="12191695" cy="274320"/>
          </a:xfrm>
          <a:prstGeom prst="rect">
            <a:avLst/>
          </a:prstGeom>
          <a:noFill/>
          <a:ln/>
        </p:spPr>
        <p:txBody>
          <a:bodyPr wrap="square" lIns="0" tIns="0" rIns="0" bIns="0" rtlCol="0" anchor="ctr"/>
          <a:lstStyle/>
          <a:p>
            <a:pPr algn="ctr" indent="0" marL="0">
              <a:buNone/>
            </a:pPr>
            <a:r>
              <a:rPr lang="en-US" sz="1250" spc="1100" kern="0" dirty="0">
                <a:solidFill>
                  <a:srgbClr val="FFFFFF"/>
                </a:solidFill>
                <a:latin typeface="Work Sans" pitchFamily="34" charset="0"/>
                <a:ea typeface="Work Sans" pitchFamily="34" charset="-122"/>
                <a:cs typeface="Work Sans" pitchFamily="34" charset="-120"/>
              </a:rPr>
              <a:t>GROUP</a:t>
            </a:r>
            <a:endParaRPr lang="en-US" sz="1250" dirty="0"/>
          </a:p>
        </p:txBody>
      </p:sp>
      <p:sp>
        <p:nvSpPr>
          <p:cNvPr id="8" name="Text 5"/>
          <p:cNvSpPr/>
          <p:nvPr/>
        </p:nvSpPr>
        <p:spPr>
          <a:xfrm>
            <a:off x="1371600" y="3913632"/>
            <a:ext cx="9448495" cy="640080"/>
          </a:xfrm>
          <a:prstGeom prst="rect">
            <a:avLst/>
          </a:prstGeom>
          <a:noFill/>
          <a:ln/>
        </p:spPr>
        <p:txBody>
          <a:bodyPr wrap="square" lIns="0" tIns="0" rIns="0" bIns="0" rtlCol="0" anchor="ctr"/>
          <a:lstStyle/>
          <a:p>
            <a:pPr algn="ctr" indent="0" marL="0">
              <a:buNone/>
            </a:pPr>
            <a:r>
              <a:rPr lang="en-US" sz="2700" dirty="0">
                <a:solidFill>
                  <a:srgbClr val="FFFFFF"/>
                </a:solidFill>
                <a:latin typeface="Work Sans" pitchFamily="34" charset="0"/>
                <a:ea typeface="Work Sans" pitchFamily="34" charset="-122"/>
                <a:cs typeface="Work Sans" pitchFamily="34" charset="-120"/>
              </a:rPr>
              <a:t>The investor platform.</a:t>
            </a:r>
            <a:endParaRPr lang="en-US" sz="2700" dirty="0"/>
          </a:p>
        </p:txBody>
      </p:sp>
      <p:sp>
        <p:nvSpPr>
          <p:cNvPr id="9" name="Text 6"/>
          <p:cNvSpPr/>
          <p:nvPr/>
        </p:nvSpPr>
        <p:spPr>
          <a:xfrm>
            <a:off x="2194560" y="4590288"/>
            <a:ext cx="7802575" cy="566928"/>
          </a:xfrm>
          <a:prstGeom prst="rect">
            <a:avLst/>
          </a:prstGeom>
          <a:noFill/>
          <a:ln/>
        </p:spPr>
        <p:txBody>
          <a:bodyPr wrap="square" lIns="0" tIns="0" rIns="0" bIns="0" rtlCol="0" anchor="ctr"/>
          <a:lstStyle/>
          <a:p>
            <a:pPr algn="ctr" indent="0" marL="0">
              <a:lnSpc>
                <a:spcPts val="1700"/>
              </a:lnSpc>
              <a:buNone/>
            </a:pPr>
            <a:r>
              <a:rPr lang="en-US" sz="1200" dirty="0">
                <a:solidFill>
                  <a:srgbClr val="E8EAEA"/>
                </a:solidFill>
                <a:latin typeface="Work Sans" pitchFamily="34" charset="0"/>
                <a:ea typeface="Work Sans" pitchFamily="34" charset="-122"/>
                <a:cs typeface="Work Sans" pitchFamily="34" charset="-120"/>
              </a:rPr>
              <a:t>What investors see, how to run it from the platform studio, and the routines that keep every figure current.</a:t>
            </a:r>
            <a:endParaRPr lang="en-US" sz="1200" dirty="0"/>
          </a:p>
        </p:txBody>
      </p:sp>
      <p:sp>
        <p:nvSpPr>
          <p:cNvPr id="10" name="Text 7"/>
          <p:cNvSpPr/>
          <p:nvPr/>
        </p:nvSpPr>
        <p:spPr>
          <a:xfrm>
            <a:off x="566928" y="6327648"/>
            <a:ext cx="11057839" cy="237744"/>
          </a:xfrm>
          <a:prstGeom prst="rect">
            <a:avLst/>
          </a:prstGeom>
          <a:noFill/>
          <a:ln/>
        </p:spPr>
        <p:txBody>
          <a:bodyPr wrap="square" lIns="0" tIns="0" rIns="0" bIns="0" rtlCol="0" anchor="ctr"/>
          <a:lstStyle/>
          <a:p>
            <a:pPr algn="ctr" indent="0" marL="0">
              <a:buNone/>
            </a:pPr>
            <a:r>
              <a:rPr lang="en-US" sz="850" spc="300" kern="0" dirty="0">
                <a:solidFill>
                  <a:srgbClr val="D8DADA"/>
                </a:solidFill>
                <a:latin typeface="Work Sans" pitchFamily="34" charset="0"/>
                <a:ea typeface="Work Sans" pitchFamily="34" charset="-122"/>
                <a:cs typeface="Work Sans" pitchFamily="34" charset="-120"/>
              </a:rPr>
              <a:t>BACKEND WEBINAR 04 OF 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IN THIS WEBINAR</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02</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What this session covers.</a:t>
            </a:r>
            <a:endParaRPr lang="en-US" sz="2500" dirty="0"/>
          </a:p>
        </p:txBody>
      </p:sp>
      <p:sp>
        <p:nvSpPr>
          <p:cNvPr id="9" name="Text 7"/>
          <p:cNvSpPr/>
          <p:nvPr/>
        </p:nvSpPr>
        <p:spPr>
          <a:xfrm>
            <a:off x="566928" y="1499616"/>
            <a:ext cx="877824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Everything an investor sees is generated from a handful of datasets you edit in one place: the platform studio.</a:t>
            </a:r>
            <a:endParaRPr lang="en-US" sz="1150" dirty="0"/>
          </a:p>
        </p:txBody>
      </p:sp>
      <p:sp>
        <p:nvSpPr>
          <p:cNvPr id="10" name="Text 8"/>
          <p:cNvSpPr/>
          <p:nvPr/>
        </p:nvSpPr>
        <p:spPr>
          <a:xfrm>
            <a:off x="566928" y="2231136"/>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01</a:t>
            </a:r>
            <a:endParaRPr lang="en-US" sz="1100" dirty="0"/>
          </a:p>
        </p:txBody>
      </p:sp>
      <p:sp>
        <p:nvSpPr>
          <p:cNvPr id="11" name="Text 9"/>
          <p:cNvSpPr/>
          <p:nvPr/>
        </p:nvSpPr>
        <p:spPr>
          <a:xfrm>
            <a:off x="1069848" y="2212848"/>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What investors see</a:t>
            </a:r>
            <a:endParaRPr lang="en-US" sz="1250" dirty="0"/>
          </a:p>
        </p:txBody>
      </p:sp>
      <p:sp>
        <p:nvSpPr>
          <p:cNvPr id="12" name="Text 10"/>
          <p:cNvSpPr/>
          <p:nvPr/>
        </p:nvSpPr>
        <p:spPr>
          <a:xfrm>
            <a:off x="1069848" y="2487168"/>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The portal, and the two kinds of account.</a:t>
            </a:r>
            <a:endParaRPr lang="en-US" sz="950" dirty="0"/>
          </a:p>
        </p:txBody>
      </p:sp>
      <p:sp>
        <p:nvSpPr>
          <p:cNvPr id="13" name="Text 11"/>
          <p:cNvSpPr/>
          <p:nvPr/>
        </p:nvSpPr>
        <p:spPr>
          <a:xfrm>
            <a:off x="566928" y="3072384"/>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02</a:t>
            </a:r>
            <a:endParaRPr lang="en-US" sz="1100" dirty="0"/>
          </a:p>
        </p:txBody>
      </p:sp>
      <p:sp>
        <p:nvSpPr>
          <p:cNvPr id="14" name="Text 12"/>
          <p:cNvSpPr/>
          <p:nvPr/>
        </p:nvSpPr>
        <p:spPr>
          <a:xfrm>
            <a:off x="1069848" y="3054096"/>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The seven tabs</a:t>
            </a:r>
            <a:endParaRPr lang="en-US" sz="1250" dirty="0"/>
          </a:p>
        </p:txBody>
      </p:sp>
      <p:sp>
        <p:nvSpPr>
          <p:cNvPr id="15" name="Text 13"/>
          <p:cNvSpPr/>
          <p:nvPr/>
        </p:nvSpPr>
        <p:spPr>
          <a:xfrm>
            <a:off x="1069848" y="3328416"/>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The studio's mental model in five minutes.</a:t>
            </a:r>
            <a:endParaRPr lang="en-US" sz="950" dirty="0"/>
          </a:p>
        </p:txBody>
      </p:sp>
      <p:sp>
        <p:nvSpPr>
          <p:cNvPr id="16" name="Text 14"/>
          <p:cNvSpPr/>
          <p:nvPr/>
        </p:nvSpPr>
        <p:spPr>
          <a:xfrm>
            <a:off x="566928" y="3913632"/>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03</a:t>
            </a:r>
            <a:endParaRPr lang="en-US" sz="1100" dirty="0"/>
          </a:p>
        </p:txBody>
      </p:sp>
      <p:sp>
        <p:nvSpPr>
          <p:cNvPr id="17" name="Text 15"/>
          <p:cNvSpPr/>
          <p:nvPr/>
        </p:nvSpPr>
        <p:spPr>
          <a:xfrm>
            <a:off x="1069848" y="3895344"/>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The golden rule</a:t>
            </a:r>
            <a:endParaRPr lang="en-US" sz="1250" dirty="0"/>
          </a:p>
        </p:txBody>
      </p:sp>
      <p:sp>
        <p:nvSpPr>
          <p:cNvPr id="18" name="Text 16"/>
          <p:cNvSpPr/>
          <p:nvPr/>
        </p:nvSpPr>
        <p:spPr>
          <a:xfrm>
            <a:off x="1069848" y="4169664"/>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Portfolio values are worked out, not typed in.</a:t>
            </a:r>
            <a:endParaRPr lang="en-US" sz="950" dirty="0"/>
          </a:p>
        </p:txBody>
      </p:sp>
      <p:sp>
        <p:nvSpPr>
          <p:cNvPr id="19" name="Text 17"/>
          <p:cNvSpPr/>
          <p:nvPr/>
        </p:nvSpPr>
        <p:spPr>
          <a:xfrm>
            <a:off x="6347308" y="2231136"/>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04</a:t>
            </a:r>
            <a:endParaRPr lang="en-US" sz="1100" dirty="0"/>
          </a:p>
        </p:txBody>
      </p:sp>
      <p:sp>
        <p:nvSpPr>
          <p:cNvPr id="20" name="Text 18"/>
          <p:cNvSpPr/>
          <p:nvPr/>
        </p:nvSpPr>
        <p:spPr>
          <a:xfrm>
            <a:off x="6850228" y="2212848"/>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Accounts &amp; holdings</a:t>
            </a:r>
            <a:endParaRPr lang="en-US" sz="1250" dirty="0"/>
          </a:p>
        </p:txBody>
      </p:sp>
      <p:sp>
        <p:nvSpPr>
          <p:cNvPr id="21" name="Text 19"/>
          <p:cNvSpPr/>
          <p:nvPr/>
        </p:nvSpPr>
        <p:spPr>
          <a:xfrm>
            <a:off x="6850228" y="2487168"/>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Create an investor, record their position, log cash.</a:t>
            </a:r>
            <a:endParaRPr lang="en-US" sz="950" dirty="0"/>
          </a:p>
        </p:txBody>
      </p:sp>
      <p:sp>
        <p:nvSpPr>
          <p:cNvPr id="22" name="Text 20"/>
          <p:cNvSpPr/>
          <p:nvPr/>
        </p:nvSpPr>
        <p:spPr>
          <a:xfrm>
            <a:off x="6347308" y="3072384"/>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05</a:t>
            </a:r>
            <a:endParaRPr lang="en-US" sz="1100" dirty="0"/>
          </a:p>
        </p:txBody>
      </p:sp>
      <p:sp>
        <p:nvSpPr>
          <p:cNvPr id="23" name="Text 21"/>
          <p:cNvSpPr/>
          <p:nvPr/>
        </p:nvSpPr>
        <p:spPr>
          <a:xfrm>
            <a:off x="6850228" y="3054096"/>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Publishing to the portal</a:t>
            </a:r>
            <a:endParaRPr lang="en-US" sz="1250" dirty="0"/>
          </a:p>
        </p:txBody>
      </p:sp>
      <p:sp>
        <p:nvSpPr>
          <p:cNvPr id="24" name="Text 22"/>
          <p:cNvSpPr/>
          <p:nvPr/>
        </p:nvSpPr>
        <p:spPr>
          <a:xfrm>
            <a:off x="6850228" y="3328416"/>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Monthly reports, insights, and upcoming raises.</a:t>
            </a:r>
            <a:endParaRPr lang="en-US" sz="950" dirty="0"/>
          </a:p>
        </p:txBody>
      </p:sp>
      <p:sp>
        <p:nvSpPr>
          <p:cNvPr id="25" name="Text 23"/>
          <p:cNvSpPr/>
          <p:nvPr/>
        </p:nvSpPr>
        <p:spPr>
          <a:xfrm>
            <a:off x="6347308" y="3913632"/>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06</a:t>
            </a:r>
            <a:endParaRPr lang="en-US" sz="1100" dirty="0"/>
          </a:p>
        </p:txBody>
      </p:sp>
      <p:sp>
        <p:nvSpPr>
          <p:cNvPr id="26" name="Text 24"/>
          <p:cNvSpPr/>
          <p:nvPr/>
        </p:nvSpPr>
        <p:spPr>
          <a:xfrm>
            <a:off x="6850228" y="3895344"/>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Figures, documents &amp; support</a:t>
            </a:r>
            <a:endParaRPr lang="en-US" sz="1250" dirty="0"/>
          </a:p>
        </p:txBody>
      </p:sp>
      <p:sp>
        <p:nvSpPr>
          <p:cNvPr id="27" name="Text 25"/>
          <p:cNvSpPr/>
          <p:nvPr/>
        </p:nvSpPr>
        <p:spPr>
          <a:xfrm>
            <a:off x="6850228" y="4169664"/>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The quarterly routine, the data room, and the sign-in playbook.</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WHAT INVESTORS SEE</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03</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The front door: satisgroup.co.uk/investors.</a:t>
            </a:r>
            <a:endParaRPr lang="en-US" sz="2500" dirty="0"/>
          </a:p>
        </p:txBody>
      </p:sp>
      <p:sp>
        <p:nvSpPr>
          <p:cNvPr id="9" name="Text 7"/>
          <p:cNvSpPr/>
          <p:nvPr/>
        </p:nvSpPr>
        <p:spPr>
          <a:xfrm>
            <a:off x="566928" y="1618488"/>
            <a:ext cx="3931920" cy="4297680"/>
          </a:xfrm>
          <a:prstGeom prst="rect">
            <a:avLst/>
          </a:prstGeom>
          <a:noFill/>
          <a:ln/>
        </p:spPr>
        <p:txBody>
          <a:bodyPr wrap="square" lIns="0" tIns="0" rIns="0" bIns="0" rtlCol="0" anchor="t"/>
          <a:lstStyle/>
          <a:p>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Investors sign in with their email address and a password you set for them. Sessions last 24 hours; five wrong tries pauses that connection for 15 minutes. The same protections as the admin.
</a:t>
            </a:r>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Not an investor yet? The “Become an investor” buttons lead to a short enquiry form at /investors/enquire (name, email, company), styled to match the platform.
</a:t>
            </a:r>
            <a:endParaRPr lang="en-US" sz="1100" dirty="0"/>
          </a:p>
        </p:txBody>
      </p:sp>
      <p:pic>
        <p:nvPicPr>
          <p:cNvPr id="10" name="Image 0" descr="/tmp/claude-0/-home-user-satis-group-website/ff8ab6f4-f9c2-556a-89f3-8bea05ba205c/build/assets/investor-login.png">    </p:cNvPr>
          <p:cNvPicPr>
            <a:picLocks noChangeAspect="1"/>
          </p:cNvPicPr>
          <p:nvPr/>
        </p:nvPicPr>
        <p:blipFill>
          <a:blip r:embed="rId1"/>
          <a:stretch>
            <a:fillRect/>
          </a:stretch>
        </p:blipFill>
        <p:spPr>
          <a:xfrm>
            <a:off x="4910328" y="1701087"/>
            <a:ext cx="6714439" cy="4443379"/>
          </a:xfrm>
          <a:prstGeom prst="rect">
            <a:avLst/>
          </a:prstGeom>
        </p:spPr>
      </p:pic>
      <p:sp>
        <p:nvSpPr>
          <p:cNvPr id="11" name="Shape 8"/>
          <p:cNvSpPr/>
          <p:nvPr/>
        </p:nvSpPr>
        <p:spPr>
          <a:xfrm>
            <a:off x="4910328" y="1701087"/>
            <a:ext cx="6714439" cy="4443379"/>
          </a:xfrm>
          <a:prstGeom prst="rect">
            <a:avLst/>
          </a:prstGeom>
          <a:ln w="12700">
            <a:solidFill>
              <a:srgbClr val="CED1D2"/>
            </a:solidFill>
            <a:prstDash val="solid"/>
          </a:ln>
        </p:spPr>
      </p:sp>
      <p:sp>
        <p:nvSpPr>
          <p:cNvPr id="12" name="Text 9"/>
          <p:cNvSpPr/>
          <p:nvPr/>
        </p:nvSpPr>
        <p:spPr>
          <a:xfrm>
            <a:off x="4910328" y="6208473"/>
            <a:ext cx="6714439" cy="256032"/>
          </a:xfrm>
          <a:prstGeom prst="rect">
            <a:avLst/>
          </a:prstGeom>
          <a:noFill/>
          <a:ln/>
        </p:spPr>
        <p:txBody>
          <a:bodyPr wrap="square" lIns="0" tIns="0" rIns="0" bIns="0" rtlCol="0" anchor="ctr"/>
          <a:lstStyle/>
          <a:p>
            <a:pPr indent="0" marL="0">
              <a:lnSpc>
                <a:spcPts val="1100"/>
              </a:lnSpc>
              <a:buNone/>
            </a:pPr>
            <a:r>
              <a:rPr lang="en-US" sz="850" dirty="0">
                <a:solidFill>
                  <a:srgbClr val="5C6366"/>
                </a:solidFill>
                <a:latin typeface="Work Sans" pitchFamily="34" charset="0"/>
                <a:ea typeface="Work Sans" pitchFamily="34" charset="-122"/>
                <a:cs typeface="Work Sans" pitchFamily="34" charset="-120"/>
              </a:rPr>
              <a:t>The investor platform's own sign-in: black and gold, separate from the admin.</a:t>
            </a:r>
            <a:endParaRPr lang="en-US" sz="850" dirty="0"/>
          </a:p>
        </p:txBody>
      </p:sp>
      <p:sp>
        <p:nvSpPr>
          <p:cNvPr id="13" name="Shape 10"/>
          <p:cNvSpPr/>
          <p:nvPr/>
        </p:nvSpPr>
        <p:spPr>
          <a:xfrm>
            <a:off x="566928" y="4983480"/>
            <a:ext cx="3931920" cy="1188720"/>
          </a:xfrm>
          <a:prstGeom prst="rect">
            <a:avLst/>
          </a:prstGeom>
          <a:solidFill>
            <a:srgbClr val="ECEEEE"/>
          </a:solidFill>
          <a:ln/>
        </p:spPr>
      </p:sp>
      <p:sp>
        <p:nvSpPr>
          <p:cNvPr id="14" name="Text 11"/>
          <p:cNvSpPr/>
          <p:nvPr/>
        </p:nvSpPr>
        <p:spPr>
          <a:xfrm>
            <a:off x="786384" y="5129784"/>
            <a:ext cx="3493008"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15" name="Text 12"/>
          <p:cNvSpPr/>
          <p:nvPr/>
        </p:nvSpPr>
        <p:spPr>
          <a:xfrm>
            <a:off x="786384" y="5349240"/>
            <a:ext cx="3493008" cy="68580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Separate doors, separate keys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Investor accounts are managed inside the platform studio, not on the admin accounts page. Different system entirely.</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WHAT INVESTORS SEE</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04</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Inside the portal: every figure traces back to you.</a:t>
            </a:r>
            <a:endParaRPr lang="en-US" sz="2500" dirty="0"/>
          </a:p>
        </p:txBody>
      </p:sp>
      <p:sp>
        <p:nvSpPr>
          <p:cNvPr id="9" name="Text 7"/>
          <p:cNvSpPr/>
          <p:nvPr/>
        </p:nvSpPr>
        <p:spPr>
          <a:xfrm>
            <a:off x="566928" y="1618488"/>
            <a:ext cx="3703320" cy="4297680"/>
          </a:xfrm>
          <a:prstGeom prst="rect">
            <a:avLst/>
          </a:prstGeom>
          <a:noFill/>
          <a:ln/>
        </p:spPr>
        <p:txBody>
          <a:bodyPr wrap="square" lIns="0" tIns="0" rIns="0" bIns="0" rtlCol="0" anchor="t"/>
          <a:lstStyle/>
          <a:p>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The overview greets the investor by first name and shows their headline numbers, live raises, latest reports and a value-progression chart.
</a:t>
            </a:r>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Every single figure on this screen is generated from something you edit in the platform studio. Nothing on the portal is typed directly.
</a:t>
            </a:r>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The sidebar navigation adapts to the kind of account. Next slide.
</a:t>
            </a:r>
            <a:endParaRPr lang="en-US" sz="1100" dirty="0"/>
          </a:p>
        </p:txBody>
      </p:sp>
      <p:pic>
        <p:nvPicPr>
          <p:cNvPr id="10" name="Image 0" descr="/tmp/claude-0/-home-user-satis-group-website/ff8ab6f4-f9c2-556a-89f3-8bea05ba205c/build/assets/investor-portal.png">    </p:cNvPr>
          <p:cNvPicPr>
            <a:picLocks noChangeAspect="1"/>
          </p:cNvPicPr>
          <p:nvPr/>
        </p:nvPicPr>
        <p:blipFill>
          <a:blip r:embed="rId1"/>
          <a:stretch>
            <a:fillRect/>
          </a:stretch>
        </p:blipFill>
        <p:spPr>
          <a:xfrm>
            <a:off x="4681728" y="1625447"/>
            <a:ext cx="6943039" cy="4594658"/>
          </a:xfrm>
          <a:prstGeom prst="rect">
            <a:avLst/>
          </a:prstGeom>
        </p:spPr>
      </p:pic>
      <p:sp>
        <p:nvSpPr>
          <p:cNvPr id="11" name="Shape 8"/>
          <p:cNvSpPr/>
          <p:nvPr/>
        </p:nvSpPr>
        <p:spPr>
          <a:xfrm>
            <a:off x="4681728" y="1625447"/>
            <a:ext cx="6943039" cy="4594658"/>
          </a:xfrm>
          <a:prstGeom prst="rect">
            <a:avLst/>
          </a:prstGeom>
          <a:ln w="12700">
            <a:solidFill>
              <a:srgbClr val="CED1D2"/>
            </a:solidFill>
            <a:prstDash val="solid"/>
          </a:ln>
        </p:spPr>
      </p:sp>
      <p:sp>
        <p:nvSpPr>
          <p:cNvPr id="12" name="Text 9"/>
          <p:cNvSpPr/>
          <p:nvPr/>
        </p:nvSpPr>
        <p:spPr>
          <a:xfrm>
            <a:off x="4681728" y="6284113"/>
            <a:ext cx="6943039" cy="256032"/>
          </a:xfrm>
          <a:prstGeom prst="rect">
            <a:avLst/>
          </a:prstGeom>
          <a:noFill/>
          <a:ln/>
        </p:spPr>
        <p:txBody>
          <a:bodyPr wrap="square" lIns="0" tIns="0" rIns="0" bIns="0" rtlCol="0" anchor="ctr"/>
          <a:lstStyle/>
          <a:p>
            <a:pPr indent="0" marL="0">
              <a:lnSpc>
                <a:spcPts val="1100"/>
              </a:lnSpc>
              <a:buNone/>
            </a:pPr>
            <a:r>
              <a:rPr lang="en-US" sz="850" dirty="0">
                <a:solidFill>
                  <a:srgbClr val="5C6366"/>
                </a:solidFill>
                <a:latin typeface="Work Sans" pitchFamily="34" charset="0"/>
                <a:ea typeface="Work Sans" pitchFamily="34" charset="-122"/>
                <a:cs typeface="Work Sans" pitchFamily="34" charset="-120"/>
              </a:rPr>
              <a:t>An invested client's overview: portfolio value, committed capital, weighted IRR, distributions.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WHAT INVESTORS SEE</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05</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Two kinds of account, two different portals.</a:t>
            </a:r>
            <a:endParaRPr lang="en-US" sz="2500" dirty="0"/>
          </a:p>
        </p:txBody>
      </p:sp>
      <p:sp>
        <p:nvSpPr>
          <p:cNvPr id="9" name="Text 7"/>
          <p:cNvSpPr/>
          <p:nvPr/>
        </p:nvSpPr>
        <p:spPr>
          <a:xfrm>
            <a:off x="566928" y="1517904"/>
            <a:ext cx="950976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Every account is either prospective or invested, and the platform works the type out automatically: an account holding a position counts as invested.</a:t>
            </a:r>
            <a:endParaRPr lang="en-US" sz="1150" dirty="0"/>
          </a:p>
        </p:txBody>
      </p:sp>
      <p:sp>
        <p:nvSpPr>
          <p:cNvPr id="10" name="Shape 8"/>
          <p:cNvSpPr/>
          <p:nvPr/>
        </p:nvSpPr>
        <p:spPr>
          <a:xfrm>
            <a:off x="566928" y="2212848"/>
            <a:ext cx="5373472" cy="2788920"/>
          </a:xfrm>
          <a:prstGeom prst="rect">
            <a:avLst/>
          </a:prstGeom>
          <a:solidFill>
            <a:srgbClr val="FFFFFF"/>
          </a:solidFill>
          <a:ln w="9525">
            <a:solidFill>
              <a:srgbClr val="CED1D2"/>
            </a:solidFill>
            <a:prstDash val="solid"/>
          </a:ln>
        </p:spPr>
      </p:sp>
      <p:sp>
        <p:nvSpPr>
          <p:cNvPr id="11" name="Text 9"/>
          <p:cNvSpPr/>
          <p:nvPr/>
        </p:nvSpPr>
        <p:spPr>
          <a:xfrm>
            <a:off x="786384" y="2377440"/>
            <a:ext cx="4934560" cy="2459736"/>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Prospective: considering investing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Sees: overview, upcoming investments (deal flow), the data room, track record, market intelligence, insights.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Does not see: cap tables, financials, monthly reports. Construction detail stays with committed investors.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The shop window: raises and research make the case.</a:t>
            </a:r>
            <a:endParaRPr lang="en-US" sz="1100" dirty="0"/>
          </a:p>
        </p:txBody>
      </p:sp>
      <p:sp>
        <p:nvSpPr>
          <p:cNvPr id="12" name="Shape 10"/>
          <p:cNvSpPr/>
          <p:nvPr/>
        </p:nvSpPr>
        <p:spPr>
          <a:xfrm>
            <a:off x="6251296" y="2212848"/>
            <a:ext cx="5373472" cy="2788920"/>
          </a:xfrm>
          <a:prstGeom prst="rect">
            <a:avLst/>
          </a:prstGeom>
          <a:solidFill>
            <a:srgbClr val="FFFFFF"/>
          </a:solidFill>
          <a:ln w="9525">
            <a:solidFill>
              <a:srgbClr val="CED1D2"/>
            </a:solidFill>
            <a:prstDash val="solid"/>
          </a:ln>
        </p:spPr>
      </p:sp>
      <p:sp>
        <p:nvSpPr>
          <p:cNvPr id="13" name="Text 11"/>
          <p:cNvSpPr/>
          <p:nvPr/>
        </p:nvSpPr>
        <p:spPr>
          <a:xfrm>
            <a:off x="6470752" y="2377440"/>
            <a:ext cx="4934560" cy="2459736"/>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Invested: money in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Sees: overview (with live raises flagged), My portfolio (a tab per investment with its files), developments, monthly reports, market intelligence, insights, financials and documents.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Figures update the moment you save in the studio.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Becomes the account type automatically when a position is recorded.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THE STUDIO</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06</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Seven tabs run the whole platform.</a:t>
            </a:r>
            <a:endParaRPr lang="en-US" sz="2500" dirty="0"/>
          </a:p>
        </p:txBody>
      </p:sp>
      <p:sp>
        <p:nvSpPr>
          <p:cNvPr id="9" name="Text 7"/>
          <p:cNvSpPr/>
          <p:nvPr/>
        </p:nvSpPr>
        <p:spPr>
          <a:xfrm>
            <a:off x="566928" y="1517904"/>
            <a:ext cx="1060704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From the control room, click Investors. Each tab edits one kind of information, and the small number on a tab shows how many records it holds.</a:t>
            </a:r>
            <a:endParaRPr lang="en-US" sz="1150" dirty="0"/>
          </a:p>
        </p:txBody>
      </p:sp>
      <p:pic>
        <p:nvPicPr>
          <p:cNvPr id="10" name="Image 0" descr="/tmp/claude-0/-home-user-satis-group-website/ff8ab6f4-f9c2-556a-89f3-8bea05ba205c/build/assets/platform-tabs.png">    </p:cNvPr>
          <p:cNvPicPr>
            <a:picLocks noChangeAspect="1"/>
          </p:cNvPicPr>
          <p:nvPr/>
        </p:nvPicPr>
        <p:blipFill>
          <a:blip r:embed="rId1"/>
          <a:stretch>
            <a:fillRect/>
          </a:stretch>
        </p:blipFill>
        <p:spPr>
          <a:xfrm>
            <a:off x="5681167" y="2231943"/>
            <a:ext cx="5943600" cy="748194"/>
          </a:xfrm>
          <a:prstGeom prst="rect">
            <a:avLst/>
          </a:prstGeom>
        </p:spPr>
      </p:pic>
      <p:sp>
        <p:nvSpPr>
          <p:cNvPr id="11" name="Shape 8"/>
          <p:cNvSpPr/>
          <p:nvPr/>
        </p:nvSpPr>
        <p:spPr>
          <a:xfrm>
            <a:off x="5681167" y="2231943"/>
            <a:ext cx="5943600" cy="748194"/>
          </a:xfrm>
          <a:prstGeom prst="rect">
            <a:avLst/>
          </a:prstGeom>
          <a:ln w="12700">
            <a:solidFill>
              <a:srgbClr val="CED1D2"/>
            </a:solidFill>
            <a:prstDash val="solid"/>
          </a:ln>
        </p:spPr>
      </p:sp>
      <p:sp>
        <p:nvSpPr>
          <p:cNvPr id="12" name="Text 9"/>
          <p:cNvSpPr/>
          <p:nvPr/>
        </p:nvSpPr>
        <p:spPr>
          <a:xfrm>
            <a:off x="5681167" y="3044145"/>
            <a:ext cx="5943600" cy="256032"/>
          </a:xfrm>
          <a:prstGeom prst="rect">
            <a:avLst/>
          </a:prstGeom>
          <a:noFill/>
          <a:ln/>
        </p:spPr>
        <p:txBody>
          <a:bodyPr wrap="square" lIns="0" tIns="0" rIns="0" bIns="0" rtlCol="0" anchor="ctr"/>
          <a:lstStyle/>
          <a:p>
            <a:pPr indent="0" marL="0">
              <a:lnSpc>
                <a:spcPts val="1100"/>
              </a:lnSpc>
              <a:buNone/>
            </a:pPr>
            <a:r>
              <a:rPr lang="en-US" sz="850" dirty="0">
                <a:solidFill>
                  <a:srgbClr val="5C6366"/>
                </a:solidFill>
                <a:latin typeface="Work Sans" pitchFamily="34" charset="0"/>
                <a:ea typeface="Work Sans" pitchFamily="34" charset="-122"/>
                <a:cs typeface="Work Sans" pitchFamily="34" charset="-120"/>
              </a:rPr>
              <a:t>The platform studio's tab bar at /admin/platform.</a:t>
            </a:r>
            <a:endParaRPr lang="en-US" sz="850" dirty="0"/>
          </a:p>
        </p:txBody>
      </p:sp>
      <p:sp>
        <p:nvSpPr>
          <p:cNvPr id="13" name="Shape 10"/>
          <p:cNvSpPr/>
          <p:nvPr/>
        </p:nvSpPr>
        <p:spPr>
          <a:xfrm>
            <a:off x="566928" y="3351276"/>
            <a:ext cx="246888" cy="246888"/>
          </a:xfrm>
          <a:prstGeom prst="ellipse">
            <a:avLst/>
          </a:prstGeom>
          <a:solidFill>
            <a:srgbClr val="B3400C"/>
          </a:solidFill>
          <a:ln/>
        </p:spPr>
      </p:sp>
      <p:sp>
        <p:nvSpPr>
          <p:cNvPr id="14" name="Text 11"/>
          <p:cNvSpPr/>
          <p:nvPr/>
        </p:nvSpPr>
        <p:spPr>
          <a:xfrm>
            <a:off x="521208" y="332567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5" name="Text 12"/>
          <p:cNvSpPr/>
          <p:nvPr/>
        </p:nvSpPr>
        <p:spPr>
          <a:xfrm>
            <a:off x="987552" y="3337560"/>
            <a:ext cx="419069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Investors</a:t>
            </a:r>
            <a:endParaRPr lang="en-US" sz="1200" dirty="0"/>
          </a:p>
        </p:txBody>
      </p:sp>
      <p:sp>
        <p:nvSpPr>
          <p:cNvPr id="16" name="Text 13"/>
          <p:cNvSpPr/>
          <p:nvPr/>
        </p:nvSpPr>
        <p:spPr>
          <a:xfrm>
            <a:off x="987552" y="3611880"/>
            <a:ext cx="4190695" cy="216916"/>
          </a:xfrm>
          <a:prstGeom prst="rect">
            <a:avLst/>
          </a:prstGeom>
          <a:noFill/>
          <a:ln/>
        </p:spPr>
        <p:txBody>
          <a:bodyPr wrap="square" lIns="0" tIns="0" rIns="0" bIns="0" rtlCol="0" anchor="ctr"/>
          <a:lstStyle/>
          <a:p>
            <a:pPr indent="0" marL="0">
              <a:lnSpc>
                <a:spcPts val="1420"/>
              </a:lnSpc>
              <a:buNone/>
            </a:pPr>
            <a:r>
              <a:rPr lang="en-US" sz="1000" dirty="0">
                <a:solidFill>
                  <a:srgbClr val="5C6366"/>
                </a:solidFill>
                <a:latin typeface="Work Sans" pitchFamily="34" charset="0"/>
                <a:ea typeface="Work Sans" pitchFamily="34" charset="-122"/>
                <a:cs typeface="Work Sans" pitchFamily="34" charset="-120"/>
              </a:rPr>
              <a:t>Accounts and quarterly valuations.</a:t>
            </a:r>
            <a:endParaRPr lang="en-US" sz="1000" dirty="0"/>
          </a:p>
        </p:txBody>
      </p:sp>
      <p:sp>
        <p:nvSpPr>
          <p:cNvPr id="17" name="Shape 14"/>
          <p:cNvSpPr/>
          <p:nvPr/>
        </p:nvSpPr>
        <p:spPr>
          <a:xfrm>
            <a:off x="566928" y="3988816"/>
            <a:ext cx="246888" cy="246888"/>
          </a:xfrm>
          <a:prstGeom prst="ellipse">
            <a:avLst/>
          </a:prstGeom>
          <a:solidFill>
            <a:srgbClr val="B3400C"/>
          </a:solidFill>
          <a:ln/>
        </p:spPr>
      </p:sp>
      <p:sp>
        <p:nvSpPr>
          <p:cNvPr id="18" name="Text 15"/>
          <p:cNvSpPr/>
          <p:nvPr/>
        </p:nvSpPr>
        <p:spPr>
          <a:xfrm>
            <a:off x="521208" y="396321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9" name="Text 16"/>
          <p:cNvSpPr/>
          <p:nvPr/>
        </p:nvSpPr>
        <p:spPr>
          <a:xfrm>
            <a:off x="987552" y="3975100"/>
            <a:ext cx="419069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Developments &amp; SPVs</a:t>
            </a:r>
            <a:endParaRPr lang="en-US" sz="1200" dirty="0"/>
          </a:p>
        </p:txBody>
      </p:sp>
      <p:sp>
        <p:nvSpPr>
          <p:cNvPr id="20" name="Text 17"/>
          <p:cNvSpPr/>
          <p:nvPr/>
        </p:nvSpPr>
        <p:spPr>
          <a:xfrm>
            <a:off x="987552" y="4249420"/>
            <a:ext cx="4190695" cy="216916"/>
          </a:xfrm>
          <a:prstGeom prst="rect">
            <a:avLst/>
          </a:prstGeom>
          <a:noFill/>
          <a:ln/>
        </p:spPr>
        <p:txBody>
          <a:bodyPr wrap="square" lIns="0" tIns="0" rIns="0" bIns="0" rtlCol="0" anchor="ctr"/>
          <a:lstStyle/>
          <a:p>
            <a:pPr indent="0" marL="0">
              <a:lnSpc>
                <a:spcPts val="1420"/>
              </a:lnSpc>
              <a:buNone/>
            </a:pPr>
            <a:r>
              <a:rPr lang="en-US" sz="1000" dirty="0">
                <a:solidFill>
                  <a:srgbClr val="5C6366"/>
                </a:solidFill>
                <a:latin typeface="Work Sans" pitchFamily="34" charset="0"/>
                <a:ea typeface="Work Sans" pitchFamily="34" charset="-122"/>
                <a:cs typeface="Work Sans" pitchFamily="34" charset="-120"/>
              </a:rPr>
              <a:t>Each project and the company that owns it.</a:t>
            </a:r>
            <a:endParaRPr lang="en-US" sz="1000" dirty="0"/>
          </a:p>
        </p:txBody>
      </p:sp>
      <p:sp>
        <p:nvSpPr>
          <p:cNvPr id="21" name="Shape 18"/>
          <p:cNvSpPr/>
          <p:nvPr/>
        </p:nvSpPr>
        <p:spPr>
          <a:xfrm>
            <a:off x="566928" y="4626356"/>
            <a:ext cx="246888" cy="246888"/>
          </a:xfrm>
          <a:prstGeom prst="ellipse">
            <a:avLst/>
          </a:prstGeom>
          <a:solidFill>
            <a:srgbClr val="B3400C"/>
          </a:solidFill>
          <a:ln/>
        </p:spPr>
      </p:sp>
      <p:sp>
        <p:nvSpPr>
          <p:cNvPr id="22" name="Text 19"/>
          <p:cNvSpPr/>
          <p:nvPr/>
        </p:nvSpPr>
        <p:spPr>
          <a:xfrm>
            <a:off x="521208" y="460075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23" name="Text 20"/>
          <p:cNvSpPr/>
          <p:nvPr/>
        </p:nvSpPr>
        <p:spPr>
          <a:xfrm>
            <a:off x="987552" y="4612640"/>
            <a:ext cx="419069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Cap tables &amp; returns</a:t>
            </a:r>
            <a:endParaRPr lang="en-US" sz="1200" dirty="0"/>
          </a:p>
        </p:txBody>
      </p:sp>
      <p:sp>
        <p:nvSpPr>
          <p:cNvPr id="24" name="Text 21"/>
          <p:cNvSpPr/>
          <p:nvPr/>
        </p:nvSpPr>
        <p:spPr>
          <a:xfrm>
            <a:off x="987552" y="4886960"/>
            <a:ext cx="4190695" cy="216916"/>
          </a:xfrm>
          <a:prstGeom prst="rect">
            <a:avLst/>
          </a:prstGeom>
          <a:noFill/>
          <a:ln/>
        </p:spPr>
        <p:txBody>
          <a:bodyPr wrap="square" lIns="0" tIns="0" rIns="0" bIns="0" rtlCol="0" anchor="ctr"/>
          <a:lstStyle/>
          <a:p>
            <a:pPr indent="0" marL="0">
              <a:lnSpc>
                <a:spcPts val="1420"/>
              </a:lnSpc>
              <a:buNone/>
            </a:pPr>
            <a:r>
              <a:rPr lang="en-US" sz="1000" dirty="0">
                <a:solidFill>
                  <a:srgbClr val="5C6366"/>
                </a:solidFill>
                <a:latin typeface="Work Sans" pitchFamily="34" charset="0"/>
                <a:ea typeface="Work Sans" pitchFamily="34" charset="-122"/>
                <a:cs typeface="Work Sans" pitchFamily="34" charset="-120"/>
              </a:rPr>
              <a:t>Who owns what share; money in and out.</a:t>
            </a:r>
            <a:endParaRPr lang="en-US" sz="1000" dirty="0"/>
          </a:p>
        </p:txBody>
      </p:sp>
      <p:sp>
        <p:nvSpPr>
          <p:cNvPr id="25" name="Shape 22"/>
          <p:cNvSpPr/>
          <p:nvPr/>
        </p:nvSpPr>
        <p:spPr>
          <a:xfrm>
            <a:off x="566928" y="5263896"/>
            <a:ext cx="246888" cy="246888"/>
          </a:xfrm>
          <a:prstGeom prst="ellipse">
            <a:avLst/>
          </a:prstGeom>
          <a:solidFill>
            <a:srgbClr val="B3400C"/>
          </a:solidFill>
          <a:ln/>
        </p:spPr>
      </p:sp>
      <p:sp>
        <p:nvSpPr>
          <p:cNvPr id="26" name="Text 23"/>
          <p:cNvSpPr/>
          <p:nvPr/>
        </p:nvSpPr>
        <p:spPr>
          <a:xfrm>
            <a:off x="521208" y="523829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4</a:t>
            </a:r>
            <a:endParaRPr lang="en-US" sz="1050" dirty="0"/>
          </a:p>
        </p:txBody>
      </p:sp>
      <p:sp>
        <p:nvSpPr>
          <p:cNvPr id="27" name="Text 24"/>
          <p:cNvSpPr/>
          <p:nvPr/>
        </p:nvSpPr>
        <p:spPr>
          <a:xfrm>
            <a:off x="987552" y="5250180"/>
            <a:ext cx="419069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Monthly reports · 5 Insights · 6 Opportunities</a:t>
            </a:r>
            <a:endParaRPr lang="en-US" sz="1200" dirty="0"/>
          </a:p>
        </p:txBody>
      </p:sp>
      <p:sp>
        <p:nvSpPr>
          <p:cNvPr id="28" name="Text 25"/>
          <p:cNvSpPr/>
          <p:nvPr/>
        </p:nvSpPr>
        <p:spPr>
          <a:xfrm>
            <a:off x="987552" y="5524500"/>
            <a:ext cx="4190695" cy="397256"/>
          </a:xfrm>
          <a:prstGeom prst="rect">
            <a:avLst/>
          </a:prstGeom>
          <a:noFill/>
          <a:ln/>
        </p:spPr>
        <p:txBody>
          <a:bodyPr wrap="square" lIns="0" tIns="0" rIns="0" bIns="0" rtlCol="0" anchor="ctr"/>
          <a:lstStyle/>
          <a:p>
            <a:pPr indent="0" marL="0">
              <a:lnSpc>
                <a:spcPts val="1420"/>
              </a:lnSpc>
              <a:buNone/>
            </a:pPr>
            <a:r>
              <a:rPr lang="en-US" sz="1000" dirty="0">
                <a:solidFill>
                  <a:srgbClr val="5C6366"/>
                </a:solidFill>
                <a:latin typeface="Work Sans" pitchFamily="34" charset="0"/>
                <a:ea typeface="Work Sans" pitchFamily="34" charset="-122"/>
                <a:cs typeface="Work Sans" pitchFamily="34" charset="-120"/>
              </a:rPr>
              <a:t>What you publish to the portal: project updates, research, and raises.</a:t>
            </a:r>
            <a:endParaRPr lang="en-US" sz="1000" dirty="0"/>
          </a:p>
        </p:txBody>
      </p:sp>
      <p:sp>
        <p:nvSpPr>
          <p:cNvPr id="29" name="Shape 26"/>
          <p:cNvSpPr/>
          <p:nvPr/>
        </p:nvSpPr>
        <p:spPr>
          <a:xfrm>
            <a:off x="566928" y="6081776"/>
            <a:ext cx="246888" cy="246888"/>
          </a:xfrm>
          <a:prstGeom prst="ellipse">
            <a:avLst/>
          </a:prstGeom>
          <a:solidFill>
            <a:srgbClr val="B3400C"/>
          </a:solidFill>
          <a:ln/>
        </p:spPr>
      </p:sp>
      <p:sp>
        <p:nvSpPr>
          <p:cNvPr id="30" name="Text 27"/>
          <p:cNvSpPr/>
          <p:nvPr/>
        </p:nvSpPr>
        <p:spPr>
          <a:xfrm>
            <a:off x="521208" y="605617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7</a:t>
            </a:r>
            <a:endParaRPr lang="en-US" sz="1050" dirty="0"/>
          </a:p>
        </p:txBody>
      </p:sp>
      <p:sp>
        <p:nvSpPr>
          <p:cNvPr id="31" name="Text 28"/>
          <p:cNvSpPr/>
          <p:nvPr/>
        </p:nvSpPr>
        <p:spPr>
          <a:xfrm>
            <a:off x="987552" y="6068060"/>
            <a:ext cx="419069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Import / export</a:t>
            </a:r>
            <a:endParaRPr lang="en-US" sz="1200" dirty="0"/>
          </a:p>
        </p:txBody>
      </p:sp>
      <p:sp>
        <p:nvSpPr>
          <p:cNvPr id="32" name="Text 29"/>
          <p:cNvSpPr/>
          <p:nvPr/>
        </p:nvSpPr>
        <p:spPr>
          <a:xfrm>
            <a:off x="987552" y="6342380"/>
            <a:ext cx="4190695" cy="216916"/>
          </a:xfrm>
          <a:prstGeom prst="rect">
            <a:avLst/>
          </a:prstGeom>
          <a:noFill/>
          <a:ln/>
        </p:spPr>
        <p:txBody>
          <a:bodyPr wrap="square" lIns="0" tIns="0" rIns="0" bIns="0" rtlCol="0" anchor="ctr"/>
          <a:lstStyle/>
          <a:p>
            <a:pPr indent="0" marL="0">
              <a:lnSpc>
                <a:spcPts val="1420"/>
              </a:lnSpc>
              <a:buNone/>
            </a:pPr>
            <a:r>
              <a:rPr lang="en-US" sz="1000" dirty="0">
                <a:solidFill>
                  <a:srgbClr val="5C6366"/>
                </a:solidFill>
                <a:latin typeface="Work Sans" pitchFamily="34" charset="0"/>
                <a:ea typeface="Work Sans" pitchFamily="34" charset="-122"/>
                <a:cs typeface="Work Sans" pitchFamily="34" charset="-120"/>
              </a:rPr>
              <a:t>Everything as one file: backup, bulk edit, restore.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THE GOLDEN RULE</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07</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Portfolio values are worked out, not typed in.</a:t>
            </a:r>
            <a:endParaRPr lang="en-US" sz="2500" dirty="0"/>
          </a:p>
        </p:txBody>
      </p:sp>
      <p:sp>
        <p:nvSpPr>
          <p:cNvPr id="9" name="Text 7"/>
          <p:cNvSpPr/>
          <p:nvPr/>
        </p:nvSpPr>
        <p:spPr>
          <a:xfrm>
            <a:off x="566928" y="1517904"/>
            <a:ext cx="969264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You never type an investor's portfolio value anywhere. The platform computes it from two numbers you do control:</a:t>
            </a:r>
            <a:endParaRPr lang="en-US" sz="1150" dirty="0"/>
          </a:p>
        </p:txBody>
      </p:sp>
      <p:sp>
        <p:nvSpPr>
          <p:cNvPr id="10" name="Shape 8"/>
          <p:cNvSpPr/>
          <p:nvPr/>
        </p:nvSpPr>
        <p:spPr>
          <a:xfrm>
            <a:off x="932688" y="3017520"/>
            <a:ext cx="2743200" cy="1097280"/>
          </a:xfrm>
          <a:prstGeom prst="rect">
            <a:avLst/>
          </a:prstGeom>
          <a:solidFill>
            <a:srgbClr val="FFFFFF"/>
          </a:solidFill>
          <a:ln w="12700">
            <a:solidFill>
              <a:srgbClr val="000000"/>
            </a:solidFill>
            <a:prstDash val="solid"/>
          </a:ln>
        </p:spPr>
      </p:sp>
      <p:sp>
        <p:nvSpPr>
          <p:cNvPr id="11" name="Text 9"/>
          <p:cNvSpPr/>
          <p:nvPr/>
        </p:nvSpPr>
        <p:spPr>
          <a:xfrm>
            <a:off x="1005840" y="3017520"/>
            <a:ext cx="2596896" cy="1097280"/>
          </a:xfrm>
          <a:prstGeom prst="rect">
            <a:avLst/>
          </a:prstGeom>
          <a:noFill/>
          <a:ln/>
        </p:spPr>
        <p:txBody>
          <a:bodyPr wrap="square" lIns="0" tIns="0" rIns="0" bIns="0" rtlCol="0" anchor="ctr"/>
          <a:lstStyle/>
          <a:p>
            <a:pPr algn="ctr" indent="0" marL="0">
              <a:lnSpc>
                <a:spcPts val="1300"/>
              </a:lnSpc>
              <a:buNone/>
            </a:pPr>
            <a:r>
              <a:rPr lang="en-US" sz="1100" b="1" dirty="0">
                <a:solidFill>
                  <a:srgbClr val="000000"/>
                </a:solidFill>
                <a:latin typeface="Work Sans" pitchFamily="34" charset="0"/>
                <a:ea typeface="Work Sans" pitchFamily="34" charset="-122"/>
                <a:cs typeface="Work Sans" pitchFamily="34" charset="-120"/>
              </a:rPr>
              <a:t>Share %</a:t>
            </a:r>
            <a:pPr algn="ctr" indent="0" marL="0">
              <a:lnSpc>
                <a:spcPts val="1300"/>
              </a:lnSpc>
              <a:buNone/>
            </a:pPr>
            <a:endParaRPr lang="en-US" sz="1100" dirty="0"/>
          </a:p>
          <a:p>
            <a:pPr algn="ctr" indent="0" marL="0">
              <a:lnSpc>
                <a:spcPts val="1300"/>
              </a:lnSpc>
              <a:buNone/>
            </a:pPr>
            <a:r>
              <a:rPr lang="en-US" sz="850" dirty="0">
                <a:solidFill>
                  <a:srgbClr val="5C6366"/>
                </a:solidFill>
                <a:latin typeface="Work Sans" pitchFamily="34" charset="0"/>
                <a:ea typeface="Work Sans" pitchFamily="34" charset="-122"/>
                <a:cs typeface="Work Sans" pitchFamily="34" charset="-120"/>
              </a:rPr>
              <a:t>from the cap table</a:t>
            </a:r>
            <a:endParaRPr lang="en-US" sz="1100" dirty="0"/>
          </a:p>
        </p:txBody>
      </p:sp>
      <p:sp>
        <p:nvSpPr>
          <p:cNvPr id="12" name="Text 10"/>
          <p:cNvSpPr/>
          <p:nvPr/>
        </p:nvSpPr>
        <p:spPr>
          <a:xfrm>
            <a:off x="3813048" y="3246120"/>
            <a:ext cx="548640" cy="640080"/>
          </a:xfrm>
          <a:prstGeom prst="rect">
            <a:avLst/>
          </a:prstGeom>
          <a:noFill/>
          <a:ln/>
        </p:spPr>
        <p:txBody>
          <a:bodyPr wrap="square" lIns="0" tIns="0" rIns="0" bIns="0" rtlCol="0" anchor="ctr"/>
          <a:lstStyle/>
          <a:p>
            <a:pPr algn="ctr" indent="0" marL="0">
              <a:buNone/>
            </a:pPr>
            <a:r>
              <a:rPr lang="en-US" sz="3000" dirty="0">
                <a:solidFill>
                  <a:srgbClr val="000000"/>
                </a:solidFill>
                <a:latin typeface="Work Sans" pitchFamily="34" charset="0"/>
                <a:ea typeface="Work Sans" pitchFamily="34" charset="-122"/>
                <a:cs typeface="Work Sans" pitchFamily="34" charset="-120"/>
              </a:rPr>
              <a:t>×</a:t>
            </a:r>
            <a:endParaRPr lang="en-US" sz="3000" dirty="0"/>
          </a:p>
        </p:txBody>
      </p:sp>
      <p:sp>
        <p:nvSpPr>
          <p:cNvPr id="13" name="Shape 11"/>
          <p:cNvSpPr/>
          <p:nvPr/>
        </p:nvSpPr>
        <p:spPr>
          <a:xfrm>
            <a:off x="4498848" y="3017520"/>
            <a:ext cx="2743200" cy="1097280"/>
          </a:xfrm>
          <a:prstGeom prst="rect">
            <a:avLst/>
          </a:prstGeom>
          <a:solidFill>
            <a:srgbClr val="FFFFFF"/>
          </a:solidFill>
          <a:ln w="12700">
            <a:solidFill>
              <a:srgbClr val="000000"/>
            </a:solidFill>
            <a:prstDash val="solid"/>
          </a:ln>
        </p:spPr>
      </p:sp>
      <p:sp>
        <p:nvSpPr>
          <p:cNvPr id="14" name="Text 12"/>
          <p:cNvSpPr/>
          <p:nvPr/>
        </p:nvSpPr>
        <p:spPr>
          <a:xfrm>
            <a:off x="4572000" y="3017520"/>
            <a:ext cx="2596896" cy="1097280"/>
          </a:xfrm>
          <a:prstGeom prst="rect">
            <a:avLst/>
          </a:prstGeom>
          <a:noFill/>
          <a:ln/>
        </p:spPr>
        <p:txBody>
          <a:bodyPr wrap="square" lIns="0" tIns="0" rIns="0" bIns="0" rtlCol="0" anchor="ctr"/>
          <a:lstStyle/>
          <a:p>
            <a:pPr algn="ctr" indent="0" marL="0">
              <a:lnSpc>
                <a:spcPts val="1300"/>
              </a:lnSpc>
              <a:buNone/>
            </a:pPr>
            <a:r>
              <a:rPr lang="en-US" sz="1100" b="1" dirty="0">
                <a:solidFill>
                  <a:srgbClr val="000000"/>
                </a:solidFill>
                <a:latin typeface="Work Sans" pitchFamily="34" charset="0"/>
                <a:ea typeface="Work Sans" pitchFamily="34" charset="-122"/>
                <a:cs typeface="Work Sans" pitchFamily="34" charset="-120"/>
              </a:rPr>
              <a:t>SPV equity value</a:t>
            </a:r>
            <a:pPr algn="ctr" indent="0" marL="0">
              <a:lnSpc>
                <a:spcPts val="1300"/>
              </a:lnSpc>
              <a:buNone/>
            </a:pPr>
            <a:endParaRPr lang="en-US" sz="1100" dirty="0"/>
          </a:p>
          <a:p>
            <a:pPr algn="ctr" indent="0" marL="0">
              <a:lnSpc>
                <a:spcPts val="1300"/>
              </a:lnSpc>
              <a:buNone/>
            </a:pPr>
            <a:r>
              <a:rPr lang="en-US" sz="850" dirty="0">
                <a:solidFill>
                  <a:srgbClr val="5C6366"/>
                </a:solidFill>
                <a:latin typeface="Work Sans" pitchFamily="34" charset="0"/>
                <a:ea typeface="Work Sans" pitchFamily="34" charset="-122"/>
                <a:cs typeface="Work Sans" pitchFamily="34" charset="-120"/>
              </a:rPr>
              <a:t>from Developments &amp; SPVs</a:t>
            </a:r>
            <a:endParaRPr lang="en-US" sz="1100" dirty="0"/>
          </a:p>
        </p:txBody>
      </p:sp>
      <p:sp>
        <p:nvSpPr>
          <p:cNvPr id="15" name="Text 13"/>
          <p:cNvSpPr/>
          <p:nvPr/>
        </p:nvSpPr>
        <p:spPr>
          <a:xfrm>
            <a:off x="7379208" y="3246120"/>
            <a:ext cx="548640" cy="640080"/>
          </a:xfrm>
          <a:prstGeom prst="rect">
            <a:avLst/>
          </a:prstGeom>
          <a:noFill/>
          <a:ln/>
        </p:spPr>
        <p:txBody>
          <a:bodyPr wrap="square" lIns="0" tIns="0" rIns="0" bIns="0" rtlCol="0" anchor="ctr"/>
          <a:lstStyle/>
          <a:p>
            <a:pPr algn="ctr" indent="0" marL="0">
              <a:buNone/>
            </a:pPr>
            <a:r>
              <a:rPr lang="en-US" sz="3000" dirty="0">
                <a:solidFill>
                  <a:srgbClr val="000000"/>
                </a:solidFill>
                <a:latin typeface="Work Sans" pitchFamily="34" charset="0"/>
                <a:ea typeface="Work Sans" pitchFamily="34" charset="-122"/>
                <a:cs typeface="Work Sans" pitchFamily="34" charset="-120"/>
              </a:rPr>
              <a:t>=</a:t>
            </a:r>
            <a:endParaRPr lang="en-US" sz="3000" dirty="0"/>
          </a:p>
        </p:txBody>
      </p:sp>
      <p:sp>
        <p:nvSpPr>
          <p:cNvPr id="16" name="Shape 14"/>
          <p:cNvSpPr/>
          <p:nvPr/>
        </p:nvSpPr>
        <p:spPr>
          <a:xfrm>
            <a:off x="8065008" y="3017520"/>
            <a:ext cx="3291840" cy="1097280"/>
          </a:xfrm>
          <a:prstGeom prst="rect">
            <a:avLst/>
          </a:prstGeom>
          <a:solidFill>
            <a:srgbClr val="000000"/>
          </a:solidFill>
          <a:ln w="12700">
            <a:solidFill>
              <a:srgbClr val="000000"/>
            </a:solidFill>
            <a:prstDash val="solid"/>
          </a:ln>
        </p:spPr>
      </p:sp>
      <p:sp>
        <p:nvSpPr>
          <p:cNvPr id="17" name="Text 15"/>
          <p:cNvSpPr/>
          <p:nvPr/>
        </p:nvSpPr>
        <p:spPr>
          <a:xfrm>
            <a:off x="8138160" y="3017520"/>
            <a:ext cx="3145536" cy="1097280"/>
          </a:xfrm>
          <a:prstGeom prst="rect">
            <a:avLst/>
          </a:prstGeom>
          <a:noFill/>
          <a:ln/>
        </p:spPr>
        <p:txBody>
          <a:bodyPr wrap="square" lIns="0" tIns="0" rIns="0" bIns="0" rtlCol="0" anchor="ctr"/>
          <a:lstStyle/>
          <a:p>
            <a:pPr algn="ctr" indent="0" marL="0">
              <a:lnSpc>
                <a:spcPts val="1300"/>
              </a:lnSpc>
              <a:buNone/>
            </a:pPr>
            <a:r>
              <a:rPr lang="en-US" sz="1100" b="1" dirty="0">
                <a:solidFill>
                  <a:srgbClr val="FFFFFF"/>
                </a:solidFill>
                <a:latin typeface="Work Sans" pitchFamily="34" charset="0"/>
                <a:ea typeface="Work Sans" pitchFamily="34" charset="-122"/>
                <a:cs typeface="Work Sans" pitchFamily="34" charset="-120"/>
              </a:rPr>
              <a:t>The investor's value</a:t>
            </a:r>
            <a:pPr algn="ctr" indent="0" marL="0">
              <a:lnSpc>
                <a:spcPts val="1300"/>
              </a:lnSpc>
              <a:buNone/>
            </a:pPr>
            <a:endParaRPr lang="en-US" sz="1100" dirty="0"/>
          </a:p>
          <a:p>
            <a:pPr algn="ctr" indent="0" marL="0">
              <a:lnSpc>
                <a:spcPts val="1300"/>
              </a:lnSpc>
              <a:buNone/>
            </a:pPr>
            <a:r>
              <a:rPr lang="en-US" sz="850" dirty="0">
                <a:solidFill>
                  <a:srgbClr val="B9BDBE"/>
                </a:solidFill>
                <a:latin typeface="Work Sans" pitchFamily="34" charset="0"/>
                <a:ea typeface="Work Sans" pitchFamily="34" charset="-122"/>
                <a:cs typeface="Work Sans" pitchFamily="34" charset="-120"/>
              </a:rPr>
              <a:t>computed, per holding, summed</a:t>
            </a:r>
            <a:endParaRPr lang="en-US" sz="1100" dirty="0"/>
          </a:p>
        </p:txBody>
      </p:sp>
      <p:sp>
        <p:nvSpPr>
          <p:cNvPr id="18" name="Text 16"/>
          <p:cNvSpPr/>
          <p:nvPr/>
        </p:nvSpPr>
        <p:spPr>
          <a:xfrm>
            <a:off x="566928" y="4709160"/>
            <a:ext cx="10326319" cy="868680"/>
          </a:xfrm>
          <a:prstGeom prst="rect">
            <a:avLst/>
          </a:prstGeom>
          <a:noFill/>
          <a:ln/>
        </p:spPr>
        <p:txBody>
          <a:bodyPr wrap="square" lIns="0" tIns="0" rIns="0" bIns="0" rtlCol="0" anchor="ctr"/>
          <a:lstStyle/>
          <a:p>
            <a:pPr indent="0" marL="0">
              <a:lnSpc>
                <a:spcPts val="1700"/>
              </a:lnSpc>
              <a:buNone/>
            </a:pPr>
            <a:r>
              <a:rPr lang="en-US" sz="1150" b="1" dirty="0">
                <a:solidFill>
                  <a:srgbClr val="000000"/>
                </a:solidFill>
                <a:latin typeface="Work Sans" pitchFamily="34" charset="0"/>
                <a:ea typeface="Work Sans" pitchFamily="34" charset="-122"/>
                <a:cs typeface="Work Sans" pitchFamily="34" charset="-120"/>
              </a:rPr>
              <a:t>Two things follow.  </a:t>
            </a:r>
            <a:pPr indent="0" marL="0">
              <a:lnSpc>
                <a:spcPts val="1700"/>
              </a:lnSpc>
              <a:buNone/>
            </a:pPr>
            <a:r>
              <a:rPr lang="en-US" sz="1150" dirty="0">
                <a:solidFill>
                  <a:srgbClr val="5C6366"/>
                </a:solidFill>
                <a:latin typeface="Work Sans" pitchFamily="34" charset="0"/>
                <a:ea typeface="Work Sans" pitchFamily="34" charset="-122"/>
                <a:cs typeface="Work Sans" pitchFamily="34" charset="-120"/>
              </a:rPr>
              <a:t>A revaluation is one edit: update the SPV's equity value and every holder's figures move at once. And when a portal figure looks wrong, the cause is always one of these two numbers, the share % or the equity value. Check both; the culprit is one of them.</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ROUTINE · ACCOUNTS</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08</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Creating an investor account.</a:t>
            </a:r>
            <a:endParaRPr lang="en-US" sz="2500" dirty="0"/>
          </a:p>
        </p:txBody>
      </p:sp>
      <p:sp>
        <p:nvSpPr>
          <p:cNvPr id="9" name="Text 7"/>
          <p:cNvSpPr/>
          <p:nvPr/>
        </p:nvSpPr>
        <p:spPr>
          <a:xfrm>
            <a:off x="566928" y="1517904"/>
            <a:ext cx="1060704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Investors tab → the “Add or update investor” form. About five minutes.</a:t>
            </a:r>
            <a:endParaRPr lang="en-US" sz="1150" dirty="0"/>
          </a:p>
        </p:txBody>
      </p:sp>
      <p:pic>
        <p:nvPicPr>
          <p:cNvPr id="10" name="Image 0" descr="/tmp/claude-0/-home-user-satis-group-website/ff8ab6f4-f9c2-556a-89f3-8bea05ba205c/build/assets/investor-form.png">    </p:cNvPr>
          <p:cNvPicPr>
            <a:picLocks noChangeAspect="1"/>
          </p:cNvPicPr>
          <p:nvPr/>
        </p:nvPicPr>
        <p:blipFill>
          <a:blip r:embed="rId1"/>
          <a:stretch>
            <a:fillRect/>
          </a:stretch>
        </p:blipFill>
        <p:spPr>
          <a:xfrm>
            <a:off x="7502652" y="2103120"/>
            <a:ext cx="4037990" cy="4169664"/>
          </a:xfrm>
          <a:prstGeom prst="rect">
            <a:avLst/>
          </a:prstGeom>
        </p:spPr>
      </p:pic>
      <p:sp>
        <p:nvSpPr>
          <p:cNvPr id="11" name="Shape 8"/>
          <p:cNvSpPr/>
          <p:nvPr/>
        </p:nvSpPr>
        <p:spPr>
          <a:xfrm>
            <a:off x="7502652" y="2103120"/>
            <a:ext cx="4037990" cy="4169664"/>
          </a:xfrm>
          <a:prstGeom prst="rect">
            <a:avLst/>
          </a:prstGeom>
          <a:ln w="12700">
            <a:solidFill>
              <a:srgbClr val="CED1D2"/>
            </a:solidFill>
            <a:prstDash val="solid"/>
          </a:ln>
        </p:spPr>
      </p:sp>
      <p:sp>
        <p:nvSpPr>
          <p:cNvPr id="12" name="Text 9"/>
          <p:cNvSpPr/>
          <p:nvPr/>
        </p:nvSpPr>
        <p:spPr>
          <a:xfrm>
            <a:off x="7502652" y="6336792"/>
            <a:ext cx="4037990" cy="256032"/>
          </a:xfrm>
          <a:prstGeom prst="rect">
            <a:avLst/>
          </a:prstGeom>
          <a:noFill/>
          <a:ln/>
        </p:spPr>
        <p:txBody>
          <a:bodyPr wrap="square" lIns="0" tIns="0" rIns="0" bIns="0" rtlCol="0" anchor="ctr"/>
          <a:lstStyle/>
          <a:p>
            <a:pPr indent="0" marL="0">
              <a:lnSpc>
                <a:spcPts val="1100"/>
              </a:lnSpc>
              <a:buNone/>
            </a:pPr>
            <a:r>
              <a:rPr lang="en-US" sz="850" dirty="0">
                <a:solidFill>
                  <a:srgbClr val="5C6366"/>
                </a:solidFill>
                <a:latin typeface="Work Sans" pitchFamily="34" charset="0"/>
                <a:ea typeface="Work Sans" pitchFamily="34" charset="-122"/>
                <a:cs typeface="Work Sans" pitchFamily="34" charset="-120"/>
              </a:rPr>
              <a:t>Numbers match the on-screen badges. After Save investor: a green confirmation, and the account lists as “Prospective investor”, £0, 0 positions. Exactly right before any holding exists.</a:t>
            </a:r>
            <a:endParaRPr lang="en-US" sz="850" dirty="0"/>
          </a:p>
        </p:txBody>
      </p:sp>
      <p:sp>
        <p:nvSpPr>
          <p:cNvPr id="13" name="Shape 10"/>
          <p:cNvSpPr/>
          <p:nvPr/>
        </p:nvSpPr>
        <p:spPr>
          <a:xfrm>
            <a:off x="566928" y="2116836"/>
            <a:ext cx="246888" cy="246888"/>
          </a:xfrm>
          <a:prstGeom prst="ellipse">
            <a:avLst/>
          </a:prstGeom>
          <a:solidFill>
            <a:srgbClr val="B3400C"/>
          </a:solidFill>
          <a:ln/>
        </p:spPr>
      </p:sp>
      <p:sp>
        <p:nvSpPr>
          <p:cNvPr id="14" name="Text 11"/>
          <p:cNvSpPr/>
          <p:nvPr/>
        </p:nvSpPr>
        <p:spPr>
          <a:xfrm>
            <a:off x="521208" y="209123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5" name="Text 12"/>
          <p:cNvSpPr/>
          <p:nvPr/>
        </p:nvSpPr>
        <p:spPr>
          <a:xfrm>
            <a:off x="987552" y="2103120"/>
            <a:ext cx="59280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Account / entity name</a:t>
            </a:r>
            <a:endParaRPr lang="en-US" sz="1200" dirty="0"/>
          </a:p>
        </p:txBody>
      </p:sp>
      <p:sp>
        <p:nvSpPr>
          <p:cNvPr id="16" name="Text 13"/>
          <p:cNvSpPr/>
          <p:nvPr/>
        </p:nvSpPr>
        <p:spPr>
          <a:xfrm>
            <a:off x="987552" y="2377440"/>
            <a:ext cx="592805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As it should appear in their portal, e.g. “Hartwell Family Office”.</a:t>
            </a:r>
            <a:endParaRPr lang="en-US" sz="950" dirty="0"/>
          </a:p>
        </p:txBody>
      </p:sp>
      <p:sp>
        <p:nvSpPr>
          <p:cNvPr id="17" name="Shape 14"/>
          <p:cNvSpPr/>
          <p:nvPr/>
        </p:nvSpPr>
        <p:spPr>
          <a:xfrm>
            <a:off x="566928" y="2745359"/>
            <a:ext cx="246888" cy="246888"/>
          </a:xfrm>
          <a:prstGeom prst="ellipse">
            <a:avLst/>
          </a:prstGeom>
          <a:solidFill>
            <a:srgbClr val="B3400C"/>
          </a:solidFill>
          <a:ln/>
        </p:spPr>
      </p:sp>
      <p:sp>
        <p:nvSpPr>
          <p:cNvPr id="18" name="Text 15"/>
          <p:cNvSpPr/>
          <p:nvPr/>
        </p:nvSpPr>
        <p:spPr>
          <a:xfrm>
            <a:off x="521208" y="2719756"/>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9" name="Text 16"/>
          <p:cNvSpPr/>
          <p:nvPr/>
        </p:nvSpPr>
        <p:spPr>
          <a:xfrm>
            <a:off x="987552" y="2731643"/>
            <a:ext cx="59280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Contact first name</a:t>
            </a:r>
            <a:endParaRPr lang="en-US" sz="1200" dirty="0"/>
          </a:p>
        </p:txBody>
      </p:sp>
      <p:sp>
        <p:nvSpPr>
          <p:cNvPr id="20" name="Text 17"/>
          <p:cNvSpPr/>
          <p:nvPr/>
        </p:nvSpPr>
        <p:spPr>
          <a:xfrm>
            <a:off x="987552" y="3005963"/>
            <a:ext cx="592805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Used for greetings (“Good morning, James”).</a:t>
            </a:r>
            <a:endParaRPr lang="en-US" sz="950" dirty="0"/>
          </a:p>
        </p:txBody>
      </p:sp>
      <p:sp>
        <p:nvSpPr>
          <p:cNvPr id="21" name="Shape 18"/>
          <p:cNvSpPr/>
          <p:nvPr/>
        </p:nvSpPr>
        <p:spPr>
          <a:xfrm>
            <a:off x="566928" y="3373882"/>
            <a:ext cx="246888" cy="246888"/>
          </a:xfrm>
          <a:prstGeom prst="ellipse">
            <a:avLst/>
          </a:prstGeom>
          <a:solidFill>
            <a:srgbClr val="B3400C"/>
          </a:solidFill>
          <a:ln/>
        </p:spPr>
      </p:sp>
      <p:sp>
        <p:nvSpPr>
          <p:cNvPr id="22" name="Text 19"/>
          <p:cNvSpPr/>
          <p:nvPr/>
        </p:nvSpPr>
        <p:spPr>
          <a:xfrm>
            <a:off x="521208" y="3348279"/>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23" name="Text 20"/>
          <p:cNvSpPr/>
          <p:nvPr/>
        </p:nvSpPr>
        <p:spPr>
          <a:xfrm>
            <a:off x="987552" y="3360166"/>
            <a:ext cx="59280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Account ID: leave empty</a:t>
            </a:r>
            <a:endParaRPr lang="en-US" sz="1200" dirty="0"/>
          </a:p>
        </p:txBody>
      </p:sp>
      <p:sp>
        <p:nvSpPr>
          <p:cNvPr id="24" name="Text 21"/>
          <p:cNvSpPr/>
          <p:nvPr/>
        </p:nvSpPr>
        <p:spPr>
          <a:xfrm>
            <a:off x="987552" y="3634486"/>
            <a:ext cx="592805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Derived automatically. You only type one to update an existing account.</a:t>
            </a:r>
            <a:endParaRPr lang="en-US" sz="950" dirty="0"/>
          </a:p>
        </p:txBody>
      </p:sp>
      <p:sp>
        <p:nvSpPr>
          <p:cNvPr id="25" name="Shape 22"/>
          <p:cNvSpPr/>
          <p:nvPr/>
        </p:nvSpPr>
        <p:spPr>
          <a:xfrm>
            <a:off x="566928" y="4002405"/>
            <a:ext cx="246888" cy="246888"/>
          </a:xfrm>
          <a:prstGeom prst="ellipse">
            <a:avLst/>
          </a:prstGeom>
          <a:solidFill>
            <a:srgbClr val="B3400C"/>
          </a:solidFill>
          <a:ln/>
        </p:spPr>
      </p:sp>
      <p:sp>
        <p:nvSpPr>
          <p:cNvPr id="26" name="Text 23"/>
          <p:cNvSpPr/>
          <p:nvPr/>
        </p:nvSpPr>
        <p:spPr>
          <a:xfrm>
            <a:off x="521208" y="3976802"/>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4</a:t>
            </a:r>
            <a:endParaRPr lang="en-US" sz="1050" dirty="0"/>
          </a:p>
        </p:txBody>
      </p:sp>
      <p:sp>
        <p:nvSpPr>
          <p:cNvPr id="27" name="Text 24"/>
          <p:cNvSpPr/>
          <p:nvPr/>
        </p:nvSpPr>
        <p:spPr>
          <a:xfrm>
            <a:off x="987552" y="3988689"/>
            <a:ext cx="59280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Login email</a:t>
            </a:r>
            <a:endParaRPr lang="en-US" sz="1200" dirty="0"/>
          </a:p>
        </p:txBody>
      </p:sp>
      <p:sp>
        <p:nvSpPr>
          <p:cNvPr id="28" name="Text 25"/>
          <p:cNvSpPr/>
          <p:nvPr/>
        </p:nvSpPr>
        <p:spPr>
          <a:xfrm>
            <a:off x="987552" y="4263009"/>
            <a:ext cx="592805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What they sign in with. Double-check the spelling; a typo locks them out.</a:t>
            </a:r>
            <a:endParaRPr lang="en-US" sz="950" dirty="0"/>
          </a:p>
        </p:txBody>
      </p:sp>
      <p:sp>
        <p:nvSpPr>
          <p:cNvPr id="29" name="Shape 26"/>
          <p:cNvSpPr/>
          <p:nvPr/>
        </p:nvSpPr>
        <p:spPr>
          <a:xfrm>
            <a:off x="566928" y="4630928"/>
            <a:ext cx="246888" cy="246888"/>
          </a:xfrm>
          <a:prstGeom prst="ellipse">
            <a:avLst/>
          </a:prstGeom>
          <a:solidFill>
            <a:srgbClr val="B3400C"/>
          </a:solidFill>
          <a:ln/>
        </p:spPr>
      </p:sp>
      <p:sp>
        <p:nvSpPr>
          <p:cNvPr id="30" name="Text 27"/>
          <p:cNvSpPr/>
          <p:nvPr/>
        </p:nvSpPr>
        <p:spPr>
          <a:xfrm>
            <a:off x="521208" y="4605325"/>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5</a:t>
            </a:r>
            <a:endParaRPr lang="en-US" sz="1050" dirty="0"/>
          </a:p>
        </p:txBody>
      </p:sp>
      <p:sp>
        <p:nvSpPr>
          <p:cNvPr id="31" name="Text 28"/>
          <p:cNvSpPr/>
          <p:nvPr/>
        </p:nvSpPr>
        <p:spPr>
          <a:xfrm>
            <a:off x="987552" y="4617212"/>
            <a:ext cx="59280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Account type: leave as is</a:t>
            </a:r>
            <a:endParaRPr lang="en-US" sz="1200" dirty="0"/>
          </a:p>
        </p:txBody>
      </p:sp>
      <p:sp>
        <p:nvSpPr>
          <p:cNvPr id="32" name="Text 29"/>
          <p:cNvSpPr/>
          <p:nvPr/>
        </p:nvSpPr>
        <p:spPr>
          <a:xfrm>
            <a:off x="987552" y="4891532"/>
            <a:ext cx="592805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The platform derives it from holdings.</a:t>
            </a:r>
            <a:endParaRPr lang="en-US" sz="950" dirty="0"/>
          </a:p>
        </p:txBody>
      </p:sp>
      <p:sp>
        <p:nvSpPr>
          <p:cNvPr id="33" name="Shape 30"/>
          <p:cNvSpPr/>
          <p:nvPr/>
        </p:nvSpPr>
        <p:spPr>
          <a:xfrm>
            <a:off x="566928" y="5259451"/>
            <a:ext cx="246888" cy="246888"/>
          </a:xfrm>
          <a:prstGeom prst="ellipse">
            <a:avLst/>
          </a:prstGeom>
          <a:solidFill>
            <a:srgbClr val="B3400C"/>
          </a:solidFill>
          <a:ln/>
        </p:spPr>
      </p:sp>
      <p:sp>
        <p:nvSpPr>
          <p:cNvPr id="34" name="Text 31"/>
          <p:cNvSpPr/>
          <p:nvPr/>
        </p:nvSpPr>
        <p:spPr>
          <a:xfrm>
            <a:off x="521208" y="5233848"/>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6</a:t>
            </a:r>
            <a:endParaRPr lang="en-US" sz="1050" dirty="0"/>
          </a:p>
        </p:txBody>
      </p:sp>
      <p:sp>
        <p:nvSpPr>
          <p:cNvPr id="35" name="Text 32"/>
          <p:cNvSpPr/>
          <p:nvPr/>
        </p:nvSpPr>
        <p:spPr>
          <a:xfrm>
            <a:off x="987552" y="5245735"/>
            <a:ext cx="59280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Password: note it now</a:t>
            </a:r>
            <a:endParaRPr lang="en-US" sz="1200" dirty="0"/>
          </a:p>
        </p:txBody>
      </p:sp>
      <p:sp>
        <p:nvSpPr>
          <p:cNvPr id="36" name="Text 33"/>
          <p:cNvSpPr/>
          <p:nvPr/>
        </p:nvSpPr>
        <p:spPr>
          <a:xfrm>
            <a:off x="987552" y="5520055"/>
            <a:ext cx="592805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Scrambled the instant you save; never visible again.</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ROUTINE · ACCOUNTS</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09</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Handing over credentials, safely.</a:t>
            </a:r>
            <a:endParaRPr lang="en-US" sz="2500" dirty="0"/>
          </a:p>
        </p:txBody>
      </p:sp>
      <p:sp>
        <p:nvSpPr>
          <p:cNvPr id="9" name="Shape 7"/>
          <p:cNvSpPr/>
          <p:nvPr/>
        </p:nvSpPr>
        <p:spPr>
          <a:xfrm>
            <a:off x="566928" y="1664208"/>
            <a:ext cx="3478682" cy="2148840"/>
          </a:xfrm>
          <a:prstGeom prst="rect">
            <a:avLst/>
          </a:prstGeom>
          <a:solidFill>
            <a:srgbClr val="FFFFFF"/>
          </a:solidFill>
          <a:ln w="9525">
            <a:solidFill>
              <a:srgbClr val="CED1D2"/>
            </a:solidFill>
            <a:prstDash val="solid"/>
          </a:ln>
        </p:spPr>
      </p:sp>
      <p:sp>
        <p:nvSpPr>
          <p:cNvPr id="10" name="Text 8"/>
          <p:cNvSpPr/>
          <p:nvPr/>
        </p:nvSpPr>
        <p:spPr>
          <a:xfrm>
            <a:off x="786384" y="1828800"/>
            <a:ext cx="3039770" cy="1819656"/>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Use a trusted channel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Ideally by phone. Or split across two channels: email address by email, password by text message.</a:t>
            </a:r>
            <a:endParaRPr lang="en-US" sz="1100" dirty="0"/>
          </a:p>
        </p:txBody>
      </p:sp>
      <p:sp>
        <p:nvSpPr>
          <p:cNvPr id="11" name="Shape 9"/>
          <p:cNvSpPr/>
          <p:nvPr/>
        </p:nvSpPr>
        <p:spPr>
          <a:xfrm>
            <a:off x="4356506" y="1664208"/>
            <a:ext cx="3478682" cy="2148840"/>
          </a:xfrm>
          <a:prstGeom prst="rect">
            <a:avLst/>
          </a:prstGeom>
          <a:solidFill>
            <a:srgbClr val="000000"/>
          </a:solidFill>
          <a:ln/>
        </p:spPr>
      </p:sp>
      <p:sp>
        <p:nvSpPr>
          <p:cNvPr id="12" name="Text 10"/>
          <p:cNvSpPr/>
          <p:nvPr/>
        </p:nvSpPr>
        <p:spPr>
          <a:xfrm>
            <a:off x="4575962" y="1810512"/>
            <a:ext cx="3039770" cy="182880"/>
          </a:xfrm>
          <a:prstGeom prst="rect">
            <a:avLst/>
          </a:prstGeom>
          <a:noFill/>
          <a:ln/>
        </p:spPr>
        <p:txBody>
          <a:bodyPr wrap="square" lIns="0" tIns="0" rIns="0" bIns="0" rtlCol="0" anchor="ctr"/>
          <a:lstStyle/>
          <a:p>
            <a:pPr indent="0" marL="0">
              <a:buNone/>
            </a:pPr>
            <a:r>
              <a:rPr lang="en-US" sz="750" spc="200" kern="0" dirty="0">
                <a:solidFill>
                  <a:srgbClr val="B9BDBE"/>
                </a:solidFill>
                <a:latin typeface="Work Sans" pitchFamily="34" charset="0"/>
                <a:ea typeface="Work Sans" pitchFamily="34" charset="-122"/>
                <a:cs typeface="Work Sans" pitchFamily="34" charset="-120"/>
              </a:rPr>
              <a:t>TAKE CARE</a:t>
            </a:r>
            <a:endParaRPr lang="en-US" sz="750" dirty="0"/>
          </a:p>
        </p:txBody>
      </p:sp>
      <p:sp>
        <p:nvSpPr>
          <p:cNvPr id="13" name="Text 11"/>
          <p:cNvSpPr/>
          <p:nvPr/>
        </p:nvSpPr>
        <p:spPr>
          <a:xfrm>
            <a:off x="4575962" y="2029968"/>
            <a:ext cx="3039770" cy="164592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FFFFFF"/>
                </a:solidFill>
                <a:latin typeface="Work Sans" pitchFamily="34" charset="0"/>
                <a:ea typeface="Work Sans" pitchFamily="34" charset="-122"/>
                <a:cs typeface="Work Sans" pitchFamily="34" charset="-120"/>
              </a:rPr>
              <a:t>Never both in one email
</a:t>
            </a:r>
            <a:pPr indent="0" marL="0">
              <a:lnSpc>
                <a:spcPts val="1380"/>
              </a:lnSpc>
              <a:spcAft>
                <a:spcPts val="500"/>
              </a:spcAft>
              <a:buNone/>
            </a:pPr>
            <a:r>
              <a:rPr lang="en-US" sz="1000" dirty="0">
                <a:solidFill>
                  <a:srgbClr val="B9BDBE"/>
                </a:solidFill>
                <a:latin typeface="Work Sans" pitchFamily="34" charset="0"/>
                <a:ea typeface="Work Sans" pitchFamily="34" charset="-122"/>
                <a:cs typeface="Work Sans" pitchFamily="34" charset="-120"/>
              </a:rPr>
              <a:t>If that email is ever compromised, so is their portal. One thread must never carry the address and the password together.</a:t>
            </a:r>
            <a:endParaRPr lang="en-US" sz="1100" dirty="0"/>
          </a:p>
        </p:txBody>
      </p:sp>
      <p:sp>
        <p:nvSpPr>
          <p:cNvPr id="14" name="Shape 12"/>
          <p:cNvSpPr/>
          <p:nvPr/>
        </p:nvSpPr>
        <p:spPr>
          <a:xfrm>
            <a:off x="8146085" y="1664208"/>
            <a:ext cx="3478682" cy="2148840"/>
          </a:xfrm>
          <a:prstGeom prst="rect">
            <a:avLst/>
          </a:prstGeom>
          <a:solidFill>
            <a:srgbClr val="FFFFFF"/>
          </a:solidFill>
          <a:ln w="9525">
            <a:solidFill>
              <a:srgbClr val="CED1D2"/>
            </a:solidFill>
            <a:prstDash val="solid"/>
          </a:ln>
        </p:spPr>
      </p:sp>
      <p:sp>
        <p:nvSpPr>
          <p:cNvPr id="15" name="Text 13"/>
          <p:cNvSpPr/>
          <p:nvPr/>
        </p:nvSpPr>
        <p:spPr>
          <a:xfrm>
            <a:off x="8365541" y="1828800"/>
            <a:ext cx="3039770" cy="1819656"/>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Then encourage a prompt sign-in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Point them at the website's Investors page. Trouble getting in? The support playbook near the end of this session covers every common case.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ROUTINE · MONEY</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10</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Recording a holding (a cap-table position).</a:t>
            </a:r>
            <a:endParaRPr lang="en-US" sz="2500" dirty="0"/>
          </a:p>
        </p:txBody>
      </p:sp>
      <p:sp>
        <p:nvSpPr>
          <p:cNvPr id="9" name="Text 7"/>
          <p:cNvSpPr/>
          <p:nvPr/>
        </p:nvSpPr>
        <p:spPr>
          <a:xfrm>
            <a:off x="566928" y="1517904"/>
            <a:ext cx="1060704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Cap tables &amp; returns tab, top half. This is what turns a prospect into an invested client.</a:t>
            </a:r>
            <a:endParaRPr lang="en-US" sz="1150" dirty="0"/>
          </a:p>
        </p:txBody>
      </p:sp>
      <p:pic>
        <p:nvPicPr>
          <p:cNvPr id="10" name="Image 0" descr="/tmp/claude-0/-home-user-satis-group-website/ff8ab6f4-f9c2-556a-89f3-8bea05ba205c/build/assets/captable-form.png">    </p:cNvPr>
          <p:cNvPicPr>
            <a:picLocks noChangeAspect="1"/>
          </p:cNvPicPr>
          <p:nvPr/>
        </p:nvPicPr>
        <p:blipFill>
          <a:blip r:embed="rId1"/>
          <a:stretch>
            <a:fillRect/>
          </a:stretch>
        </p:blipFill>
        <p:spPr>
          <a:xfrm>
            <a:off x="7144207" y="2191181"/>
            <a:ext cx="4480560" cy="3993543"/>
          </a:xfrm>
          <a:prstGeom prst="rect">
            <a:avLst/>
          </a:prstGeom>
        </p:spPr>
      </p:pic>
      <p:sp>
        <p:nvSpPr>
          <p:cNvPr id="11" name="Shape 8"/>
          <p:cNvSpPr/>
          <p:nvPr/>
        </p:nvSpPr>
        <p:spPr>
          <a:xfrm>
            <a:off x="7144207" y="2191181"/>
            <a:ext cx="4480560" cy="3993543"/>
          </a:xfrm>
          <a:prstGeom prst="rect">
            <a:avLst/>
          </a:prstGeom>
          <a:ln w="12700">
            <a:solidFill>
              <a:srgbClr val="CED1D2"/>
            </a:solidFill>
            <a:prstDash val="solid"/>
          </a:ln>
        </p:spPr>
      </p:sp>
      <p:sp>
        <p:nvSpPr>
          <p:cNvPr id="12" name="Text 9"/>
          <p:cNvSpPr/>
          <p:nvPr/>
        </p:nvSpPr>
        <p:spPr>
          <a:xfrm>
            <a:off x="7144207" y="6248731"/>
            <a:ext cx="4480560" cy="256032"/>
          </a:xfrm>
          <a:prstGeom prst="rect">
            <a:avLst/>
          </a:prstGeom>
          <a:noFill/>
          <a:ln/>
        </p:spPr>
        <p:txBody>
          <a:bodyPr wrap="square" lIns="0" tIns="0" rIns="0" bIns="0" rtlCol="0" anchor="ctr"/>
          <a:lstStyle/>
          <a:p>
            <a:pPr indent="0" marL="0">
              <a:lnSpc>
                <a:spcPts val="1100"/>
              </a:lnSpc>
              <a:buNone/>
            </a:pPr>
            <a:r>
              <a:rPr lang="en-US" sz="850" dirty="0">
                <a:solidFill>
                  <a:srgbClr val="5C6366"/>
                </a:solidFill>
                <a:latin typeface="Work Sans" pitchFamily="34" charset="0"/>
                <a:ea typeface="Work Sans" pitchFamily="34" charset="-122"/>
                <a:cs typeface="Work Sans" pitchFamily="34" charset="-120"/>
              </a:rPr>
              <a:t>The add-or-update position form.</a:t>
            </a:r>
            <a:endParaRPr lang="en-US" sz="850" dirty="0"/>
          </a:p>
        </p:txBody>
      </p:sp>
      <p:sp>
        <p:nvSpPr>
          <p:cNvPr id="13" name="Shape 10"/>
          <p:cNvSpPr/>
          <p:nvPr/>
        </p:nvSpPr>
        <p:spPr>
          <a:xfrm>
            <a:off x="566928" y="2116836"/>
            <a:ext cx="246888" cy="246888"/>
          </a:xfrm>
          <a:prstGeom prst="ellipse">
            <a:avLst/>
          </a:prstGeom>
          <a:solidFill>
            <a:srgbClr val="B3400C"/>
          </a:solidFill>
          <a:ln/>
        </p:spPr>
      </p:sp>
      <p:sp>
        <p:nvSpPr>
          <p:cNvPr id="14" name="Text 11"/>
          <p:cNvSpPr/>
          <p:nvPr/>
        </p:nvSpPr>
        <p:spPr>
          <a:xfrm>
            <a:off x="521208" y="209123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5" name="Text 12"/>
          <p:cNvSpPr/>
          <p:nvPr/>
        </p:nvSpPr>
        <p:spPr>
          <a:xfrm>
            <a:off x="987552" y="2103120"/>
            <a:ext cx="565373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Development / SPV</a:t>
            </a:r>
            <a:endParaRPr lang="en-US" sz="1200" dirty="0"/>
          </a:p>
        </p:txBody>
      </p:sp>
      <p:sp>
        <p:nvSpPr>
          <p:cNvPr id="16" name="Text 13"/>
          <p:cNvSpPr/>
          <p:nvPr/>
        </p:nvSpPr>
        <p:spPr>
          <a:xfrm>
            <a:off x="987552" y="2377440"/>
            <a:ext cx="565373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Which project the holding is in.</a:t>
            </a:r>
            <a:endParaRPr lang="en-US" sz="950" dirty="0"/>
          </a:p>
        </p:txBody>
      </p:sp>
      <p:sp>
        <p:nvSpPr>
          <p:cNvPr id="17" name="Shape 14"/>
          <p:cNvSpPr/>
          <p:nvPr/>
        </p:nvSpPr>
        <p:spPr>
          <a:xfrm>
            <a:off x="566928" y="2745359"/>
            <a:ext cx="246888" cy="246888"/>
          </a:xfrm>
          <a:prstGeom prst="ellipse">
            <a:avLst/>
          </a:prstGeom>
          <a:solidFill>
            <a:srgbClr val="B3400C"/>
          </a:solidFill>
          <a:ln/>
        </p:spPr>
      </p:sp>
      <p:sp>
        <p:nvSpPr>
          <p:cNvPr id="18" name="Text 15"/>
          <p:cNvSpPr/>
          <p:nvPr/>
        </p:nvSpPr>
        <p:spPr>
          <a:xfrm>
            <a:off x="521208" y="2719756"/>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9" name="Text 16"/>
          <p:cNvSpPr/>
          <p:nvPr/>
        </p:nvSpPr>
        <p:spPr>
          <a:xfrm>
            <a:off x="987552" y="2731643"/>
            <a:ext cx="565373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Platform investor, or external holder</a:t>
            </a:r>
            <a:endParaRPr lang="en-US" sz="1200" dirty="0"/>
          </a:p>
        </p:txBody>
      </p:sp>
      <p:sp>
        <p:nvSpPr>
          <p:cNvPr id="20" name="Text 17"/>
          <p:cNvSpPr/>
          <p:nvPr/>
        </p:nvSpPr>
        <p:spPr>
          <a:xfrm>
            <a:off x="987552" y="3005963"/>
            <a:ext cx="5653735" cy="550545"/>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Pick the account. Use the External holder box only for shareholders without a portal account (e.g. the Satis Group stake). One or the other, never both.</a:t>
            </a:r>
            <a:endParaRPr lang="en-US" sz="950" dirty="0"/>
          </a:p>
        </p:txBody>
      </p:sp>
      <p:sp>
        <p:nvSpPr>
          <p:cNvPr id="21" name="Shape 18"/>
          <p:cNvSpPr/>
          <p:nvPr/>
        </p:nvSpPr>
        <p:spPr>
          <a:xfrm>
            <a:off x="566928" y="3716528"/>
            <a:ext cx="246888" cy="246888"/>
          </a:xfrm>
          <a:prstGeom prst="ellipse">
            <a:avLst/>
          </a:prstGeom>
          <a:solidFill>
            <a:srgbClr val="B3400C"/>
          </a:solidFill>
          <a:ln/>
        </p:spPr>
      </p:sp>
      <p:sp>
        <p:nvSpPr>
          <p:cNvPr id="22" name="Text 19"/>
          <p:cNvSpPr/>
          <p:nvPr/>
        </p:nvSpPr>
        <p:spPr>
          <a:xfrm>
            <a:off x="521208" y="3690925"/>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23" name="Text 20"/>
          <p:cNvSpPr/>
          <p:nvPr/>
        </p:nvSpPr>
        <p:spPr>
          <a:xfrm>
            <a:off x="987552" y="3702812"/>
            <a:ext cx="565373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Committed</a:t>
            </a:r>
            <a:endParaRPr lang="en-US" sz="1200" dirty="0"/>
          </a:p>
        </p:txBody>
      </p:sp>
      <p:sp>
        <p:nvSpPr>
          <p:cNvPr id="24" name="Text 21"/>
          <p:cNvSpPr/>
          <p:nvPr/>
        </p:nvSpPr>
        <p:spPr>
          <a:xfrm>
            <a:off x="987552" y="3977132"/>
            <a:ext cx="565373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What they put in. £250k and £250,000 both work.</a:t>
            </a:r>
            <a:endParaRPr lang="en-US" sz="950" dirty="0"/>
          </a:p>
        </p:txBody>
      </p:sp>
      <p:sp>
        <p:nvSpPr>
          <p:cNvPr id="25" name="Shape 22"/>
          <p:cNvSpPr/>
          <p:nvPr/>
        </p:nvSpPr>
        <p:spPr>
          <a:xfrm>
            <a:off x="566928" y="4345051"/>
            <a:ext cx="246888" cy="246888"/>
          </a:xfrm>
          <a:prstGeom prst="ellipse">
            <a:avLst/>
          </a:prstGeom>
          <a:solidFill>
            <a:srgbClr val="B3400C"/>
          </a:solidFill>
          <a:ln/>
        </p:spPr>
      </p:sp>
      <p:sp>
        <p:nvSpPr>
          <p:cNvPr id="26" name="Text 23"/>
          <p:cNvSpPr/>
          <p:nvPr/>
        </p:nvSpPr>
        <p:spPr>
          <a:xfrm>
            <a:off x="521208" y="4319448"/>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4</a:t>
            </a:r>
            <a:endParaRPr lang="en-US" sz="1050" dirty="0"/>
          </a:p>
        </p:txBody>
      </p:sp>
      <p:sp>
        <p:nvSpPr>
          <p:cNvPr id="27" name="Text 24"/>
          <p:cNvSpPr/>
          <p:nvPr/>
        </p:nvSpPr>
        <p:spPr>
          <a:xfrm>
            <a:off x="987552" y="4331335"/>
            <a:ext cx="565373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Share %</a:t>
            </a:r>
            <a:endParaRPr lang="en-US" sz="1200" dirty="0"/>
          </a:p>
        </p:txBody>
      </p:sp>
      <p:sp>
        <p:nvSpPr>
          <p:cNvPr id="28" name="Text 25"/>
          <p:cNvSpPr/>
          <p:nvPr/>
        </p:nvSpPr>
        <p:spPr>
          <a:xfrm>
            <a:off x="987552" y="4605655"/>
            <a:ext cx="565373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Their agreed percentage of the SPV, e.g. 12.5.</a:t>
            </a:r>
            <a:endParaRPr lang="en-US" sz="950" dirty="0"/>
          </a:p>
        </p:txBody>
      </p:sp>
      <p:sp>
        <p:nvSpPr>
          <p:cNvPr id="29" name="Shape 26"/>
          <p:cNvSpPr/>
          <p:nvPr/>
        </p:nvSpPr>
        <p:spPr>
          <a:xfrm>
            <a:off x="566928" y="4973574"/>
            <a:ext cx="246888" cy="246888"/>
          </a:xfrm>
          <a:prstGeom prst="ellipse">
            <a:avLst/>
          </a:prstGeom>
          <a:solidFill>
            <a:srgbClr val="B3400C"/>
          </a:solidFill>
          <a:ln/>
        </p:spPr>
      </p:sp>
      <p:sp>
        <p:nvSpPr>
          <p:cNvPr id="30" name="Text 27"/>
          <p:cNvSpPr/>
          <p:nvPr/>
        </p:nvSpPr>
        <p:spPr>
          <a:xfrm>
            <a:off x="521208" y="4947971"/>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5</a:t>
            </a:r>
            <a:endParaRPr lang="en-US" sz="1050" dirty="0"/>
          </a:p>
        </p:txBody>
      </p:sp>
      <p:sp>
        <p:nvSpPr>
          <p:cNvPr id="31" name="Text 28"/>
          <p:cNvSpPr/>
          <p:nvPr/>
        </p:nvSpPr>
        <p:spPr>
          <a:xfrm>
            <a:off x="987552" y="4959858"/>
            <a:ext cx="565373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Status</a:t>
            </a:r>
            <a:endParaRPr lang="en-US" sz="1200" dirty="0"/>
          </a:p>
        </p:txBody>
      </p:sp>
      <p:sp>
        <p:nvSpPr>
          <p:cNvPr id="32" name="Text 29"/>
          <p:cNvSpPr/>
          <p:nvPr/>
        </p:nvSpPr>
        <p:spPr>
          <a:xfrm>
            <a:off x="987552" y="5234178"/>
            <a:ext cx="565373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Active for live; Realised or Exited for concluded holdings.</a:t>
            </a:r>
            <a:endParaRPr lang="en-US" sz="950" dirty="0"/>
          </a:p>
        </p:txBody>
      </p:sp>
      <p:sp>
        <p:nvSpPr>
          <p:cNvPr id="33" name="Shape 30"/>
          <p:cNvSpPr/>
          <p:nvPr/>
        </p:nvSpPr>
        <p:spPr>
          <a:xfrm>
            <a:off x="566928" y="5394960"/>
            <a:ext cx="6074359" cy="1005840"/>
          </a:xfrm>
          <a:prstGeom prst="rect">
            <a:avLst/>
          </a:prstGeom>
          <a:solidFill>
            <a:srgbClr val="000000"/>
          </a:solidFill>
          <a:ln/>
        </p:spPr>
      </p:sp>
      <p:sp>
        <p:nvSpPr>
          <p:cNvPr id="34" name="Text 31"/>
          <p:cNvSpPr/>
          <p:nvPr/>
        </p:nvSpPr>
        <p:spPr>
          <a:xfrm>
            <a:off x="786384" y="5541264"/>
            <a:ext cx="5635447" cy="182880"/>
          </a:xfrm>
          <a:prstGeom prst="rect">
            <a:avLst/>
          </a:prstGeom>
          <a:noFill/>
          <a:ln/>
        </p:spPr>
        <p:txBody>
          <a:bodyPr wrap="square" lIns="0" tIns="0" rIns="0" bIns="0" rtlCol="0" anchor="ctr"/>
          <a:lstStyle/>
          <a:p>
            <a:pPr indent="0" marL="0">
              <a:buNone/>
            </a:pPr>
            <a:r>
              <a:rPr lang="en-US" sz="750" spc="200" kern="0" dirty="0">
                <a:solidFill>
                  <a:srgbClr val="B9BDBE"/>
                </a:solidFill>
                <a:latin typeface="Work Sans" pitchFamily="34" charset="0"/>
                <a:ea typeface="Work Sans" pitchFamily="34" charset="-122"/>
                <a:cs typeface="Work Sans" pitchFamily="34" charset="-120"/>
              </a:rPr>
              <a:t>TAKE CARE</a:t>
            </a:r>
            <a:endParaRPr lang="en-US" sz="750" dirty="0"/>
          </a:p>
        </p:txBody>
      </p:sp>
      <p:sp>
        <p:nvSpPr>
          <p:cNvPr id="35" name="Text 32"/>
          <p:cNvSpPr/>
          <p:nvPr/>
        </p:nvSpPr>
        <p:spPr>
          <a:xfrm>
            <a:off x="786384" y="5760720"/>
            <a:ext cx="5635447" cy="50292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FFFFFF"/>
                </a:solidFill>
                <a:latin typeface="Work Sans" pitchFamily="34" charset="0"/>
                <a:ea typeface="Work Sans" pitchFamily="34" charset="-122"/>
                <a:cs typeface="Work Sans" pitchFamily="34" charset="-120"/>
              </a:rPr>
              <a:t>The 100% guard
</a:t>
            </a:r>
            <a:pPr indent="0" marL="0">
              <a:lnSpc>
                <a:spcPts val="1380"/>
              </a:lnSpc>
              <a:spcAft>
                <a:spcPts val="500"/>
              </a:spcAft>
              <a:buNone/>
            </a:pPr>
            <a:r>
              <a:rPr lang="en-US" sz="1000" dirty="0">
                <a:solidFill>
                  <a:srgbClr val="B9BDBE"/>
                </a:solidFill>
                <a:latin typeface="Work Sans" pitchFamily="34" charset="0"/>
                <a:ea typeface="Work Sans" pitchFamily="34" charset="-122"/>
                <a:cs typeface="Work Sans" pitchFamily="34" charset="-120"/>
              </a:rPr>
              <a:t>One SPV's positions can never exceed 100%. The form refuses and names the total it would have reached. Surprised? Something already on the table holds that share.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ROUTINE · MONEY</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11</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Logging cash events.</a:t>
            </a:r>
            <a:endParaRPr lang="en-US" sz="2500" dirty="0"/>
          </a:p>
        </p:txBody>
      </p:sp>
      <p:sp>
        <p:nvSpPr>
          <p:cNvPr id="9" name="Text 7"/>
          <p:cNvSpPr/>
          <p:nvPr/>
        </p:nvSpPr>
        <p:spPr>
          <a:xfrm>
            <a:off x="566928" y="1517904"/>
            <a:ext cx="1060704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Same tab, lower half. Cash events are the money-movement history: paid events feed “distributions to date”; forecast events appear as upcoming.</a:t>
            </a:r>
            <a:endParaRPr lang="en-US" sz="1150" dirty="0"/>
          </a:p>
        </p:txBody>
      </p:sp>
      <p:pic>
        <p:nvPicPr>
          <p:cNvPr id="10" name="Image 0" descr="/tmp/claude-0/-home-user-satis-group-website/ff8ab6f4-f9c2-556a-89f3-8bea05ba205c/build/assets/cash-event-form.png">    </p:cNvPr>
          <p:cNvPicPr>
            <a:picLocks noChangeAspect="1"/>
          </p:cNvPicPr>
          <p:nvPr/>
        </p:nvPicPr>
        <p:blipFill>
          <a:blip r:embed="rId1"/>
          <a:stretch>
            <a:fillRect/>
          </a:stretch>
        </p:blipFill>
        <p:spPr>
          <a:xfrm>
            <a:off x="7144207" y="2267712"/>
            <a:ext cx="4480560" cy="3840480"/>
          </a:xfrm>
          <a:prstGeom prst="rect">
            <a:avLst/>
          </a:prstGeom>
        </p:spPr>
      </p:pic>
      <p:sp>
        <p:nvSpPr>
          <p:cNvPr id="11" name="Shape 8"/>
          <p:cNvSpPr/>
          <p:nvPr/>
        </p:nvSpPr>
        <p:spPr>
          <a:xfrm>
            <a:off x="7144207" y="2267712"/>
            <a:ext cx="4480560" cy="3840480"/>
          </a:xfrm>
          <a:prstGeom prst="rect">
            <a:avLst/>
          </a:prstGeom>
          <a:ln w="12700">
            <a:solidFill>
              <a:srgbClr val="CED1D2"/>
            </a:solidFill>
            <a:prstDash val="solid"/>
          </a:ln>
        </p:spPr>
      </p:sp>
      <p:sp>
        <p:nvSpPr>
          <p:cNvPr id="12" name="Text 9"/>
          <p:cNvSpPr/>
          <p:nvPr/>
        </p:nvSpPr>
        <p:spPr>
          <a:xfrm>
            <a:off x="7144207" y="6172200"/>
            <a:ext cx="4480560" cy="256032"/>
          </a:xfrm>
          <a:prstGeom prst="rect">
            <a:avLst/>
          </a:prstGeom>
          <a:noFill/>
          <a:ln/>
        </p:spPr>
        <p:txBody>
          <a:bodyPr wrap="square" lIns="0" tIns="0" rIns="0" bIns="0" rtlCol="0" anchor="ctr"/>
          <a:lstStyle/>
          <a:p>
            <a:pPr indent="0" marL="0">
              <a:lnSpc>
                <a:spcPts val="1100"/>
              </a:lnSpc>
              <a:buNone/>
            </a:pPr>
            <a:r>
              <a:rPr lang="en-US" sz="850" dirty="0">
                <a:solidFill>
                  <a:srgbClr val="5C6366"/>
                </a:solidFill>
                <a:latin typeface="Work Sans" pitchFamily="34" charset="0"/>
                <a:ea typeface="Work Sans" pitchFamily="34" charset="-122"/>
                <a:cs typeface="Work Sans" pitchFamily="34" charset="-120"/>
              </a:rPr>
              <a:t>The record-cash-event form.</a:t>
            </a:r>
            <a:endParaRPr lang="en-US" sz="850" dirty="0"/>
          </a:p>
        </p:txBody>
      </p:sp>
      <p:sp>
        <p:nvSpPr>
          <p:cNvPr id="13" name="Shape 10"/>
          <p:cNvSpPr/>
          <p:nvPr/>
        </p:nvSpPr>
        <p:spPr>
          <a:xfrm>
            <a:off x="566928" y="2116836"/>
            <a:ext cx="246888" cy="246888"/>
          </a:xfrm>
          <a:prstGeom prst="ellipse">
            <a:avLst/>
          </a:prstGeom>
          <a:solidFill>
            <a:srgbClr val="B3400C"/>
          </a:solidFill>
          <a:ln/>
        </p:spPr>
      </p:sp>
      <p:sp>
        <p:nvSpPr>
          <p:cNvPr id="14" name="Text 11"/>
          <p:cNvSpPr/>
          <p:nvPr/>
        </p:nvSpPr>
        <p:spPr>
          <a:xfrm>
            <a:off x="521208" y="209123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5" name="Text 12"/>
          <p:cNvSpPr/>
          <p:nvPr/>
        </p:nvSpPr>
        <p:spPr>
          <a:xfrm>
            <a:off x="987552" y="2103120"/>
            <a:ext cx="565373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Investor</a:t>
            </a:r>
            <a:endParaRPr lang="en-US" sz="1200" dirty="0"/>
          </a:p>
        </p:txBody>
      </p:sp>
      <p:sp>
        <p:nvSpPr>
          <p:cNvPr id="16" name="Text 13"/>
          <p:cNvSpPr/>
          <p:nvPr/>
        </p:nvSpPr>
        <p:spPr>
          <a:xfrm>
            <a:off x="987552" y="2377440"/>
            <a:ext cx="565373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Whose money is moving.</a:t>
            </a:r>
            <a:endParaRPr lang="en-US" sz="950" dirty="0"/>
          </a:p>
        </p:txBody>
      </p:sp>
      <p:sp>
        <p:nvSpPr>
          <p:cNvPr id="17" name="Shape 14"/>
          <p:cNvSpPr/>
          <p:nvPr/>
        </p:nvSpPr>
        <p:spPr>
          <a:xfrm>
            <a:off x="566928" y="2745359"/>
            <a:ext cx="246888" cy="246888"/>
          </a:xfrm>
          <a:prstGeom prst="ellipse">
            <a:avLst/>
          </a:prstGeom>
          <a:solidFill>
            <a:srgbClr val="B3400C"/>
          </a:solidFill>
          <a:ln/>
        </p:spPr>
      </p:sp>
      <p:sp>
        <p:nvSpPr>
          <p:cNvPr id="18" name="Text 15"/>
          <p:cNvSpPr/>
          <p:nvPr/>
        </p:nvSpPr>
        <p:spPr>
          <a:xfrm>
            <a:off x="521208" y="2719756"/>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9" name="Text 16"/>
          <p:cNvSpPr/>
          <p:nvPr/>
        </p:nvSpPr>
        <p:spPr>
          <a:xfrm>
            <a:off x="987552" y="2731643"/>
            <a:ext cx="565373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Type</a:t>
            </a:r>
            <a:endParaRPr lang="en-US" sz="1200" dirty="0"/>
          </a:p>
        </p:txBody>
      </p:sp>
      <p:sp>
        <p:nvSpPr>
          <p:cNvPr id="20" name="Text 17"/>
          <p:cNvSpPr/>
          <p:nvPr/>
        </p:nvSpPr>
        <p:spPr>
          <a:xfrm>
            <a:off x="987552" y="3005963"/>
            <a:ext cx="5653735" cy="379222"/>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Distribution (profit out) · Forecast distribution (planned) · Capital call (money in) · Interest payment.</a:t>
            </a:r>
            <a:endParaRPr lang="en-US" sz="950" dirty="0"/>
          </a:p>
        </p:txBody>
      </p:sp>
      <p:sp>
        <p:nvSpPr>
          <p:cNvPr id="21" name="Shape 18"/>
          <p:cNvSpPr/>
          <p:nvPr/>
        </p:nvSpPr>
        <p:spPr>
          <a:xfrm>
            <a:off x="566928" y="3545205"/>
            <a:ext cx="246888" cy="246888"/>
          </a:xfrm>
          <a:prstGeom prst="ellipse">
            <a:avLst/>
          </a:prstGeom>
          <a:solidFill>
            <a:srgbClr val="B3400C"/>
          </a:solidFill>
          <a:ln/>
        </p:spPr>
      </p:sp>
      <p:sp>
        <p:nvSpPr>
          <p:cNvPr id="22" name="Text 19"/>
          <p:cNvSpPr/>
          <p:nvPr/>
        </p:nvSpPr>
        <p:spPr>
          <a:xfrm>
            <a:off x="521208" y="3519602"/>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23" name="Text 20"/>
          <p:cNvSpPr/>
          <p:nvPr/>
        </p:nvSpPr>
        <p:spPr>
          <a:xfrm>
            <a:off x="987552" y="3531489"/>
            <a:ext cx="565373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Status</a:t>
            </a:r>
            <a:endParaRPr lang="en-US" sz="1200" dirty="0"/>
          </a:p>
        </p:txBody>
      </p:sp>
      <p:sp>
        <p:nvSpPr>
          <p:cNvPr id="24" name="Text 21"/>
          <p:cNvSpPr/>
          <p:nvPr/>
        </p:nvSpPr>
        <p:spPr>
          <a:xfrm>
            <a:off x="987552" y="3805809"/>
            <a:ext cx="565373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Paid if it happened; Forecast if expected.</a:t>
            </a:r>
            <a:endParaRPr lang="en-US" sz="950" dirty="0"/>
          </a:p>
        </p:txBody>
      </p:sp>
      <p:sp>
        <p:nvSpPr>
          <p:cNvPr id="25" name="Shape 22"/>
          <p:cNvSpPr/>
          <p:nvPr/>
        </p:nvSpPr>
        <p:spPr>
          <a:xfrm>
            <a:off x="566928" y="4173728"/>
            <a:ext cx="246888" cy="246888"/>
          </a:xfrm>
          <a:prstGeom prst="ellipse">
            <a:avLst/>
          </a:prstGeom>
          <a:solidFill>
            <a:srgbClr val="B3400C"/>
          </a:solidFill>
          <a:ln/>
        </p:spPr>
      </p:sp>
      <p:sp>
        <p:nvSpPr>
          <p:cNvPr id="26" name="Text 23"/>
          <p:cNvSpPr/>
          <p:nvPr/>
        </p:nvSpPr>
        <p:spPr>
          <a:xfrm>
            <a:off x="521208" y="4148125"/>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4</a:t>
            </a:r>
            <a:endParaRPr lang="en-US" sz="1050" dirty="0"/>
          </a:p>
        </p:txBody>
      </p:sp>
      <p:sp>
        <p:nvSpPr>
          <p:cNvPr id="27" name="Text 24"/>
          <p:cNvSpPr/>
          <p:nvPr/>
        </p:nvSpPr>
        <p:spPr>
          <a:xfrm>
            <a:off x="987552" y="4160012"/>
            <a:ext cx="565373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Date and amount</a:t>
            </a:r>
            <a:endParaRPr lang="en-US" sz="1200" dirty="0"/>
          </a:p>
        </p:txBody>
      </p:sp>
      <p:sp>
        <p:nvSpPr>
          <p:cNvPr id="28" name="Text 25"/>
          <p:cNvSpPr/>
          <p:nvPr/>
        </p:nvSpPr>
        <p:spPr>
          <a:xfrm>
            <a:off x="987552" y="4434332"/>
            <a:ext cx="565373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Year-month-day, e.g. 2026-09-30 · £125,000.</a:t>
            </a:r>
            <a:endParaRPr lang="en-US" sz="950" dirty="0"/>
          </a:p>
        </p:txBody>
      </p:sp>
      <p:sp>
        <p:nvSpPr>
          <p:cNvPr id="29" name="Shape 26"/>
          <p:cNvSpPr/>
          <p:nvPr/>
        </p:nvSpPr>
        <p:spPr>
          <a:xfrm>
            <a:off x="566928" y="4802251"/>
            <a:ext cx="246888" cy="246888"/>
          </a:xfrm>
          <a:prstGeom prst="ellipse">
            <a:avLst/>
          </a:prstGeom>
          <a:solidFill>
            <a:srgbClr val="B3400C"/>
          </a:solidFill>
          <a:ln/>
        </p:spPr>
      </p:sp>
      <p:sp>
        <p:nvSpPr>
          <p:cNvPr id="30" name="Text 27"/>
          <p:cNvSpPr/>
          <p:nvPr/>
        </p:nvSpPr>
        <p:spPr>
          <a:xfrm>
            <a:off x="521208" y="4776648"/>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5</a:t>
            </a:r>
            <a:endParaRPr lang="en-US" sz="1050" dirty="0"/>
          </a:p>
        </p:txBody>
      </p:sp>
      <p:sp>
        <p:nvSpPr>
          <p:cNvPr id="31" name="Text 28"/>
          <p:cNvSpPr/>
          <p:nvPr/>
        </p:nvSpPr>
        <p:spPr>
          <a:xfrm>
            <a:off x="987552" y="4788535"/>
            <a:ext cx="565373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Related development</a:t>
            </a:r>
            <a:endParaRPr lang="en-US" sz="1200" dirty="0"/>
          </a:p>
        </p:txBody>
      </p:sp>
      <p:sp>
        <p:nvSpPr>
          <p:cNvPr id="32" name="Text 29"/>
          <p:cNvSpPr/>
          <p:nvPr/>
        </p:nvSpPr>
        <p:spPr>
          <a:xfrm>
            <a:off x="987552" y="5062855"/>
            <a:ext cx="565373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Optional, but linking keeps the history tidy.</a:t>
            </a:r>
            <a:endParaRPr lang="en-US" sz="950" dirty="0"/>
          </a:p>
        </p:txBody>
      </p:sp>
      <p:sp>
        <p:nvSpPr>
          <p:cNvPr id="33" name="Shape 30"/>
          <p:cNvSpPr/>
          <p:nvPr/>
        </p:nvSpPr>
        <p:spPr>
          <a:xfrm>
            <a:off x="566928" y="5486400"/>
            <a:ext cx="6074359" cy="914400"/>
          </a:xfrm>
          <a:prstGeom prst="rect">
            <a:avLst/>
          </a:prstGeom>
          <a:solidFill>
            <a:srgbClr val="ECEEEE"/>
          </a:solidFill>
          <a:ln/>
        </p:spPr>
      </p:sp>
      <p:sp>
        <p:nvSpPr>
          <p:cNvPr id="34" name="Text 31"/>
          <p:cNvSpPr/>
          <p:nvPr/>
        </p:nvSpPr>
        <p:spPr>
          <a:xfrm>
            <a:off x="786384" y="5632704"/>
            <a:ext cx="5635447"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35" name="Text 32"/>
          <p:cNvSpPr/>
          <p:nvPr/>
        </p:nvSpPr>
        <p:spPr>
          <a:xfrm>
            <a:off x="786384" y="5852160"/>
            <a:ext cx="5635447" cy="41148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When a forecast becomes real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Record a new event with status Paid, then Remove the old forecast entry. Leaving both double-counts the history.</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ROUTINE · PUBLISHING</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12</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Publishing a monthly report.</a:t>
            </a:r>
            <a:endParaRPr lang="en-US" sz="2500" dirty="0"/>
          </a:p>
        </p:txBody>
      </p:sp>
      <p:sp>
        <p:nvSpPr>
          <p:cNvPr id="9" name="Text 7"/>
          <p:cNvSpPr/>
          <p:nvPr/>
        </p:nvSpPr>
        <p:spPr>
          <a:xfrm>
            <a:off x="566928" y="1517904"/>
            <a:ext cx="1060704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Monthly reports tab. Reports reach invested clients only, the moment you publish. Prospects never see construction detail.</a:t>
            </a:r>
            <a:endParaRPr lang="en-US" sz="1150" dirty="0"/>
          </a:p>
        </p:txBody>
      </p:sp>
      <p:pic>
        <p:nvPicPr>
          <p:cNvPr id="10" name="Image 0" descr="/tmp/claude-0/-home-user-satis-group-website/ff8ab6f4-f9c2-556a-89f3-8bea05ba205c/build/assets/report-form.png">    </p:cNvPr>
          <p:cNvPicPr>
            <a:picLocks noChangeAspect="1"/>
          </p:cNvPicPr>
          <p:nvPr/>
        </p:nvPicPr>
        <p:blipFill>
          <a:blip r:embed="rId1"/>
          <a:stretch>
            <a:fillRect/>
          </a:stretch>
        </p:blipFill>
        <p:spPr>
          <a:xfrm>
            <a:off x="8078370" y="2103120"/>
            <a:ext cx="3115155" cy="4169664"/>
          </a:xfrm>
          <a:prstGeom prst="rect">
            <a:avLst/>
          </a:prstGeom>
        </p:spPr>
      </p:pic>
      <p:sp>
        <p:nvSpPr>
          <p:cNvPr id="11" name="Shape 8"/>
          <p:cNvSpPr/>
          <p:nvPr/>
        </p:nvSpPr>
        <p:spPr>
          <a:xfrm>
            <a:off x="8078370" y="2103120"/>
            <a:ext cx="3115155" cy="4169664"/>
          </a:xfrm>
          <a:prstGeom prst="rect">
            <a:avLst/>
          </a:prstGeom>
          <a:ln w="12700">
            <a:solidFill>
              <a:srgbClr val="CED1D2"/>
            </a:solidFill>
            <a:prstDash val="solid"/>
          </a:ln>
        </p:spPr>
      </p:sp>
      <p:sp>
        <p:nvSpPr>
          <p:cNvPr id="12" name="Text 9"/>
          <p:cNvSpPr/>
          <p:nvPr/>
        </p:nvSpPr>
        <p:spPr>
          <a:xfrm>
            <a:off x="8078370" y="6336792"/>
            <a:ext cx="3115155" cy="256032"/>
          </a:xfrm>
          <a:prstGeom prst="rect">
            <a:avLst/>
          </a:prstGeom>
          <a:noFill/>
          <a:ln/>
        </p:spPr>
        <p:txBody>
          <a:bodyPr wrap="square" lIns="0" tIns="0" rIns="0" bIns="0" rtlCol="0" anchor="ctr"/>
          <a:lstStyle/>
          <a:p>
            <a:pPr indent="0" marL="0">
              <a:lnSpc>
                <a:spcPts val="1100"/>
              </a:lnSpc>
              <a:buNone/>
            </a:pPr>
            <a:r>
              <a:rPr lang="en-US" sz="850" dirty="0">
                <a:solidFill>
                  <a:srgbClr val="5C6366"/>
                </a:solidFill>
                <a:latin typeface="Work Sans" pitchFamily="34" charset="0"/>
                <a:ea typeface="Work Sans" pitchFamily="34" charset="-122"/>
                <a:cs typeface="Work Sans" pitchFamily="34" charset="-120"/>
              </a:rPr>
              <a:t>The publish-monthly-report form.</a:t>
            </a:r>
            <a:endParaRPr lang="en-US" sz="850" dirty="0"/>
          </a:p>
        </p:txBody>
      </p:sp>
      <p:sp>
        <p:nvSpPr>
          <p:cNvPr id="13" name="Shape 10"/>
          <p:cNvSpPr/>
          <p:nvPr/>
        </p:nvSpPr>
        <p:spPr>
          <a:xfrm>
            <a:off x="566928" y="2116836"/>
            <a:ext cx="246888" cy="246888"/>
          </a:xfrm>
          <a:prstGeom prst="ellipse">
            <a:avLst/>
          </a:prstGeom>
          <a:solidFill>
            <a:srgbClr val="B3400C"/>
          </a:solidFill>
          <a:ln/>
        </p:spPr>
      </p:sp>
      <p:sp>
        <p:nvSpPr>
          <p:cNvPr id="14" name="Text 11"/>
          <p:cNvSpPr/>
          <p:nvPr/>
        </p:nvSpPr>
        <p:spPr>
          <a:xfrm>
            <a:off x="521208" y="209123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5" name="Text 12"/>
          <p:cNvSpPr/>
          <p:nvPr/>
        </p:nvSpPr>
        <p:spPr>
          <a:xfrm>
            <a:off x="987552" y="2103120"/>
            <a:ext cx="61566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Development and period</a:t>
            </a:r>
            <a:endParaRPr lang="en-US" sz="1200" dirty="0"/>
          </a:p>
        </p:txBody>
      </p:sp>
      <p:sp>
        <p:nvSpPr>
          <p:cNvPr id="16" name="Text 13"/>
          <p:cNvSpPr/>
          <p:nvPr/>
        </p:nvSpPr>
        <p:spPr>
          <a:xfrm>
            <a:off x="987552" y="2377440"/>
            <a:ext cx="6156655" cy="379222"/>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Which project, and the month written out. “August 2026” is the headline investors see.</a:t>
            </a:r>
            <a:endParaRPr lang="en-US" sz="950" dirty="0"/>
          </a:p>
        </p:txBody>
      </p:sp>
      <p:sp>
        <p:nvSpPr>
          <p:cNvPr id="17" name="Shape 14"/>
          <p:cNvSpPr/>
          <p:nvPr/>
        </p:nvSpPr>
        <p:spPr>
          <a:xfrm>
            <a:off x="566928" y="2916682"/>
            <a:ext cx="246888" cy="246888"/>
          </a:xfrm>
          <a:prstGeom prst="ellipse">
            <a:avLst/>
          </a:prstGeom>
          <a:solidFill>
            <a:srgbClr val="B3400C"/>
          </a:solidFill>
          <a:ln/>
        </p:spPr>
      </p:sp>
      <p:sp>
        <p:nvSpPr>
          <p:cNvPr id="18" name="Text 15"/>
          <p:cNvSpPr/>
          <p:nvPr/>
        </p:nvSpPr>
        <p:spPr>
          <a:xfrm>
            <a:off x="521208" y="2891079"/>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9" name="Text 16"/>
          <p:cNvSpPr/>
          <p:nvPr/>
        </p:nvSpPr>
        <p:spPr>
          <a:xfrm>
            <a:off x="987552" y="2902966"/>
            <a:ext cx="61566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Category and title</a:t>
            </a:r>
            <a:endParaRPr lang="en-US" sz="1200" dirty="0"/>
          </a:p>
        </p:txBody>
      </p:sp>
      <p:sp>
        <p:nvSpPr>
          <p:cNvPr id="20" name="Text 17"/>
          <p:cNvSpPr/>
          <p:nvPr/>
        </p:nvSpPr>
        <p:spPr>
          <a:xfrm>
            <a:off x="987552" y="3177286"/>
            <a:ext cx="6156655" cy="379222"/>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One word for the kind of update (Construction, Planning, Lettings) and a one-line headline for the month.</a:t>
            </a:r>
            <a:endParaRPr lang="en-US" sz="950" dirty="0"/>
          </a:p>
        </p:txBody>
      </p:sp>
      <p:sp>
        <p:nvSpPr>
          <p:cNvPr id="21" name="Shape 18"/>
          <p:cNvSpPr/>
          <p:nvPr/>
        </p:nvSpPr>
        <p:spPr>
          <a:xfrm>
            <a:off x="566928" y="3716528"/>
            <a:ext cx="246888" cy="246888"/>
          </a:xfrm>
          <a:prstGeom prst="ellipse">
            <a:avLst/>
          </a:prstGeom>
          <a:solidFill>
            <a:srgbClr val="B3400C"/>
          </a:solidFill>
          <a:ln/>
        </p:spPr>
      </p:sp>
      <p:sp>
        <p:nvSpPr>
          <p:cNvPr id="22" name="Text 19"/>
          <p:cNvSpPr/>
          <p:nvPr/>
        </p:nvSpPr>
        <p:spPr>
          <a:xfrm>
            <a:off x="521208" y="3690925"/>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23" name="Text 20"/>
          <p:cNvSpPr/>
          <p:nvPr/>
        </p:nvSpPr>
        <p:spPr>
          <a:xfrm>
            <a:off x="987552" y="3702812"/>
            <a:ext cx="61566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Summary</a:t>
            </a:r>
            <a:endParaRPr lang="en-US" sz="1200" dirty="0"/>
          </a:p>
        </p:txBody>
      </p:sp>
      <p:sp>
        <p:nvSpPr>
          <p:cNvPr id="24" name="Text 21"/>
          <p:cNvSpPr/>
          <p:nvPr/>
        </p:nvSpPr>
        <p:spPr>
          <a:xfrm>
            <a:off x="987552" y="3977132"/>
            <a:ext cx="615665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A paragraph or two: progress, issues, next steps.</a:t>
            </a:r>
            <a:endParaRPr lang="en-US" sz="950" dirty="0"/>
          </a:p>
        </p:txBody>
      </p:sp>
      <p:sp>
        <p:nvSpPr>
          <p:cNvPr id="25" name="Shape 22"/>
          <p:cNvSpPr/>
          <p:nvPr/>
        </p:nvSpPr>
        <p:spPr>
          <a:xfrm>
            <a:off x="566928" y="4345051"/>
            <a:ext cx="246888" cy="246888"/>
          </a:xfrm>
          <a:prstGeom prst="ellipse">
            <a:avLst/>
          </a:prstGeom>
          <a:solidFill>
            <a:srgbClr val="B3400C"/>
          </a:solidFill>
          <a:ln/>
        </p:spPr>
      </p:sp>
      <p:sp>
        <p:nvSpPr>
          <p:cNvPr id="26" name="Text 23"/>
          <p:cNvSpPr/>
          <p:nvPr/>
        </p:nvSpPr>
        <p:spPr>
          <a:xfrm>
            <a:off x="521208" y="4319448"/>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4</a:t>
            </a:r>
            <a:endParaRPr lang="en-US" sz="1050" dirty="0"/>
          </a:p>
        </p:txBody>
      </p:sp>
      <p:sp>
        <p:nvSpPr>
          <p:cNvPr id="27" name="Text 24"/>
          <p:cNvSpPr/>
          <p:nvPr/>
        </p:nvSpPr>
        <p:spPr>
          <a:xfrm>
            <a:off x="987552" y="4331335"/>
            <a:ext cx="61566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Tasks, one per line</a:t>
            </a:r>
            <a:endParaRPr lang="en-US" sz="1200" dirty="0"/>
          </a:p>
        </p:txBody>
      </p:sp>
      <p:sp>
        <p:nvSpPr>
          <p:cNvPr id="28" name="Text 25"/>
          <p:cNvSpPr/>
          <p:nvPr/>
        </p:nvSpPr>
        <p:spPr>
          <a:xfrm>
            <a:off x="987552" y="4605655"/>
            <a:ext cx="6156655" cy="379222"/>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Three parts separated by spaced double dashes: Title -- detail -- status. For example: “Superstructure -- Frame at level three -- On programme”.</a:t>
            </a:r>
            <a:endParaRPr lang="en-US" sz="950" dirty="0"/>
          </a:p>
        </p:txBody>
      </p:sp>
      <p:sp>
        <p:nvSpPr>
          <p:cNvPr id="29" name="Shape 26"/>
          <p:cNvSpPr/>
          <p:nvPr/>
        </p:nvSpPr>
        <p:spPr>
          <a:xfrm>
            <a:off x="566928" y="5144897"/>
            <a:ext cx="246888" cy="246888"/>
          </a:xfrm>
          <a:prstGeom prst="ellipse">
            <a:avLst/>
          </a:prstGeom>
          <a:solidFill>
            <a:srgbClr val="B3400C"/>
          </a:solidFill>
          <a:ln/>
        </p:spPr>
      </p:sp>
      <p:sp>
        <p:nvSpPr>
          <p:cNvPr id="30" name="Text 27"/>
          <p:cNvSpPr/>
          <p:nvPr/>
        </p:nvSpPr>
        <p:spPr>
          <a:xfrm>
            <a:off x="521208" y="5119294"/>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5</a:t>
            </a:r>
            <a:endParaRPr lang="en-US" sz="1050" dirty="0"/>
          </a:p>
        </p:txBody>
      </p:sp>
      <p:sp>
        <p:nvSpPr>
          <p:cNvPr id="31" name="Text 28"/>
          <p:cNvSpPr/>
          <p:nvPr/>
        </p:nvSpPr>
        <p:spPr>
          <a:xfrm>
            <a:off x="987552" y="5131181"/>
            <a:ext cx="61566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Report file: next slide</a:t>
            </a:r>
            <a:endParaRPr lang="en-US" sz="1200" dirty="0"/>
          </a:p>
        </p:txBody>
      </p:sp>
      <p:sp>
        <p:nvSpPr>
          <p:cNvPr id="32" name="Text 29"/>
          <p:cNvSpPr/>
          <p:nvPr/>
        </p:nvSpPr>
        <p:spPr>
          <a:xfrm>
            <a:off x="987552" y="5405501"/>
            <a:ext cx="615665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Leave empty for now; the report publishes fine without it.</a:t>
            </a:r>
            <a:endParaRPr lang="en-US" sz="950" dirty="0"/>
          </a:p>
        </p:txBody>
      </p:sp>
      <p:sp>
        <p:nvSpPr>
          <p:cNvPr id="33" name="Shape 30"/>
          <p:cNvSpPr/>
          <p:nvPr/>
        </p:nvSpPr>
        <p:spPr>
          <a:xfrm>
            <a:off x="566928" y="5486400"/>
            <a:ext cx="6577279" cy="914400"/>
          </a:xfrm>
          <a:prstGeom prst="rect">
            <a:avLst/>
          </a:prstGeom>
          <a:solidFill>
            <a:srgbClr val="ECEEEE"/>
          </a:solidFill>
          <a:ln/>
        </p:spPr>
      </p:sp>
      <p:sp>
        <p:nvSpPr>
          <p:cNvPr id="34" name="Text 31"/>
          <p:cNvSpPr/>
          <p:nvPr/>
        </p:nvSpPr>
        <p:spPr>
          <a:xfrm>
            <a:off x="786384" y="5632704"/>
            <a:ext cx="6138367"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35" name="Text 32"/>
          <p:cNvSpPr/>
          <p:nvPr/>
        </p:nvSpPr>
        <p:spPr>
          <a:xfrm>
            <a:off x="786384" y="5852160"/>
            <a:ext cx="6138367" cy="41148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Why task lines matter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Each line becomes its own item investors can ask about directly. Specific, honest lines generate fewer worried calls than vague ones.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ROUTINE · PUBLISHING</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13</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Attaching the report PDF.</a:t>
            </a:r>
            <a:endParaRPr lang="en-US" sz="2500" dirty="0"/>
          </a:p>
        </p:txBody>
      </p:sp>
      <p:sp>
        <p:nvSpPr>
          <p:cNvPr id="9" name="Text 7"/>
          <p:cNvSpPr/>
          <p:nvPr/>
        </p:nvSpPr>
        <p:spPr>
          <a:xfrm>
            <a:off x="566928" y="1517904"/>
            <a:ext cx="704088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The Report file box records where the PDF lives on the website. It does not upload the file. Getting it there is a one-off step per report:</a:t>
            </a:r>
            <a:endParaRPr lang="en-US" sz="1150" dirty="0"/>
          </a:p>
        </p:txBody>
      </p:sp>
      <p:sp>
        <p:nvSpPr>
          <p:cNvPr id="10" name="Shape 8"/>
          <p:cNvSpPr/>
          <p:nvPr/>
        </p:nvSpPr>
        <p:spPr>
          <a:xfrm>
            <a:off x="566928" y="2116836"/>
            <a:ext cx="246888" cy="246888"/>
          </a:xfrm>
          <a:prstGeom prst="ellipse">
            <a:avLst/>
          </a:prstGeom>
          <a:solidFill>
            <a:srgbClr val="B3400C"/>
          </a:solidFill>
          <a:ln/>
        </p:spPr>
      </p:sp>
      <p:sp>
        <p:nvSpPr>
          <p:cNvPr id="11" name="Text 9"/>
          <p:cNvSpPr/>
          <p:nvPr/>
        </p:nvSpPr>
        <p:spPr>
          <a:xfrm>
            <a:off x="521208" y="209123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2" name="Text 10"/>
          <p:cNvSpPr/>
          <p:nvPr/>
        </p:nvSpPr>
        <p:spPr>
          <a:xfrm>
            <a:off x="987552" y="2103120"/>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Ask Claude to add the file</a:t>
            </a:r>
            <a:endParaRPr lang="en-US" sz="1200" dirty="0"/>
          </a:p>
        </p:txBody>
      </p:sp>
      <p:sp>
        <p:nvSpPr>
          <p:cNvPr id="13" name="Text 11"/>
          <p:cNvSpPr/>
          <p:nvPr/>
        </p:nvSpPr>
        <p:spPr>
          <a:xfrm>
            <a:off x="987552" y="2377440"/>
            <a:ext cx="680313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In a session on the website repository: “Add this PDF as public/investor-reports/august-2026.pdf”, and attach the file. Or hand it to the development team.</a:t>
            </a:r>
            <a:endParaRPr lang="en-US" sz="1050" dirty="0"/>
          </a:p>
        </p:txBody>
      </p:sp>
      <p:sp>
        <p:nvSpPr>
          <p:cNvPr id="14" name="Shape 12"/>
          <p:cNvSpPr/>
          <p:nvPr/>
        </p:nvSpPr>
        <p:spPr>
          <a:xfrm>
            <a:off x="566928" y="2952750"/>
            <a:ext cx="246888" cy="246888"/>
          </a:xfrm>
          <a:prstGeom prst="ellipse">
            <a:avLst/>
          </a:prstGeom>
          <a:solidFill>
            <a:srgbClr val="B3400C"/>
          </a:solidFill>
          <a:ln/>
        </p:spPr>
      </p:sp>
      <p:sp>
        <p:nvSpPr>
          <p:cNvPr id="15" name="Text 13"/>
          <p:cNvSpPr/>
          <p:nvPr/>
        </p:nvSpPr>
        <p:spPr>
          <a:xfrm>
            <a:off x="521208" y="2927147"/>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6" name="Text 14"/>
          <p:cNvSpPr/>
          <p:nvPr/>
        </p:nvSpPr>
        <p:spPr>
          <a:xfrm>
            <a:off x="987552" y="2939034"/>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Type the matching path</a:t>
            </a:r>
            <a:endParaRPr lang="en-US" sz="1200" dirty="0"/>
          </a:p>
        </p:txBody>
      </p:sp>
      <p:sp>
        <p:nvSpPr>
          <p:cNvPr id="17" name="Text 15"/>
          <p:cNvSpPr/>
          <p:nvPr/>
        </p:nvSpPr>
        <p:spPr>
          <a:xfrm>
            <a:off x="987552" y="3213354"/>
            <a:ext cx="680313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Back in the form's Report file box, starting with a slash: /investor-reports/august-2026.pdf</a:t>
            </a:r>
            <a:endParaRPr lang="en-US" sz="1050" dirty="0"/>
          </a:p>
        </p:txBody>
      </p:sp>
      <p:sp>
        <p:nvSpPr>
          <p:cNvPr id="18" name="Shape 16"/>
          <p:cNvSpPr/>
          <p:nvPr/>
        </p:nvSpPr>
        <p:spPr>
          <a:xfrm>
            <a:off x="566928" y="3788664"/>
            <a:ext cx="246888" cy="246888"/>
          </a:xfrm>
          <a:prstGeom prst="ellipse">
            <a:avLst/>
          </a:prstGeom>
          <a:solidFill>
            <a:srgbClr val="B3400C"/>
          </a:solidFill>
          <a:ln/>
        </p:spPr>
      </p:sp>
      <p:sp>
        <p:nvSpPr>
          <p:cNvPr id="19" name="Text 17"/>
          <p:cNvSpPr/>
          <p:nvPr/>
        </p:nvSpPr>
        <p:spPr>
          <a:xfrm>
            <a:off x="521208" y="3763061"/>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20" name="Text 18"/>
          <p:cNvSpPr/>
          <p:nvPr/>
        </p:nvSpPr>
        <p:spPr>
          <a:xfrm>
            <a:off x="987552" y="3774948"/>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Or skip it entirely</a:t>
            </a:r>
            <a:endParaRPr lang="en-US" sz="1200" dirty="0"/>
          </a:p>
        </p:txBody>
      </p:sp>
      <p:sp>
        <p:nvSpPr>
          <p:cNvPr id="21" name="Text 19"/>
          <p:cNvSpPr/>
          <p:nvPr/>
        </p:nvSpPr>
        <p:spPr>
          <a:xfrm>
            <a:off x="987552" y="4049268"/>
            <a:ext cx="680313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The report still publishes. The portal's download button stays an inactive placeholder until a file is added.</a:t>
            </a:r>
            <a:endParaRPr lang="en-US" sz="1050" dirty="0"/>
          </a:p>
        </p:txBody>
      </p:sp>
      <p:sp>
        <p:nvSpPr>
          <p:cNvPr id="22" name="Shape 20"/>
          <p:cNvSpPr/>
          <p:nvPr/>
        </p:nvSpPr>
        <p:spPr>
          <a:xfrm>
            <a:off x="8247888" y="1618488"/>
            <a:ext cx="3376879" cy="1828800"/>
          </a:xfrm>
          <a:prstGeom prst="rect">
            <a:avLst/>
          </a:prstGeom>
          <a:solidFill>
            <a:srgbClr val="FFFFFF"/>
          </a:solidFill>
          <a:ln w="9525">
            <a:solidFill>
              <a:srgbClr val="000000"/>
            </a:solidFill>
            <a:prstDash val="solid"/>
          </a:ln>
        </p:spPr>
      </p:sp>
      <p:sp>
        <p:nvSpPr>
          <p:cNvPr id="23" name="Text 21"/>
          <p:cNvSpPr/>
          <p:nvPr/>
        </p:nvSpPr>
        <p:spPr>
          <a:xfrm>
            <a:off x="8467344" y="1764792"/>
            <a:ext cx="2937967"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WHAT YOU SHOULD SEE</a:t>
            </a:r>
            <a:endParaRPr lang="en-US" sz="750" dirty="0"/>
          </a:p>
        </p:txBody>
      </p:sp>
      <p:sp>
        <p:nvSpPr>
          <p:cNvPr id="24" name="Text 22"/>
          <p:cNvSpPr/>
          <p:nvPr/>
        </p:nvSpPr>
        <p:spPr>
          <a:xfrm>
            <a:off x="8467344" y="1984248"/>
            <a:ext cx="2937967" cy="132588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In the published list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Each report shows its period, task count, and “report uploaded” or “no report file yet”, so missing files are visible at a glance.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ROUTINE · PUBLISHING</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14</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Insights: research and market commentary.</a:t>
            </a:r>
            <a:endParaRPr lang="en-US" sz="2500" dirty="0"/>
          </a:p>
        </p:txBody>
      </p:sp>
      <p:sp>
        <p:nvSpPr>
          <p:cNvPr id="9" name="Text 7"/>
          <p:cNvSpPr/>
          <p:nvPr/>
        </p:nvSpPr>
        <p:spPr>
          <a:xfrm>
            <a:off x="566928" y="1517904"/>
            <a:ext cx="1060704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Insights tab. Articles appear in the portal for both prospective and invested accounts, in the same plain-typing style as news stories, with one extra trick.</a:t>
            </a:r>
            <a:endParaRPr lang="en-US" sz="1150" dirty="0"/>
          </a:p>
        </p:txBody>
      </p:sp>
      <p:pic>
        <p:nvPicPr>
          <p:cNvPr id="10" name="Image 0" descr="/tmp/claude-0/-home-user-satis-group-website/ff8ab6f4-f9c2-556a-89f3-8bea05ba205c/build/assets/insight-form.png">    </p:cNvPr>
          <p:cNvPicPr>
            <a:picLocks noChangeAspect="1"/>
          </p:cNvPicPr>
          <p:nvPr/>
        </p:nvPicPr>
        <p:blipFill>
          <a:blip r:embed="rId1"/>
          <a:stretch>
            <a:fillRect/>
          </a:stretch>
        </p:blipFill>
        <p:spPr>
          <a:xfrm>
            <a:off x="8108051" y="2103120"/>
            <a:ext cx="3055792" cy="4169664"/>
          </a:xfrm>
          <a:prstGeom prst="rect">
            <a:avLst/>
          </a:prstGeom>
        </p:spPr>
      </p:pic>
      <p:sp>
        <p:nvSpPr>
          <p:cNvPr id="11" name="Shape 8"/>
          <p:cNvSpPr/>
          <p:nvPr/>
        </p:nvSpPr>
        <p:spPr>
          <a:xfrm>
            <a:off x="8108051" y="2103120"/>
            <a:ext cx="3055792" cy="4169664"/>
          </a:xfrm>
          <a:prstGeom prst="rect">
            <a:avLst/>
          </a:prstGeom>
          <a:ln w="12700">
            <a:solidFill>
              <a:srgbClr val="CED1D2"/>
            </a:solidFill>
            <a:prstDash val="solid"/>
          </a:ln>
        </p:spPr>
      </p:sp>
      <p:sp>
        <p:nvSpPr>
          <p:cNvPr id="12" name="Text 9"/>
          <p:cNvSpPr/>
          <p:nvPr/>
        </p:nvSpPr>
        <p:spPr>
          <a:xfrm>
            <a:off x="8108051" y="6336792"/>
            <a:ext cx="3055792" cy="256032"/>
          </a:xfrm>
          <a:prstGeom prst="rect">
            <a:avLst/>
          </a:prstGeom>
          <a:noFill/>
          <a:ln/>
        </p:spPr>
        <p:txBody>
          <a:bodyPr wrap="square" lIns="0" tIns="0" rIns="0" bIns="0" rtlCol="0" anchor="ctr"/>
          <a:lstStyle/>
          <a:p>
            <a:pPr indent="0" marL="0">
              <a:lnSpc>
                <a:spcPts val="1100"/>
              </a:lnSpc>
              <a:buNone/>
            </a:pPr>
            <a:r>
              <a:rPr lang="en-US" sz="850" dirty="0">
                <a:solidFill>
                  <a:srgbClr val="5C6366"/>
                </a:solidFill>
                <a:latin typeface="Work Sans" pitchFamily="34" charset="0"/>
                <a:ea typeface="Work Sans" pitchFamily="34" charset="-122"/>
                <a:cs typeface="Work Sans" pitchFamily="34" charset="-120"/>
              </a:rPr>
              <a:t>The compose-insight form.</a:t>
            </a:r>
            <a:endParaRPr lang="en-US" sz="850" dirty="0"/>
          </a:p>
        </p:txBody>
      </p:sp>
      <p:sp>
        <p:nvSpPr>
          <p:cNvPr id="13" name="Shape 10"/>
          <p:cNvSpPr/>
          <p:nvPr/>
        </p:nvSpPr>
        <p:spPr>
          <a:xfrm>
            <a:off x="566928" y="2116836"/>
            <a:ext cx="246888" cy="246888"/>
          </a:xfrm>
          <a:prstGeom prst="ellipse">
            <a:avLst/>
          </a:prstGeom>
          <a:solidFill>
            <a:srgbClr val="B3400C"/>
          </a:solidFill>
          <a:ln/>
        </p:spPr>
      </p:sp>
      <p:sp>
        <p:nvSpPr>
          <p:cNvPr id="14" name="Text 11"/>
          <p:cNvSpPr/>
          <p:nvPr/>
        </p:nvSpPr>
        <p:spPr>
          <a:xfrm>
            <a:off x="521208" y="209123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5" name="Text 12"/>
          <p:cNvSpPr/>
          <p:nvPr/>
        </p:nvSpPr>
        <p:spPr>
          <a:xfrm>
            <a:off x="987552" y="2103120"/>
            <a:ext cx="61566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Title, category, date, read time</a:t>
            </a:r>
            <a:endParaRPr lang="en-US" sz="1200" dirty="0"/>
          </a:p>
        </p:txBody>
      </p:sp>
      <p:sp>
        <p:nvSpPr>
          <p:cNvPr id="16" name="Text 13"/>
          <p:cNvSpPr/>
          <p:nvPr/>
        </p:nvSpPr>
        <p:spPr>
          <a:xfrm>
            <a:off x="987552" y="2377440"/>
            <a:ext cx="6156655" cy="379222"/>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Category is the card label (“Market note”, “Research”). Read time: about one minute per 200 words.</a:t>
            </a:r>
            <a:endParaRPr lang="en-US" sz="950" dirty="0"/>
          </a:p>
        </p:txBody>
      </p:sp>
      <p:sp>
        <p:nvSpPr>
          <p:cNvPr id="17" name="Shape 14"/>
          <p:cNvSpPr/>
          <p:nvPr/>
        </p:nvSpPr>
        <p:spPr>
          <a:xfrm>
            <a:off x="566928" y="2916682"/>
            <a:ext cx="246888" cy="246888"/>
          </a:xfrm>
          <a:prstGeom prst="ellipse">
            <a:avLst/>
          </a:prstGeom>
          <a:solidFill>
            <a:srgbClr val="B3400C"/>
          </a:solidFill>
          <a:ln/>
        </p:spPr>
      </p:sp>
      <p:sp>
        <p:nvSpPr>
          <p:cNvPr id="18" name="Text 15"/>
          <p:cNvSpPr/>
          <p:nvPr/>
        </p:nvSpPr>
        <p:spPr>
          <a:xfrm>
            <a:off x="521208" y="2891079"/>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9" name="Text 16"/>
          <p:cNvSpPr/>
          <p:nvPr/>
        </p:nvSpPr>
        <p:spPr>
          <a:xfrm>
            <a:off x="987552" y="2902966"/>
            <a:ext cx="61566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Card colour and slug</a:t>
            </a:r>
            <a:endParaRPr lang="en-US" sz="1200" dirty="0"/>
          </a:p>
        </p:txBody>
      </p:sp>
      <p:sp>
        <p:nvSpPr>
          <p:cNvPr id="20" name="Text 17"/>
          <p:cNvSpPr/>
          <p:nvPr/>
        </p:nvSpPr>
        <p:spPr>
          <a:xfrm>
            <a:off x="987552" y="3177286"/>
            <a:ext cx="6156655" cy="379222"/>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Colour is purely cosmetic; balance the page. Slug: leave empty for new articles.</a:t>
            </a:r>
            <a:endParaRPr lang="en-US" sz="950" dirty="0"/>
          </a:p>
        </p:txBody>
      </p:sp>
      <p:sp>
        <p:nvSpPr>
          <p:cNvPr id="21" name="Shape 18"/>
          <p:cNvSpPr/>
          <p:nvPr/>
        </p:nvSpPr>
        <p:spPr>
          <a:xfrm>
            <a:off x="566928" y="3716528"/>
            <a:ext cx="246888" cy="246888"/>
          </a:xfrm>
          <a:prstGeom prst="ellipse">
            <a:avLst/>
          </a:prstGeom>
          <a:solidFill>
            <a:srgbClr val="B3400C"/>
          </a:solidFill>
          <a:ln/>
        </p:spPr>
      </p:sp>
      <p:sp>
        <p:nvSpPr>
          <p:cNvPr id="22" name="Text 19"/>
          <p:cNvSpPr/>
          <p:nvPr/>
        </p:nvSpPr>
        <p:spPr>
          <a:xfrm>
            <a:off x="521208" y="3690925"/>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23" name="Text 20"/>
          <p:cNvSpPr/>
          <p:nvPr/>
        </p:nvSpPr>
        <p:spPr>
          <a:xfrm>
            <a:off x="987552" y="3702812"/>
            <a:ext cx="61566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Summary and body</a:t>
            </a:r>
            <a:endParaRPr lang="en-US" sz="1200" dirty="0"/>
          </a:p>
        </p:txBody>
      </p:sp>
      <p:sp>
        <p:nvSpPr>
          <p:cNvPr id="24" name="Text 21"/>
          <p:cNvSpPr/>
          <p:nvPr/>
        </p:nvSpPr>
        <p:spPr>
          <a:xfrm>
            <a:off x="987552" y="3977132"/>
            <a:ext cx="6156655" cy="550545"/>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Paragraphs, ## headings and - bullets as in news stories, plus pull quotes: start a line with &gt; and a space. To credit someone, start the next line with two dashes: -- Savills Research, 2026.</a:t>
            </a:r>
            <a:endParaRPr lang="en-US" sz="950" dirty="0"/>
          </a:p>
        </p:txBody>
      </p:sp>
      <p:sp>
        <p:nvSpPr>
          <p:cNvPr id="25" name="Shape 22"/>
          <p:cNvSpPr/>
          <p:nvPr/>
        </p:nvSpPr>
        <p:spPr>
          <a:xfrm>
            <a:off x="566928" y="4687697"/>
            <a:ext cx="246888" cy="246888"/>
          </a:xfrm>
          <a:prstGeom prst="ellipse">
            <a:avLst/>
          </a:prstGeom>
          <a:solidFill>
            <a:srgbClr val="B3400C"/>
          </a:solidFill>
          <a:ln/>
        </p:spPr>
      </p:sp>
      <p:sp>
        <p:nvSpPr>
          <p:cNvPr id="26" name="Text 23"/>
          <p:cNvSpPr/>
          <p:nvPr/>
        </p:nvSpPr>
        <p:spPr>
          <a:xfrm>
            <a:off x="521208" y="4662094"/>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4</a:t>
            </a:r>
            <a:endParaRPr lang="en-US" sz="1050" dirty="0"/>
          </a:p>
        </p:txBody>
      </p:sp>
      <p:sp>
        <p:nvSpPr>
          <p:cNvPr id="27" name="Text 24"/>
          <p:cNvSpPr/>
          <p:nvPr/>
        </p:nvSpPr>
        <p:spPr>
          <a:xfrm>
            <a:off x="987552" y="4673981"/>
            <a:ext cx="61566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Publish insight</a:t>
            </a:r>
            <a:endParaRPr lang="en-US" sz="1200" dirty="0"/>
          </a:p>
        </p:txBody>
      </p:sp>
      <p:sp>
        <p:nvSpPr>
          <p:cNvPr id="28" name="Text 25"/>
          <p:cNvSpPr/>
          <p:nvPr/>
        </p:nvSpPr>
        <p:spPr>
          <a:xfrm>
            <a:off x="987552" y="4948301"/>
            <a:ext cx="615665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Live in the portal immediately; the published list shows the article's slug.</a:t>
            </a:r>
            <a:endParaRPr lang="en-US" sz="950" dirty="0"/>
          </a:p>
        </p:txBody>
      </p:sp>
      <p:sp>
        <p:nvSpPr>
          <p:cNvPr id="29" name="Shape 26"/>
          <p:cNvSpPr/>
          <p:nvPr/>
        </p:nvSpPr>
        <p:spPr>
          <a:xfrm>
            <a:off x="566928" y="5394960"/>
            <a:ext cx="6577279" cy="1005840"/>
          </a:xfrm>
          <a:prstGeom prst="rect">
            <a:avLst/>
          </a:prstGeom>
          <a:solidFill>
            <a:srgbClr val="000000"/>
          </a:solidFill>
          <a:ln/>
        </p:spPr>
      </p:sp>
      <p:sp>
        <p:nvSpPr>
          <p:cNvPr id="30" name="Text 27"/>
          <p:cNvSpPr/>
          <p:nvPr/>
        </p:nvSpPr>
        <p:spPr>
          <a:xfrm>
            <a:off x="786384" y="5541264"/>
            <a:ext cx="6138367" cy="182880"/>
          </a:xfrm>
          <a:prstGeom prst="rect">
            <a:avLst/>
          </a:prstGeom>
          <a:noFill/>
          <a:ln/>
        </p:spPr>
        <p:txBody>
          <a:bodyPr wrap="square" lIns="0" tIns="0" rIns="0" bIns="0" rtlCol="0" anchor="ctr"/>
          <a:lstStyle/>
          <a:p>
            <a:pPr indent="0" marL="0">
              <a:buNone/>
            </a:pPr>
            <a:r>
              <a:rPr lang="en-US" sz="750" spc="200" kern="0" dirty="0">
                <a:solidFill>
                  <a:srgbClr val="B9BDBE"/>
                </a:solidFill>
                <a:latin typeface="Work Sans" pitchFamily="34" charset="0"/>
                <a:ea typeface="Work Sans" pitchFamily="34" charset="-122"/>
                <a:cs typeface="Work Sans" pitchFamily="34" charset="-120"/>
              </a:rPr>
              <a:t>TAKE CARE</a:t>
            </a:r>
            <a:endParaRPr lang="en-US" sz="750" dirty="0"/>
          </a:p>
        </p:txBody>
      </p:sp>
      <p:sp>
        <p:nvSpPr>
          <p:cNvPr id="31" name="Text 28"/>
          <p:cNvSpPr/>
          <p:nvPr/>
        </p:nvSpPr>
        <p:spPr>
          <a:xfrm>
            <a:off x="786384" y="5760720"/>
            <a:ext cx="6138367" cy="50292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FFFFFF"/>
                </a:solidFill>
                <a:latin typeface="Work Sans" pitchFamily="34" charset="0"/>
                <a:ea typeface="Work Sans" pitchFamily="34" charset="-122"/>
                <a:cs typeface="Work Sans" pitchFamily="34" charset="-120"/>
              </a:rPr>
              <a:t>Slugs replace, by design
</a:t>
            </a:r>
            <a:pPr indent="0" marL="0">
              <a:lnSpc>
                <a:spcPts val="1380"/>
              </a:lnSpc>
              <a:spcAft>
                <a:spcPts val="500"/>
              </a:spcAft>
              <a:buNone/>
            </a:pPr>
            <a:r>
              <a:rPr lang="en-US" sz="1000" dirty="0">
                <a:solidFill>
                  <a:srgbClr val="B9BDBE"/>
                </a:solidFill>
                <a:latin typeface="Work Sans" pitchFamily="34" charset="0"/>
                <a:ea typeface="Work Sans" pitchFamily="34" charset="-122"/>
                <a:cs typeface="Work Sans" pitchFamily="34" charset="-120"/>
              </a:rPr>
              <a:t>Typing an existing slug and publishing replaces that article (that is how you update one). The opposite of news stories, so keep the slug box empty for new pieces.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ROUTINE · PUBLISHING</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15</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Opportunities: advertising a raise.</a:t>
            </a:r>
            <a:endParaRPr lang="en-US" sz="2500" dirty="0"/>
          </a:p>
        </p:txBody>
      </p:sp>
      <p:sp>
        <p:nvSpPr>
          <p:cNvPr id="9" name="Text 7"/>
          <p:cNvSpPr/>
          <p:nvPr/>
        </p:nvSpPr>
        <p:spPr>
          <a:xfrm>
            <a:off x="566928" y="1517904"/>
            <a:ext cx="1060704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Opportunities tab: the deal-flow page prospective investors browse, with live raises also flagged on every investor's overview. This is the shop window for prospects.</a:t>
            </a:r>
            <a:endParaRPr lang="en-US" sz="1150" dirty="0"/>
          </a:p>
        </p:txBody>
      </p:sp>
      <p:pic>
        <p:nvPicPr>
          <p:cNvPr id="10" name="Image 0" descr="/tmp/claude-0/-home-user-satis-group-website/ff8ab6f4-f9c2-556a-89f3-8bea05ba205c/build/assets/opportunity-form.png">    </p:cNvPr>
          <p:cNvPicPr>
            <a:picLocks noChangeAspect="1"/>
          </p:cNvPicPr>
          <p:nvPr/>
        </p:nvPicPr>
        <p:blipFill>
          <a:blip r:embed="rId1"/>
          <a:stretch>
            <a:fillRect/>
          </a:stretch>
        </p:blipFill>
        <p:spPr>
          <a:xfrm>
            <a:off x="8306410" y="2103120"/>
            <a:ext cx="2659075" cy="4169664"/>
          </a:xfrm>
          <a:prstGeom prst="rect">
            <a:avLst/>
          </a:prstGeom>
        </p:spPr>
      </p:pic>
      <p:sp>
        <p:nvSpPr>
          <p:cNvPr id="11" name="Shape 8"/>
          <p:cNvSpPr/>
          <p:nvPr/>
        </p:nvSpPr>
        <p:spPr>
          <a:xfrm>
            <a:off x="8306410" y="2103120"/>
            <a:ext cx="2659075" cy="4169664"/>
          </a:xfrm>
          <a:prstGeom prst="rect">
            <a:avLst/>
          </a:prstGeom>
          <a:ln w="12700">
            <a:solidFill>
              <a:srgbClr val="CED1D2"/>
            </a:solidFill>
            <a:prstDash val="solid"/>
          </a:ln>
        </p:spPr>
      </p:sp>
      <p:sp>
        <p:nvSpPr>
          <p:cNvPr id="12" name="Text 9"/>
          <p:cNvSpPr/>
          <p:nvPr/>
        </p:nvSpPr>
        <p:spPr>
          <a:xfrm>
            <a:off x="8306410" y="6336792"/>
            <a:ext cx="2743200" cy="256032"/>
          </a:xfrm>
          <a:prstGeom prst="rect">
            <a:avLst/>
          </a:prstGeom>
          <a:noFill/>
          <a:ln/>
        </p:spPr>
        <p:txBody>
          <a:bodyPr wrap="square" lIns="0" tIns="0" rIns="0" bIns="0" rtlCol="0" anchor="ctr"/>
          <a:lstStyle/>
          <a:p>
            <a:pPr indent="0" marL="0">
              <a:lnSpc>
                <a:spcPts val="1100"/>
              </a:lnSpc>
              <a:buNone/>
            </a:pPr>
            <a:r>
              <a:rPr lang="en-US" sz="850" dirty="0">
                <a:solidFill>
                  <a:srgbClr val="5C6366"/>
                </a:solidFill>
                <a:latin typeface="Work Sans" pitchFamily="34" charset="0"/>
                <a:ea typeface="Work Sans" pitchFamily="34" charset="-122"/>
                <a:cs typeface="Work Sans" pitchFamily="34" charset="-120"/>
              </a:rPr>
              <a:t>The add-or-update opportunity form.</a:t>
            </a:r>
            <a:endParaRPr lang="en-US" sz="850" dirty="0"/>
          </a:p>
        </p:txBody>
      </p:sp>
      <p:sp>
        <p:nvSpPr>
          <p:cNvPr id="13" name="Shape 10"/>
          <p:cNvSpPr/>
          <p:nvPr/>
        </p:nvSpPr>
        <p:spPr>
          <a:xfrm>
            <a:off x="566928" y="2116836"/>
            <a:ext cx="246888" cy="246888"/>
          </a:xfrm>
          <a:prstGeom prst="ellipse">
            <a:avLst/>
          </a:prstGeom>
          <a:solidFill>
            <a:srgbClr val="B3400C"/>
          </a:solidFill>
          <a:ln/>
        </p:spPr>
      </p:sp>
      <p:sp>
        <p:nvSpPr>
          <p:cNvPr id="14" name="Text 11"/>
          <p:cNvSpPr/>
          <p:nvPr/>
        </p:nvSpPr>
        <p:spPr>
          <a:xfrm>
            <a:off x="521208" y="209123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5" name="Text 12"/>
          <p:cNvSpPr/>
          <p:nvPr/>
        </p:nvSpPr>
        <p:spPr>
          <a:xfrm>
            <a:off x="987552" y="2103120"/>
            <a:ext cx="61566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Name, location, status</a:t>
            </a:r>
            <a:endParaRPr lang="en-US" sz="1200" dirty="0"/>
          </a:p>
        </p:txBody>
      </p:sp>
      <p:sp>
        <p:nvSpPr>
          <p:cNvPr id="16" name="Text 13"/>
          <p:cNvSpPr/>
          <p:nvPr/>
        </p:nvSpPr>
        <p:spPr>
          <a:xfrm>
            <a:off x="987552" y="2377440"/>
            <a:ext cx="6156655" cy="379222"/>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Coming soon (visible, not open) · Open (accepting commitments) · Fully subscribed (closed, shown complete).</a:t>
            </a:r>
            <a:endParaRPr lang="en-US" sz="950" dirty="0"/>
          </a:p>
        </p:txBody>
      </p:sp>
      <p:sp>
        <p:nvSpPr>
          <p:cNvPr id="17" name="Shape 14"/>
          <p:cNvSpPr/>
          <p:nvPr/>
        </p:nvSpPr>
        <p:spPr>
          <a:xfrm>
            <a:off x="566928" y="2916682"/>
            <a:ext cx="246888" cy="246888"/>
          </a:xfrm>
          <a:prstGeom prst="ellipse">
            <a:avLst/>
          </a:prstGeom>
          <a:solidFill>
            <a:srgbClr val="B3400C"/>
          </a:solidFill>
          <a:ln/>
        </p:spPr>
      </p:sp>
      <p:sp>
        <p:nvSpPr>
          <p:cNvPr id="18" name="Text 15"/>
          <p:cNvSpPr/>
          <p:nvPr/>
        </p:nvSpPr>
        <p:spPr>
          <a:xfrm>
            <a:off x="521208" y="2891079"/>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9" name="Text 16"/>
          <p:cNvSpPr/>
          <p:nvPr/>
        </p:nvSpPr>
        <p:spPr>
          <a:xfrm>
            <a:off x="987552" y="2902966"/>
            <a:ext cx="61566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Target raise and raised to date</a:t>
            </a:r>
            <a:endParaRPr lang="en-US" sz="1200" dirty="0"/>
          </a:p>
        </p:txBody>
      </p:sp>
      <p:sp>
        <p:nvSpPr>
          <p:cNvPr id="20" name="Text 17"/>
          <p:cNvSpPr/>
          <p:nvPr/>
        </p:nvSpPr>
        <p:spPr>
          <a:xfrm>
            <a:off x="987552" y="3177286"/>
            <a:ext cx="6156655" cy="379222"/>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The progress bar is worked out from these two. £3.2m target with £2.1m raised shows 66%.</a:t>
            </a:r>
            <a:endParaRPr lang="en-US" sz="950" dirty="0"/>
          </a:p>
        </p:txBody>
      </p:sp>
      <p:sp>
        <p:nvSpPr>
          <p:cNvPr id="21" name="Shape 18"/>
          <p:cNvSpPr/>
          <p:nvPr/>
        </p:nvSpPr>
        <p:spPr>
          <a:xfrm>
            <a:off x="566928" y="3716528"/>
            <a:ext cx="246888" cy="246888"/>
          </a:xfrm>
          <a:prstGeom prst="ellipse">
            <a:avLst/>
          </a:prstGeom>
          <a:solidFill>
            <a:srgbClr val="B3400C"/>
          </a:solidFill>
          <a:ln/>
        </p:spPr>
      </p:sp>
      <p:sp>
        <p:nvSpPr>
          <p:cNvPr id="22" name="Text 19"/>
          <p:cNvSpPr/>
          <p:nvPr/>
        </p:nvSpPr>
        <p:spPr>
          <a:xfrm>
            <a:off x="521208" y="3690925"/>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23" name="Text 20"/>
          <p:cNvSpPr/>
          <p:nvPr/>
        </p:nvSpPr>
        <p:spPr>
          <a:xfrm>
            <a:off x="987552" y="3702812"/>
            <a:ext cx="61566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The headline terms</a:t>
            </a:r>
            <a:endParaRPr lang="en-US" sz="1200" dirty="0"/>
          </a:p>
        </p:txBody>
      </p:sp>
      <p:sp>
        <p:nvSpPr>
          <p:cNvPr id="24" name="Text 21"/>
          <p:cNvSpPr/>
          <p:nvPr/>
        </p:nvSpPr>
        <p:spPr>
          <a:xfrm>
            <a:off x="987552" y="3977132"/>
            <a:ext cx="6156655" cy="379222"/>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Min commitment, target IRR %, target multiple, horizon, and the structure: what investors actually buy, e.g. “Ordinary shares in Satis (QUBE) Ltd”.</a:t>
            </a:r>
            <a:endParaRPr lang="en-US" sz="950" dirty="0"/>
          </a:p>
        </p:txBody>
      </p:sp>
      <p:sp>
        <p:nvSpPr>
          <p:cNvPr id="25" name="Shape 22"/>
          <p:cNvSpPr/>
          <p:nvPr/>
        </p:nvSpPr>
        <p:spPr>
          <a:xfrm>
            <a:off x="566928" y="4516374"/>
            <a:ext cx="246888" cy="246888"/>
          </a:xfrm>
          <a:prstGeom prst="ellipse">
            <a:avLst/>
          </a:prstGeom>
          <a:solidFill>
            <a:srgbClr val="B3400C"/>
          </a:solidFill>
          <a:ln/>
        </p:spPr>
      </p:sp>
      <p:sp>
        <p:nvSpPr>
          <p:cNvPr id="26" name="Text 23"/>
          <p:cNvSpPr/>
          <p:nvPr/>
        </p:nvSpPr>
        <p:spPr>
          <a:xfrm>
            <a:off x="521208" y="4490771"/>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4</a:t>
            </a:r>
            <a:endParaRPr lang="en-US" sz="1050" dirty="0"/>
          </a:p>
        </p:txBody>
      </p:sp>
      <p:sp>
        <p:nvSpPr>
          <p:cNvPr id="27" name="Text 24"/>
          <p:cNvSpPr/>
          <p:nvPr/>
        </p:nvSpPr>
        <p:spPr>
          <a:xfrm>
            <a:off x="987552" y="4502658"/>
            <a:ext cx="6156655"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Summary and highlights</a:t>
            </a:r>
            <a:endParaRPr lang="en-US" sz="1200" dirty="0"/>
          </a:p>
        </p:txBody>
      </p:sp>
      <p:sp>
        <p:nvSpPr>
          <p:cNvPr id="28" name="Text 25"/>
          <p:cNvSpPr/>
          <p:nvPr/>
        </p:nvSpPr>
        <p:spPr>
          <a:xfrm>
            <a:off x="987552" y="4776978"/>
            <a:ext cx="6156655" cy="207899"/>
          </a:xfrm>
          <a:prstGeom prst="rect">
            <a:avLst/>
          </a:prstGeom>
          <a:noFill/>
          <a:ln/>
        </p:spPr>
        <p:txBody>
          <a:bodyPr wrap="square" lIns="0" tIns="0" rIns="0" bIns="0" rtlCol="0" anchor="ctr"/>
          <a:lstStyle/>
          <a:p>
            <a:pPr indent="0" marL="0">
              <a:lnSpc>
                <a:spcPts val="1349"/>
              </a:lnSpc>
              <a:buNone/>
            </a:pPr>
            <a:r>
              <a:rPr lang="en-US" sz="950" dirty="0">
                <a:solidFill>
                  <a:srgbClr val="5C6366"/>
                </a:solidFill>
                <a:latin typeface="Work Sans" pitchFamily="34" charset="0"/>
                <a:ea typeface="Work Sans" pitchFamily="34" charset="-122"/>
                <a:cs typeface="Work Sans" pitchFamily="34" charset="-120"/>
              </a:rPr>
              <a:t>The pitch. Highlights are one per line and render as a bulleted list.</a:t>
            </a:r>
            <a:endParaRPr lang="en-US" sz="950" dirty="0"/>
          </a:p>
        </p:txBody>
      </p:sp>
      <p:sp>
        <p:nvSpPr>
          <p:cNvPr id="29" name="Shape 26"/>
          <p:cNvSpPr/>
          <p:nvPr/>
        </p:nvSpPr>
        <p:spPr>
          <a:xfrm>
            <a:off x="566928" y="5240909"/>
            <a:ext cx="6577279" cy="1143000"/>
          </a:xfrm>
          <a:prstGeom prst="rect">
            <a:avLst/>
          </a:prstGeom>
          <a:solidFill>
            <a:srgbClr val="ECEEEE"/>
          </a:solidFill>
          <a:ln/>
        </p:spPr>
      </p:sp>
      <p:sp>
        <p:nvSpPr>
          <p:cNvPr id="30" name="Text 27"/>
          <p:cNvSpPr/>
          <p:nvPr/>
        </p:nvSpPr>
        <p:spPr>
          <a:xfrm>
            <a:off x="786384" y="5387213"/>
            <a:ext cx="6138367"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31" name="Text 28"/>
          <p:cNvSpPr/>
          <p:nvPr/>
        </p:nvSpPr>
        <p:spPr>
          <a:xfrm>
            <a:off x="786384" y="5606669"/>
            <a:ext cx="6138367" cy="64008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Keep the bar moving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Update Raised to date as commitments land. A moving bar does more for momentum than any covering email. When the raise completes: status Fully subscribed, then record each position on the cap table. That is the moment prospects become invested.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ROUTINE · FIGURES</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16</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The quarterly routine that keeps every portal current.</a:t>
            </a:r>
            <a:endParaRPr lang="en-US" sz="2500" dirty="0"/>
          </a:p>
        </p:txBody>
      </p:sp>
      <p:sp>
        <p:nvSpPr>
          <p:cNvPr id="9" name="Text 7"/>
          <p:cNvSpPr/>
          <p:nvPr/>
        </p:nvSpPr>
        <p:spPr>
          <a:xfrm>
            <a:off x="566928" y="1517904"/>
            <a:ext cx="704088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Investor confidence lives and dies on figures being current. Fifteen minutes at each quarter end:</a:t>
            </a:r>
            <a:endParaRPr lang="en-US" sz="1150" dirty="0"/>
          </a:p>
        </p:txBody>
      </p:sp>
      <p:sp>
        <p:nvSpPr>
          <p:cNvPr id="10" name="Shape 8"/>
          <p:cNvSpPr/>
          <p:nvPr/>
        </p:nvSpPr>
        <p:spPr>
          <a:xfrm>
            <a:off x="566928" y="2116836"/>
            <a:ext cx="246888" cy="246888"/>
          </a:xfrm>
          <a:prstGeom prst="ellipse">
            <a:avLst/>
          </a:prstGeom>
          <a:solidFill>
            <a:srgbClr val="B3400C"/>
          </a:solidFill>
          <a:ln/>
        </p:spPr>
      </p:sp>
      <p:sp>
        <p:nvSpPr>
          <p:cNvPr id="11" name="Text 9"/>
          <p:cNvSpPr/>
          <p:nvPr/>
        </p:nvSpPr>
        <p:spPr>
          <a:xfrm>
            <a:off x="521208" y="209123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2" name="Text 10"/>
          <p:cNvSpPr/>
          <p:nvPr/>
        </p:nvSpPr>
        <p:spPr>
          <a:xfrm>
            <a:off x="987552" y="2103120"/>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Update each SPV's equity value</a:t>
            </a:r>
            <a:endParaRPr lang="en-US" sz="1200" dirty="0"/>
          </a:p>
        </p:txBody>
      </p:sp>
      <p:sp>
        <p:nvSpPr>
          <p:cNvPr id="13" name="Text 11"/>
          <p:cNvSpPr/>
          <p:nvPr/>
        </p:nvSpPr>
        <p:spPr>
          <a:xfrm>
            <a:off x="987552" y="2377440"/>
            <a:ext cx="6803136" cy="604647"/>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Developments &amp; SPVs tab. Type the development's ID to update it, and fill in the whole form: saving replaces everything, so copy current values across first, change what changed, save. This one number moves every holder's value.</a:t>
            </a:r>
            <a:endParaRPr lang="en-US" sz="1050" dirty="0"/>
          </a:p>
        </p:txBody>
      </p:sp>
      <p:sp>
        <p:nvSpPr>
          <p:cNvPr id="14" name="Shape 12"/>
          <p:cNvSpPr/>
          <p:nvPr/>
        </p:nvSpPr>
        <p:spPr>
          <a:xfrm>
            <a:off x="566928" y="3142107"/>
            <a:ext cx="246888" cy="246888"/>
          </a:xfrm>
          <a:prstGeom prst="ellipse">
            <a:avLst/>
          </a:prstGeom>
          <a:solidFill>
            <a:srgbClr val="B3400C"/>
          </a:solidFill>
          <a:ln/>
        </p:spPr>
      </p:sp>
      <p:sp>
        <p:nvSpPr>
          <p:cNvPr id="15" name="Text 13"/>
          <p:cNvSpPr/>
          <p:nvPr/>
        </p:nvSpPr>
        <p:spPr>
          <a:xfrm>
            <a:off x="521208" y="3116504"/>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6" name="Text 14"/>
          <p:cNvSpPr/>
          <p:nvPr/>
        </p:nvSpPr>
        <p:spPr>
          <a:xfrm>
            <a:off x="987552" y="3128391"/>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Record each investor's quarterly valuation</a:t>
            </a:r>
            <a:endParaRPr lang="en-US" sz="1200" dirty="0"/>
          </a:p>
        </p:txBody>
      </p:sp>
      <p:sp>
        <p:nvSpPr>
          <p:cNvPr id="17" name="Text 15"/>
          <p:cNvSpPr/>
          <p:nvPr/>
        </p:nvSpPr>
        <p:spPr>
          <a:xfrm>
            <a:off x="987552" y="3402711"/>
            <a:ext cx="6803136" cy="604647"/>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Investors tab → “Record quarterly valuation”: investor, period label (“Q3 2026”), portfolio value. Normally exactly the computed value already shown on their card. Adds the point to their value-progression chart.</a:t>
            </a:r>
            <a:endParaRPr lang="en-US" sz="1050" dirty="0"/>
          </a:p>
        </p:txBody>
      </p:sp>
      <p:sp>
        <p:nvSpPr>
          <p:cNvPr id="18" name="Shape 16"/>
          <p:cNvSpPr/>
          <p:nvPr/>
        </p:nvSpPr>
        <p:spPr>
          <a:xfrm>
            <a:off x="566928" y="4167378"/>
            <a:ext cx="246888" cy="246888"/>
          </a:xfrm>
          <a:prstGeom prst="ellipse">
            <a:avLst/>
          </a:prstGeom>
          <a:solidFill>
            <a:srgbClr val="B3400C"/>
          </a:solidFill>
          <a:ln/>
        </p:spPr>
      </p:sp>
      <p:sp>
        <p:nvSpPr>
          <p:cNvPr id="19" name="Text 17"/>
          <p:cNvSpPr/>
          <p:nvPr/>
        </p:nvSpPr>
        <p:spPr>
          <a:xfrm>
            <a:off x="521208" y="4141775"/>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20" name="Text 18"/>
          <p:cNvSpPr/>
          <p:nvPr/>
        </p:nvSpPr>
        <p:spPr>
          <a:xfrm>
            <a:off x="987552" y="4153662"/>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Publish the monthly reports</a:t>
            </a:r>
            <a:endParaRPr lang="en-US" sz="1200" dirty="0"/>
          </a:p>
        </p:txBody>
      </p:sp>
      <p:sp>
        <p:nvSpPr>
          <p:cNvPr id="21" name="Text 19"/>
          <p:cNvSpPr/>
          <p:nvPr/>
        </p:nvSpPr>
        <p:spPr>
          <a:xfrm>
            <a:off x="987552" y="4427982"/>
            <a:ext cx="6803136" cy="225933"/>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As covered: one per development, while the valuation numbers are fresh.</a:t>
            </a:r>
            <a:endParaRPr lang="en-US" sz="1050" dirty="0"/>
          </a:p>
        </p:txBody>
      </p:sp>
      <p:sp>
        <p:nvSpPr>
          <p:cNvPr id="22" name="Shape 20"/>
          <p:cNvSpPr/>
          <p:nvPr/>
        </p:nvSpPr>
        <p:spPr>
          <a:xfrm>
            <a:off x="8247888" y="1618488"/>
            <a:ext cx="3376879" cy="2011680"/>
          </a:xfrm>
          <a:prstGeom prst="rect">
            <a:avLst/>
          </a:prstGeom>
          <a:solidFill>
            <a:srgbClr val="000000"/>
          </a:solidFill>
          <a:ln/>
        </p:spPr>
      </p:sp>
      <p:sp>
        <p:nvSpPr>
          <p:cNvPr id="23" name="Text 21"/>
          <p:cNvSpPr/>
          <p:nvPr/>
        </p:nvSpPr>
        <p:spPr>
          <a:xfrm>
            <a:off x="8467344" y="1764792"/>
            <a:ext cx="2937967" cy="182880"/>
          </a:xfrm>
          <a:prstGeom prst="rect">
            <a:avLst/>
          </a:prstGeom>
          <a:noFill/>
          <a:ln/>
        </p:spPr>
        <p:txBody>
          <a:bodyPr wrap="square" lIns="0" tIns="0" rIns="0" bIns="0" rtlCol="0" anchor="ctr"/>
          <a:lstStyle/>
          <a:p>
            <a:pPr indent="0" marL="0">
              <a:buNone/>
            </a:pPr>
            <a:r>
              <a:rPr lang="en-US" sz="750" spc="200" kern="0" dirty="0">
                <a:solidFill>
                  <a:srgbClr val="B9BDBE"/>
                </a:solidFill>
                <a:latin typeface="Work Sans" pitchFamily="34" charset="0"/>
                <a:ea typeface="Work Sans" pitchFamily="34" charset="-122"/>
                <a:cs typeface="Work Sans" pitchFamily="34" charset="-120"/>
              </a:rPr>
              <a:t>TAKE CARE</a:t>
            </a:r>
            <a:endParaRPr lang="en-US" sz="750" dirty="0"/>
          </a:p>
        </p:txBody>
      </p:sp>
      <p:sp>
        <p:nvSpPr>
          <p:cNvPr id="24" name="Text 22"/>
          <p:cNvSpPr/>
          <p:nvPr/>
        </p:nvSpPr>
        <p:spPr>
          <a:xfrm>
            <a:off x="8467344" y="1984248"/>
            <a:ext cx="2937967" cy="150876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FFFFFF"/>
                </a:solidFill>
                <a:latin typeface="Work Sans" pitchFamily="34" charset="0"/>
                <a:ea typeface="Work Sans" pitchFamily="34" charset="-122"/>
                <a:cs typeface="Work Sans" pitchFamily="34" charset="-120"/>
              </a:rPr>
              <a:t>The fill-in-everything rule
</a:t>
            </a:r>
            <a:pPr indent="0" marL="0">
              <a:lnSpc>
                <a:spcPts val="1380"/>
              </a:lnSpc>
              <a:spcAft>
                <a:spcPts val="500"/>
              </a:spcAft>
              <a:buNone/>
            </a:pPr>
            <a:r>
              <a:rPr lang="en-US" sz="1000" dirty="0">
                <a:solidFill>
                  <a:srgbClr val="B9BDBE"/>
                </a:solidFill>
                <a:latin typeface="Work Sans" pitchFamily="34" charset="0"/>
                <a:ea typeface="Work Sans" pitchFamily="34" charset="-122"/>
                <a:cs typeface="Work Sans" pitchFamily="34" charset="-120"/>
              </a:rPr>
              <a:t>Updating a development with only one box filled saves the other fields empty. Copy the card's current values into the form first, then edit.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ROUTINE · DOCUMENTS</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17</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The data room: memorandums, appraisals, private documents.</a:t>
            </a:r>
            <a:endParaRPr lang="en-US" sz="2500" dirty="0"/>
          </a:p>
        </p:txBody>
      </p:sp>
      <p:sp>
        <p:nvSpPr>
          <p:cNvPr id="9" name="Text 7"/>
          <p:cNvSpPr/>
          <p:nvPr/>
        </p:nvSpPr>
        <p:spPr>
          <a:xfrm>
            <a:off x="566928" y="1517904"/>
            <a:ext cx="704088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Documents are the one dataset without a form; the easiest way to change them is to ask Claude. Getting the audience right matters more than anything else here:</a:t>
            </a:r>
            <a:endParaRPr lang="en-US" sz="1150" dirty="0"/>
          </a:p>
        </p:txBody>
      </p:sp>
      <p:sp>
        <p:nvSpPr>
          <p:cNvPr id="10" name="Shape 8"/>
          <p:cNvSpPr/>
          <p:nvPr/>
        </p:nvSpPr>
        <p:spPr>
          <a:xfrm>
            <a:off x="566928" y="2116836"/>
            <a:ext cx="246888" cy="246888"/>
          </a:xfrm>
          <a:prstGeom prst="ellipse">
            <a:avLst/>
          </a:prstGeom>
          <a:solidFill>
            <a:srgbClr val="B3400C"/>
          </a:solidFill>
          <a:ln/>
        </p:spPr>
      </p:sp>
      <p:sp>
        <p:nvSpPr>
          <p:cNvPr id="11" name="Text 9"/>
          <p:cNvSpPr/>
          <p:nvPr/>
        </p:nvSpPr>
        <p:spPr>
          <a:xfrm>
            <a:off x="521208" y="209123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2" name="Text 10"/>
          <p:cNvSpPr/>
          <p:nvPr/>
        </p:nvSpPr>
        <p:spPr>
          <a:xfrm>
            <a:off x="987552" y="2103120"/>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Decide who should see it</a:t>
            </a:r>
            <a:endParaRPr lang="en-US" sz="1200" dirty="0"/>
          </a:p>
        </p:txBody>
      </p:sp>
      <p:sp>
        <p:nvSpPr>
          <p:cNvPr id="13" name="Text 11"/>
          <p:cNvSpPr/>
          <p:nvPr/>
        </p:nvSpPr>
        <p:spPr>
          <a:xfrm>
            <a:off x="987552" y="2377440"/>
            <a:ext cx="680313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Every prospective (and invested) investor: marketing material like a raise memorandum. Or one investor only: a private document like their subscription agreement.</a:t>
            </a:r>
            <a:endParaRPr lang="en-US" sz="1050" dirty="0"/>
          </a:p>
        </p:txBody>
      </p:sp>
      <p:sp>
        <p:nvSpPr>
          <p:cNvPr id="14" name="Shape 12"/>
          <p:cNvSpPr/>
          <p:nvPr/>
        </p:nvSpPr>
        <p:spPr>
          <a:xfrm>
            <a:off x="566928" y="2952750"/>
            <a:ext cx="246888" cy="246888"/>
          </a:xfrm>
          <a:prstGeom prst="ellipse">
            <a:avLst/>
          </a:prstGeom>
          <a:solidFill>
            <a:srgbClr val="B3400C"/>
          </a:solidFill>
          <a:ln/>
        </p:spPr>
      </p:sp>
      <p:sp>
        <p:nvSpPr>
          <p:cNvPr id="15" name="Text 13"/>
          <p:cNvSpPr/>
          <p:nvPr/>
        </p:nvSpPr>
        <p:spPr>
          <a:xfrm>
            <a:off x="521208" y="2927147"/>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6" name="Text 14"/>
          <p:cNvSpPr/>
          <p:nvPr/>
        </p:nvSpPr>
        <p:spPr>
          <a:xfrm>
            <a:off x="987552" y="2939034"/>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Ask Claude, two proven forms</a:t>
            </a:r>
            <a:endParaRPr lang="en-US" sz="1200" dirty="0"/>
          </a:p>
        </p:txBody>
      </p:sp>
      <p:sp>
        <p:nvSpPr>
          <p:cNvPr id="17" name="Text 15"/>
          <p:cNvSpPr/>
          <p:nvPr/>
        </p:nvSpPr>
        <p:spPr>
          <a:xfrm>
            <a:off x="987552" y="3213354"/>
            <a:ext cx="6803136" cy="604647"/>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“Add this PDF to the investor data room for all prospective investors: title ‘QUBE Stockport, Investment Memorandum’, dated 2026-08-19.” · “Add a private data-room document for the Hartwell account only, titled ‘Subscription agreement, signed’, using this PDF.”</a:t>
            </a:r>
            <a:endParaRPr lang="en-US" sz="1050" dirty="0"/>
          </a:p>
        </p:txBody>
      </p:sp>
      <p:sp>
        <p:nvSpPr>
          <p:cNvPr id="18" name="Shape 16"/>
          <p:cNvSpPr/>
          <p:nvPr/>
        </p:nvSpPr>
        <p:spPr>
          <a:xfrm>
            <a:off x="566928" y="3978021"/>
            <a:ext cx="246888" cy="246888"/>
          </a:xfrm>
          <a:prstGeom prst="ellipse">
            <a:avLst/>
          </a:prstGeom>
          <a:solidFill>
            <a:srgbClr val="B3400C"/>
          </a:solidFill>
          <a:ln/>
        </p:spPr>
      </p:sp>
      <p:sp>
        <p:nvSpPr>
          <p:cNvPr id="19" name="Text 17"/>
          <p:cNvSpPr/>
          <p:nvPr/>
        </p:nvSpPr>
        <p:spPr>
          <a:xfrm>
            <a:off x="521208" y="3952418"/>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20" name="Text 18"/>
          <p:cNvSpPr/>
          <p:nvPr/>
        </p:nvSpPr>
        <p:spPr>
          <a:xfrm>
            <a:off x="987552" y="3964305"/>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Verify private really means private</a:t>
            </a:r>
            <a:endParaRPr lang="en-US" sz="1200" dirty="0"/>
          </a:p>
        </p:txBody>
      </p:sp>
      <p:sp>
        <p:nvSpPr>
          <p:cNvPr id="21" name="Text 19"/>
          <p:cNvSpPr/>
          <p:nvPr/>
        </p:nvSpPr>
        <p:spPr>
          <a:xfrm>
            <a:off x="987552" y="4238625"/>
            <a:ext cx="6803136" cy="604647"/>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Sign in as a different account (the in-house one) and confirm the document is NOT visible; then as the right account to confirm it is. Thirty seconds beats a confidentiality slip.</a:t>
            </a:r>
            <a:endParaRPr lang="en-US" sz="1050" dirty="0"/>
          </a:p>
        </p:txBody>
      </p:sp>
      <p:sp>
        <p:nvSpPr>
          <p:cNvPr id="22" name="Shape 20"/>
          <p:cNvSpPr/>
          <p:nvPr/>
        </p:nvSpPr>
        <p:spPr>
          <a:xfrm>
            <a:off x="8247888" y="1618488"/>
            <a:ext cx="3376879" cy="1737360"/>
          </a:xfrm>
          <a:prstGeom prst="rect">
            <a:avLst/>
          </a:prstGeom>
          <a:solidFill>
            <a:srgbClr val="ECEEEE"/>
          </a:solidFill>
          <a:ln/>
        </p:spPr>
      </p:sp>
      <p:sp>
        <p:nvSpPr>
          <p:cNvPr id="23" name="Text 21"/>
          <p:cNvSpPr/>
          <p:nvPr/>
        </p:nvSpPr>
        <p:spPr>
          <a:xfrm>
            <a:off x="8467344" y="1764792"/>
            <a:ext cx="2937967"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24" name="Text 22"/>
          <p:cNvSpPr/>
          <p:nvPr/>
        </p:nvSpPr>
        <p:spPr>
          <a:xfrm>
            <a:off x="8467344" y="1984248"/>
            <a:ext cx="2937967" cy="123444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Documents without files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A document entry with no file still appears as a listed item. Useful for “available on request” material.</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ROUTINE · SUPPORT</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18</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The sign-in support playbook.</a:t>
            </a:r>
            <a:endParaRPr lang="en-US" sz="2500" dirty="0"/>
          </a:p>
        </p:txBody>
      </p:sp>
      <p:sp>
        <p:nvSpPr>
          <p:cNvPr id="9" name="Text 7"/>
          <p:cNvSpPr/>
          <p:nvPr/>
        </p:nvSpPr>
        <p:spPr>
          <a:xfrm>
            <a:off x="566928" y="1517904"/>
            <a:ext cx="950976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Every “I can't get in” comes down to one of these, all fixable in minutes:</a:t>
            </a:r>
            <a:endParaRPr lang="en-US" sz="1150" dirty="0"/>
          </a:p>
        </p:txBody>
      </p:sp>
      <p:sp>
        <p:nvSpPr>
          <p:cNvPr id="10" name="Shape 8"/>
          <p:cNvSpPr/>
          <p:nvPr/>
        </p:nvSpPr>
        <p:spPr>
          <a:xfrm>
            <a:off x="566928" y="2212848"/>
            <a:ext cx="3478682" cy="2331720"/>
          </a:xfrm>
          <a:prstGeom prst="rect">
            <a:avLst/>
          </a:prstGeom>
          <a:solidFill>
            <a:srgbClr val="FFFFFF"/>
          </a:solidFill>
          <a:ln w="9525">
            <a:solidFill>
              <a:srgbClr val="CED1D2"/>
            </a:solidFill>
            <a:prstDash val="solid"/>
          </a:ln>
        </p:spPr>
      </p:sp>
      <p:sp>
        <p:nvSpPr>
          <p:cNvPr id="11" name="Text 9"/>
          <p:cNvSpPr/>
          <p:nvPr/>
        </p:nvSpPr>
        <p:spPr>
          <a:xfrm>
            <a:off x="786384" y="2377440"/>
            <a:ext cx="3039770" cy="2002536"/>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Forgotten password → set a new one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Investors tab → note the account's ID → type it into the form, re-enter name, first name and email exactly as shown, type a new password, save. Tell them by phone; then they sign in.</a:t>
            </a:r>
            <a:endParaRPr lang="en-US" sz="1100" dirty="0"/>
          </a:p>
        </p:txBody>
      </p:sp>
      <p:sp>
        <p:nvSpPr>
          <p:cNvPr id="12" name="Shape 10"/>
          <p:cNvSpPr/>
          <p:nvPr/>
        </p:nvSpPr>
        <p:spPr>
          <a:xfrm>
            <a:off x="4356506" y="2212848"/>
            <a:ext cx="3478682" cy="2331720"/>
          </a:xfrm>
          <a:prstGeom prst="rect">
            <a:avLst/>
          </a:prstGeom>
          <a:solidFill>
            <a:srgbClr val="FFFFFF"/>
          </a:solidFill>
          <a:ln w="9525">
            <a:solidFill>
              <a:srgbClr val="CED1D2"/>
            </a:solidFill>
            <a:prstDash val="solid"/>
          </a:ln>
        </p:spPr>
      </p:sp>
      <p:sp>
        <p:nvSpPr>
          <p:cNvPr id="13" name="Text 11"/>
          <p:cNvSpPr/>
          <p:nvPr/>
        </p:nvSpPr>
        <p:spPr>
          <a:xfrm>
            <a:off x="4575962" y="2377440"/>
            <a:ext cx="3039770" cy="2002536"/>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“Too many attempts” → 15 minutes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Five failures pauses their connection. Have them wait 15 minutes, and reset the password meanwhile if they're unsure of it, so the next try succeeds.</a:t>
            </a:r>
            <a:endParaRPr lang="en-US" sz="1100" dirty="0"/>
          </a:p>
        </p:txBody>
      </p:sp>
      <p:sp>
        <p:nvSpPr>
          <p:cNvPr id="14" name="Shape 12"/>
          <p:cNvSpPr/>
          <p:nvPr/>
        </p:nvSpPr>
        <p:spPr>
          <a:xfrm>
            <a:off x="8146085" y="2212848"/>
            <a:ext cx="3478682" cy="2331720"/>
          </a:xfrm>
          <a:prstGeom prst="rect">
            <a:avLst/>
          </a:prstGeom>
          <a:solidFill>
            <a:srgbClr val="FFFFFF"/>
          </a:solidFill>
          <a:ln w="9525">
            <a:solidFill>
              <a:srgbClr val="CED1D2"/>
            </a:solidFill>
            <a:prstDash val="solid"/>
          </a:ln>
        </p:spPr>
      </p:sp>
      <p:sp>
        <p:nvSpPr>
          <p:cNvPr id="15" name="Text 13"/>
          <p:cNvSpPr/>
          <p:nvPr/>
        </p:nvSpPr>
        <p:spPr>
          <a:xfrm>
            <a:off x="8365541" y="2377440"/>
            <a:ext cx="3039770" cy="2002536"/>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“It signed me out” → normal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Sessions last 24 hours then quietly expire. Protection, not a fault. They sign in again; nothing is lost.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ROUTINE · DATA</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19</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Import, export, and the backup habit.</a:t>
            </a:r>
            <a:endParaRPr lang="en-US" sz="2500" dirty="0"/>
          </a:p>
        </p:txBody>
      </p:sp>
      <p:sp>
        <p:nvSpPr>
          <p:cNvPr id="9" name="Text 7"/>
          <p:cNvSpPr/>
          <p:nvPr/>
        </p:nvSpPr>
        <p:spPr>
          <a:xfrm>
            <a:off x="566928" y="1618488"/>
            <a:ext cx="3931920" cy="4297680"/>
          </a:xfrm>
          <a:prstGeom prst="rect">
            <a:avLst/>
          </a:prstGeom>
          <a:noFill/>
          <a:ln/>
        </p:spPr>
        <p:txBody>
          <a:bodyPr wrap="square" lIns="0" tIns="0" rIns="0" bIns="0" rtlCol="0" anchor="t"/>
          <a:lstStyle/>
          <a:p>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Export current dataset downloads everything (every investor, development, cap table, report, insight and opportunity) as one file, exactly as the live site serves it.
</a:t>
            </a:r>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The same tab accepts a prepared file back: Validate &amp; import checks everything first (including the 100% cap-table rule) and only replaces the datasets present in the file.
</a:t>
            </a:r>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Export before any big editing session. The file is a perfect backup and a perfect restore.
</a:t>
            </a:r>
            <a:endParaRPr lang="en-US" sz="1100" dirty="0"/>
          </a:p>
        </p:txBody>
      </p:sp>
      <p:pic>
        <p:nvPicPr>
          <p:cNvPr id="10" name="Image 0" descr="/tmp/claude-0/-home-user-satis-group-website/ff8ab6f4-f9c2-556a-89f3-8bea05ba205c/build/assets/data-tab.png">    </p:cNvPr>
          <p:cNvPicPr>
            <a:picLocks noChangeAspect="1"/>
          </p:cNvPicPr>
          <p:nvPr/>
        </p:nvPicPr>
        <p:blipFill>
          <a:blip r:embed="rId1"/>
          <a:stretch>
            <a:fillRect/>
          </a:stretch>
        </p:blipFill>
        <p:spPr>
          <a:xfrm>
            <a:off x="6154786" y="1572768"/>
            <a:ext cx="4225522" cy="4526280"/>
          </a:xfrm>
          <a:prstGeom prst="rect">
            <a:avLst/>
          </a:prstGeom>
        </p:spPr>
      </p:pic>
      <p:sp>
        <p:nvSpPr>
          <p:cNvPr id="11" name="Shape 8"/>
          <p:cNvSpPr/>
          <p:nvPr/>
        </p:nvSpPr>
        <p:spPr>
          <a:xfrm>
            <a:off x="6154786" y="1572768"/>
            <a:ext cx="4225522" cy="4526280"/>
          </a:xfrm>
          <a:prstGeom prst="rect">
            <a:avLst/>
          </a:prstGeom>
          <a:ln w="12700">
            <a:solidFill>
              <a:srgbClr val="CED1D2"/>
            </a:solidFill>
            <a:prstDash val="solid"/>
          </a:ln>
        </p:spPr>
      </p:sp>
      <p:sp>
        <p:nvSpPr>
          <p:cNvPr id="12" name="Text 9"/>
          <p:cNvSpPr/>
          <p:nvPr/>
        </p:nvSpPr>
        <p:spPr>
          <a:xfrm>
            <a:off x="6154786" y="6163056"/>
            <a:ext cx="4225522" cy="256032"/>
          </a:xfrm>
          <a:prstGeom prst="rect">
            <a:avLst/>
          </a:prstGeom>
          <a:noFill/>
          <a:ln/>
        </p:spPr>
        <p:txBody>
          <a:bodyPr wrap="square" lIns="0" tIns="0" rIns="0" bIns="0" rtlCol="0" anchor="ctr"/>
          <a:lstStyle/>
          <a:p>
            <a:pPr indent="0" marL="0">
              <a:lnSpc>
                <a:spcPts val="1100"/>
              </a:lnSpc>
              <a:buNone/>
            </a:pPr>
            <a:r>
              <a:rPr lang="en-US" sz="850" dirty="0">
                <a:solidFill>
                  <a:srgbClr val="5C6366"/>
                </a:solidFill>
                <a:latin typeface="Work Sans" pitchFamily="34" charset="0"/>
                <a:ea typeface="Work Sans" pitchFamily="34" charset="-122"/>
                <a:cs typeface="Work Sans" pitchFamily="34" charset="-120"/>
              </a:rPr>
              <a:t>The Import / export tab: the platform's back-up door.</a:t>
            </a:r>
            <a:endParaRPr lang="en-US" sz="850" dirty="0"/>
          </a:p>
        </p:txBody>
      </p:sp>
      <p:sp>
        <p:nvSpPr>
          <p:cNvPr id="13" name="Shape 10"/>
          <p:cNvSpPr/>
          <p:nvPr/>
        </p:nvSpPr>
        <p:spPr>
          <a:xfrm>
            <a:off x="566928" y="5029200"/>
            <a:ext cx="3931920" cy="1143000"/>
          </a:xfrm>
          <a:prstGeom prst="rect">
            <a:avLst/>
          </a:prstGeom>
          <a:solidFill>
            <a:srgbClr val="ECEEEE"/>
          </a:solidFill>
          <a:ln/>
        </p:spPr>
      </p:sp>
      <p:sp>
        <p:nvSpPr>
          <p:cNvPr id="14" name="Text 11"/>
          <p:cNvSpPr/>
          <p:nvPr/>
        </p:nvSpPr>
        <p:spPr>
          <a:xfrm>
            <a:off x="786384" y="5175504"/>
            <a:ext cx="3493008"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15" name="Text 12"/>
          <p:cNvSpPr/>
          <p:nvPr/>
        </p:nvSpPr>
        <p:spPr>
          <a:xfrm>
            <a:off x="786384" y="5394960"/>
            <a:ext cx="3493008" cy="64008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JSON, in plain English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Structured text computers read reliably. You never write it by hand; Claude reads and edits it for you.</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B9BDBE"/>
                </a:solidFill>
                <a:latin typeface="Work Sans" pitchFamily="34" charset="0"/>
                <a:ea typeface="Work Sans" pitchFamily="34" charset="-122"/>
                <a:cs typeface="Work Sans" pitchFamily="34" charset="-120"/>
              </a:rPr>
              <a:t>RECAP</a:t>
            </a:r>
            <a:endParaRPr lang="en-US" sz="950" dirty="0"/>
          </a:p>
        </p:txBody>
      </p:sp>
      <p:sp>
        <p:nvSpPr>
          <p:cNvPr id="3" name="Shape 1"/>
          <p:cNvSpPr/>
          <p:nvPr/>
        </p:nvSpPr>
        <p:spPr>
          <a:xfrm>
            <a:off x="566928" y="694944"/>
            <a:ext cx="11057839" cy="0"/>
          </a:xfrm>
          <a:prstGeom prst="line">
            <a:avLst/>
          </a:prstGeom>
          <a:noFill/>
          <a:ln w="9525">
            <a:solidFill>
              <a:srgbClr val="3A3A3A"/>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FFFFFF"/>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B9BDBE"/>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B9BDBE"/>
                </a:solidFill>
                <a:latin typeface="Work Sans" pitchFamily="34" charset="0"/>
                <a:ea typeface="Work Sans" pitchFamily="34" charset="-122"/>
                <a:cs typeface="Work Sans" pitchFamily="34" charset="-120"/>
              </a:rPr>
              <a:t>SATIS GROUP · THE INVESTOR PLATFORM</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B9BDBE"/>
                </a:solidFill>
                <a:latin typeface="Work Sans" pitchFamily="34" charset="0"/>
                <a:ea typeface="Work Sans" pitchFamily="34" charset="-122"/>
                <a:cs typeface="Work Sans" pitchFamily="34" charset="-120"/>
              </a:rPr>
              <a:t>20</a:t>
            </a:r>
            <a:endParaRPr lang="en-US" sz="800" dirty="0"/>
          </a:p>
        </p:txBody>
      </p:sp>
      <p:sp>
        <p:nvSpPr>
          <p:cNvPr id="8" name="Text 6"/>
          <p:cNvSpPr/>
          <p:nvPr/>
        </p:nvSpPr>
        <p:spPr>
          <a:xfrm>
            <a:off x="566928" y="969264"/>
            <a:ext cx="11057839" cy="548640"/>
          </a:xfrm>
          <a:prstGeom prst="rect">
            <a:avLst/>
          </a:prstGeom>
          <a:noFill/>
          <a:ln/>
        </p:spPr>
        <p:txBody>
          <a:bodyPr wrap="square" lIns="0" tIns="0" rIns="0" bIns="0" rtlCol="0" anchor="ctr"/>
          <a:lstStyle/>
          <a:p>
            <a:pPr indent="0" marL="0">
              <a:buNone/>
            </a:pPr>
            <a:r>
              <a:rPr lang="en-US" sz="2400" dirty="0">
                <a:solidFill>
                  <a:srgbClr val="FFFFFF"/>
                </a:solidFill>
                <a:latin typeface="Work Sans" pitchFamily="34" charset="0"/>
                <a:ea typeface="Work Sans" pitchFamily="34" charset="-122"/>
                <a:cs typeface="Work Sans" pitchFamily="34" charset="-120"/>
              </a:rPr>
              <a:t>What to remember.</a:t>
            </a:r>
            <a:endParaRPr lang="en-US" sz="2400" dirty="0"/>
          </a:p>
        </p:txBody>
      </p:sp>
      <p:sp>
        <p:nvSpPr>
          <p:cNvPr id="9" name="Text 7"/>
          <p:cNvSpPr/>
          <p:nvPr/>
        </p:nvSpPr>
        <p:spPr>
          <a:xfrm>
            <a:off x="612648" y="1783080"/>
            <a:ext cx="6675120" cy="4023360"/>
          </a:xfrm>
          <a:prstGeom prst="rect">
            <a:avLst/>
          </a:prstGeom>
          <a:noFill/>
          <a:ln/>
        </p:spPr>
        <p:txBody>
          <a:bodyPr wrap="square" lIns="0" tIns="0" rIns="0" bIns="0" rtlCol="0" anchor="t"/>
          <a:lstStyle/>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Everything investors see is generated from datasets you edit in the seven-tab studio.</a:t>
            </a:r>
            <a:endParaRPr lang="en-US" sz="1250" dirty="0"/>
          </a:p>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The golden rule: value = share % × SPV equity value. A wrong figure is always one of those two numbers.</a:t>
            </a:r>
            <a:endParaRPr lang="en-US" sz="1250" dirty="0"/>
          </a:p>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Position saved → account becomes invested automatically and sees reports and financials.</a:t>
            </a:r>
            <a:endParaRPr lang="en-US" sz="1250" dirty="0"/>
          </a:p>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Quarterly: equity values → valuations → reports. Fifteen minutes keeps every portal current.</a:t>
            </a:r>
            <a:endParaRPr lang="en-US" sz="1250" dirty="0"/>
          </a:p>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Documents and bulk edits go through Claude; export before big sessions.</a:t>
            </a:r>
            <a:endParaRPr lang="en-US" sz="1250" dirty="0"/>
          </a:p>
        </p:txBody>
      </p:sp>
      <p:sp>
        <p:nvSpPr>
          <p:cNvPr id="10" name="Shape 8"/>
          <p:cNvSpPr/>
          <p:nvPr/>
        </p:nvSpPr>
        <p:spPr>
          <a:xfrm>
            <a:off x="7818120" y="1828800"/>
            <a:ext cx="0" cy="3291840"/>
          </a:xfrm>
          <a:prstGeom prst="line">
            <a:avLst/>
          </a:prstGeom>
          <a:noFill/>
          <a:ln w="9525">
            <a:solidFill>
              <a:srgbClr val="3A3A3A"/>
            </a:solidFill>
            <a:prstDash val="solid"/>
          </a:ln>
        </p:spPr>
      </p:sp>
      <p:sp>
        <p:nvSpPr>
          <p:cNvPr id="11" name="Text 9"/>
          <p:cNvSpPr/>
          <p:nvPr/>
        </p:nvSpPr>
        <p:spPr>
          <a:xfrm>
            <a:off x="8183880" y="1828800"/>
            <a:ext cx="3383280" cy="219456"/>
          </a:xfrm>
          <a:prstGeom prst="rect">
            <a:avLst/>
          </a:prstGeom>
          <a:noFill/>
          <a:ln/>
        </p:spPr>
        <p:txBody>
          <a:bodyPr wrap="square" lIns="0" tIns="0" rIns="0" bIns="0" rtlCol="0" anchor="ctr"/>
          <a:lstStyle/>
          <a:p>
            <a:pPr indent="0" marL="0">
              <a:buNone/>
            </a:pPr>
            <a:r>
              <a:rPr lang="en-US" sz="850" spc="240" kern="0" dirty="0">
                <a:solidFill>
                  <a:srgbClr val="B9BDBE"/>
                </a:solidFill>
                <a:latin typeface="Work Sans" pitchFamily="34" charset="0"/>
                <a:ea typeface="Work Sans" pitchFamily="34" charset="-122"/>
                <a:cs typeface="Work Sans" pitchFamily="34" charset="-120"/>
              </a:rPr>
              <a:t>WHERE TO GET HELP</a:t>
            </a:r>
            <a:endParaRPr lang="en-US" sz="850" dirty="0"/>
          </a:p>
        </p:txBody>
      </p:sp>
      <p:sp>
        <p:nvSpPr>
          <p:cNvPr id="12" name="Text 10"/>
          <p:cNvSpPr/>
          <p:nvPr/>
        </p:nvSpPr>
        <p:spPr>
          <a:xfrm>
            <a:off x="8183880" y="2194560"/>
            <a:ext cx="3429000" cy="3108960"/>
          </a:xfrm>
          <a:prstGeom prst="rect">
            <a:avLst/>
          </a:prstGeom>
          <a:noFill/>
          <a:ln/>
        </p:spPr>
        <p:txBody>
          <a:bodyPr wrap="square" lIns="0" tIns="0" rIns="0" bIns="0" rtlCol="0" anchor="t"/>
          <a:lstStyle/>
          <a:p>
            <a:pPr indent="0" marL="0">
              <a:lnSpc>
                <a:spcPts val="1500"/>
              </a:lnSpc>
              <a:spcAft>
                <a:spcPts val="1000"/>
              </a:spcAft>
              <a:buNone/>
            </a:pPr>
            <a:r>
              <a:rPr lang="en-US" sz="1050" dirty="0">
                <a:solidFill>
                  <a:srgbClr val="B9BDBE"/>
                </a:solidFill>
                <a:latin typeface="Work Sans" pitchFamily="34" charset="0"/>
                <a:ea typeface="Work Sans" pitchFamily="34" charset="-122"/>
                <a:cs typeface="Work Sans" pitchFamily="34" charset="-120"/>
              </a:rPr>
              <a:t>Written chapters: /admin/guide → the Investor platform group (six chapters).</a:t>
            </a:r>
            <a:endParaRPr lang="en-US" sz="1050" dirty="0"/>
          </a:p>
          <a:p>
            <a:pPr indent="0" marL="0">
              <a:lnSpc>
                <a:spcPts val="1500"/>
              </a:lnSpc>
              <a:spcAft>
                <a:spcPts val="1000"/>
              </a:spcAft>
              <a:buNone/>
            </a:pPr>
            <a:r>
              <a:rPr lang="en-US" sz="1050" dirty="0">
                <a:solidFill>
                  <a:srgbClr val="B9BDBE"/>
                </a:solidFill>
                <a:latin typeface="Work Sans" pitchFamily="34" charset="0"/>
                <a:ea typeface="Work Sans" pitchFamily="34" charset="-122"/>
                <a:cs typeface="Work Sans" pitchFamily="34" charset="-120"/>
              </a:rPr>
              <a:t>Start with “How the investor platform fits together”. Five minutes.</a:t>
            </a:r>
            <a:endParaRPr lang="en-US" sz="1050" dirty="0"/>
          </a:p>
          <a:p>
            <a:pPr indent="0" marL="0">
              <a:lnSpc>
                <a:spcPts val="1500"/>
              </a:lnSpc>
              <a:spcAft>
                <a:spcPts val="1000"/>
              </a:spcAft>
              <a:buNone/>
            </a:pPr>
            <a:r>
              <a:rPr lang="en-US" sz="1050" dirty="0">
                <a:solidFill>
                  <a:srgbClr val="B9BDBE"/>
                </a:solidFill>
                <a:latin typeface="Work Sans" pitchFamily="34" charset="0"/>
                <a:ea typeface="Work Sans" pitchFamily="34" charset="-122"/>
                <a:cs typeface="Work Sans" pitchFamily="34" charset="-120"/>
              </a:rPr>
              <a:t>Figures look wrong? Check share % and equity value before anything else.</a:t>
            </a:r>
            <a:endParaRPr lang="en-US" sz="1050" dirty="0"/>
          </a:p>
        </p:txBody>
      </p:sp>
      <p:sp>
        <p:nvSpPr>
          <p:cNvPr id="13" name="Text 11"/>
          <p:cNvSpPr/>
          <p:nvPr/>
        </p:nvSpPr>
        <p:spPr>
          <a:xfrm>
            <a:off x="0" y="5806440"/>
            <a:ext cx="12191695" cy="457200"/>
          </a:xfrm>
          <a:prstGeom prst="rect">
            <a:avLst/>
          </a:prstGeom>
          <a:noFill/>
          <a:ln/>
        </p:spPr>
        <p:txBody>
          <a:bodyPr wrap="square" lIns="0" tIns="0" rIns="0" bIns="0" rtlCol="0" anchor="ctr"/>
          <a:lstStyle/>
          <a:p>
            <a:pPr algn="ctr" indent="0" marL="0">
              <a:buNone/>
            </a:pPr>
            <a:r>
              <a:rPr lang="en-US" sz="2000" spc="1500" kern="0" dirty="0">
                <a:solidFill>
                  <a:srgbClr val="FFFFFF"/>
                </a:solidFill>
                <a:latin typeface="Work Sans" pitchFamily="34" charset="0"/>
                <a:ea typeface="Work Sans" pitchFamily="34" charset="-122"/>
                <a:cs typeface="Work Sans" pitchFamily="34" charset="-120"/>
              </a:rPr>
              <a:t>SATIS</a:t>
            </a:r>
            <a:endParaRPr lang="en-US" sz="2000" dirty="0"/>
          </a:p>
        </p:txBody>
      </p:sp>
      <p:sp>
        <p:nvSpPr>
          <p:cNvPr id="14" name="Text 12"/>
          <p:cNvSpPr/>
          <p:nvPr/>
        </p:nvSpPr>
        <p:spPr>
          <a:xfrm>
            <a:off x="0" y="6236208"/>
            <a:ext cx="12191695" cy="219456"/>
          </a:xfrm>
          <a:prstGeom prst="rect">
            <a:avLst/>
          </a:prstGeom>
          <a:noFill/>
          <a:ln/>
        </p:spPr>
        <p:txBody>
          <a:bodyPr wrap="square" lIns="0" tIns="0" rIns="0" bIns="0" rtlCol="0" anchor="ctr"/>
          <a:lstStyle/>
          <a:p>
            <a:pPr algn="ctr" indent="0" marL="0">
              <a:buNone/>
            </a:pPr>
            <a:r>
              <a:rPr lang="en-US" sz="750" spc="600" kern="0" dirty="0">
                <a:solidFill>
                  <a:srgbClr val="B9BDBE"/>
                </a:solidFill>
                <a:latin typeface="Work Sans" pitchFamily="34" charset="0"/>
                <a:ea typeface="Work Sans" pitchFamily="34" charset="-122"/>
                <a:cs typeface="Work Sans" pitchFamily="34" charset="-120"/>
              </a:rPr>
              <a:t>GROUP</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Satis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investor platform.</dc:title>
  <dc:subject>PptxGenJS Presentation</dc:subject>
  <dc:creator>Satis Group</dc:creator>
  <cp:lastModifiedBy>Satis Group</cp:lastModifiedBy>
  <cp:revision>1</cp:revision>
  <dcterms:created xsi:type="dcterms:W3CDTF">2026-08-20T00:35:11Z</dcterms:created>
  <dcterms:modified xsi:type="dcterms:W3CDTF">2026-08-20T00:35:11Z</dcterms:modified>
</cp:coreProperties>
</file>