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session covers the newsletter studio end to end: writing a story, the two formatting tricks, publishing, checking your work, and fixing mistakes. It takes 10 to 15 minutes to publish a typical story once you've done it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expectations: publishing is genuinely a 10-minute job. The only rule that matters is at step 4. Publishing is immediate and public, so agree the text before it goes in the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live /news page in the browser if presenting with a connection. Mention the story address format: the title becomes the web address, which is why short factual titles work best.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six numbered markers on the screenshot in order. All four boxes must be filled before Publish will work; the form tells you if one is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moment: type a heading and a two-item list in the body box, publish to a test story later or just show the hint text under the box. Reassure: everything else is just normal typing.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warning is the one thing to land on this slide. The workflow for review is deliberately outside the studio: agree the words first, then publish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audience hasn't seen webinar 01, spend a minute on what a Claude session is. The overwrite refusal surprises people; frame it as protection, not a bug.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guide's “Making changes stick on live hosting” routine applied to news. The error message is the site being honest, not failing. That reframe removes the panic.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straight with the room about the state of this feature at presentation time: open /admin/newsletter live and look for the subscriber section. If it is there, show it; if not, the warning panel applies. Update this slide once the rollout lands.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Underneath, Claude adds image and imageAlt lines to the story's file. The composer doesn't expose those fields, which is fine: this keeps the common path simple.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takeaways, answer questions, and point everyone at the written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atis-group-website/ff8ab6f4-f9c2-556a-89f3-8bea05ba205c/build/assets/cover-new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66928" y="566928"/>
            <a:ext cx="11057839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6928" y="71323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 GROUP · BACKEND WEBINAR SERIES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0" y="2304288"/>
            <a:ext cx="12191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spc="3000" kern="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0" y="3090672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spc="1100" kern="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GROUP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371600" y="3913632"/>
            <a:ext cx="9448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newsletter studio.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2194560" y="4590288"/>
            <a:ext cx="7802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8EA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Writing and publishing news stories that appear on the public News page the moment you press Publish.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66928" y="63276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300" kern="0" dirty="0">
                <a:solidFill>
                  <a:srgbClr val="D8DAD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BACKEND WEBINAR 02 OF 07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6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IN THIS WEBINAR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66928" y="694944"/>
            <a:ext cx="1105783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44607" y="2468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500" kern="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44607" y="4572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spc="34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GROUP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 GROUP · THE NEWSLETTER STUDIO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What this session covers.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66928" y="149961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Everything about news stories (the site calls them “issues”). You need to be signed in to the admin area, and a story to tell.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22311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69848" y="2212848"/>
            <a:ext cx="4774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Where stories appear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69848" y="2487168"/>
            <a:ext cx="47745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public News page, and each story's own page.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6928" y="30723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69848" y="3054096"/>
            <a:ext cx="4774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studio tour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69848" y="3328416"/>
            <a:ext cx="47745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One form, four boxes, and the published-issues list.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6928" y="39136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69848" y="3895344"/>
            <a:ext cx="4774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Formatting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69848" y="4169664"/>
            <a:ext cx="47745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Plain typing, plus two optional tricks.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47308" y="22311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0228" y="2212848"/>
            <a:ext cx="4774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Publish and check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850228" y="2487168"/>
            <a:ext cx="47745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It goes live immediately, and how to verify.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347308" y="30723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0228" y="3054096"/>
            <a:ext cx="4774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Fixing mistakes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850228" y="3328416"/>
            <a:ext cx="47745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overwrite guard, and the three correction routes.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347308" y="39136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0228" y="3895344"/>
            <a:ext cx="4774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Signups &amp; the live list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850228" y="4169664"/>
            <a:ext cx="47745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subscribe box, and the new subscriber list in the admin.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6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WHERE STORIES APPEAR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66928" y="694944"/>
            <a:ext cx="1105783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44607" y="2468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500" kern="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44607" y="4572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spc="34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GROUP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 GROUP · THE NEWSLETTER STUDIO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Every story lands on the public News page.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66928" y="1618488"/>
            <a:ext cx="39319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Stories appear in the archive list on the News page the moment they are published, newest at the top, and each story gets its own page and web address, like /news/2026-08-19-your-headline.
</a:t>
            </a:r>
            <a:pPr indent="0" marL="0">
              <a:lnSpc>
                <a:spcPts val="16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Stories are also picked up by search engines: regular, dated news is the simplest ranking signal the site can send.
</a:t>
            </a:r>
            <a:endParaRPr lang="en-US" sz="1100" dirty="0"/>
          </a:p>
        </p:txBody>
      </p:sp>
      <p:pic>
        <p:nvPicPr>
          <p:cNvPr id="10" name="Image 0" descr="/tmp/claude-0/-home-user-satis-group-website/ff8ab6f4-f9c2-556a-89f3-8bea05ba205c/build/assets/news-publ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2343" y="1572768"/>
            <a:ext cx="3210409" cy="45720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662343" y="1572768"/>
            <a:ext cx="3210409" cy="4572000"/>
          </a:xfrm>
          <a:prstGeom prst="rect">
            <a:avLst/>
          </a:prstGeom>
          <a:ln w="12700">
            <a:solidFill>
              <a:srgbClr val="CED1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62343" y="6208776"/>
            <a:ext cx="32104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“What we've been up to” list on /news: newest first, immediately after publishing.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66928" y="4892040"/>
            <a:ext cx="3931920" cy="1280160"/>
          </a:xfrm>
          <a:prstGeom prst="rect">
            <a:avLst/>
          </a:prstGeom>
          <a:solidFill>
            <a:srgbClr val="ECEEEE"/>
          </a:solidFill>
          <a:ln/>
        </p:spPr>
      </p:sp>
      <p:sp>
        <p:nvSpPr>
          <p:cNvPr id="14" name="Text 11"/>
          <p:cNvSpPr/>
          <p:nvPr/>
        </p:nvSpPr>
        <p:spPr>
          <a:xfrm>
            <a:off x="786384" y="5038344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GOOD TO KNOW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786384" y="5257800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One list, two purposes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same page doubles as the public archive and your quickest way to re-read a live story exactly as visitors see it.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6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STUDIO TOUR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66928" y="694944"/>
            <a:ext cx="1105783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44607" y="2468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500" kern="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44607" y="4572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spc="34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GROUP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 GROUP · THE NEWSLETTER STUDIO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One form, four boxes, one button.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66928" y="151790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From the control room, click the Newsletter card. The numbers below match the numbers on the screen.</a:t>
            </a:r>
            <a:endParaRPr lang="en-US" sz="1150" dirty="0"/>
          </a:p>
        </p:txBody>
      </p:sp>
      <p:pic>
        <p:nvPicPr>
          <p:cNvPr id="10" name="Image 0" descr="/tmp/claude-0/-home-user-satis-group-website/ff8ab6f4-f9c2-556a-89f3-8bea05ba205c/build/assets/newsletter-stud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3829" y="2103120"/>
            <a:ext cx="3732717" cy="416966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403829" y="2103120"/>
            <a:ext cx="3732717" cy="4169664"/>
          </a:xfrm>
          <a:prstGeom prst="rect">
            <a:avLst/>
          </a:prstGeom>
          <a:ln w="12700">
            <a:solidFill>
              <a:srgbClr val="CED1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03829" y="6336792"/>
            <a:ext cx="373271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newsletter studio at /admin/newsletter.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66928" y="2116836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14" name="Text 11"/>
          <p:cNvSpPr/>
          <p:nvPr/>
        </p:nvSpPr>
        <p:spPr>
          <a:xfrm>
            <a:off x="521208" y="2091233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987552" y="2103120"/>
            <a:ext cx="5425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Title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87552" y="2377440"/>
            <a:ext cx="5425135" cy="216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headline. Short and factual; it becomes the story's web address too.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66928" y="2754376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18" name="Text 15"/>
          <p:cNvSpPr/>
          <p:nvPr/>
        </p:nvSpPr>
        <p:spPr>
          <a:xfrm>
            <a:off x="521208" y="2728773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2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87552" y="2740660"/>
            <a:ext cx="5425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Date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87552" y="3014980"/>
            <a:ext cx="5425135" cy="216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Today is pre-filled; click to pick another day if you are backdating.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66928" y="3391916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22" name="Text 19"/>
          <p:cNvSpPr/>
          <p:nvPr/>
        </p:nvSpPr>
        <p:spPr>
          <a:xfrm>
            <a:off x="521208" y="3366313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3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987552" y="3378200"/>
            <a:ext cx="5425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Summary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87552" y="3652520"/>
            <a:ext cx="5425135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One plain sentence shown under the headline in the news list. The story in fifteen words.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66928" y="4209796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26" name="Text 23"/>
          <p:cNvSpPr/>
          <p:nvPr/>
        </p:nvSpPr>
        <p:spPr>
          <a:xfrm>
            <a:off x="521208" y="4184193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4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987552" y="4196080"/>
            <a:ext cx="5425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Body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87552" y="4470400"/>
            <a:ext cx="5425135" cy="216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story itself, in normal paragraphs. Press Enter twice between them.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66928" y="4847336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30" name="Text 27"/>
          <p:cNvSpPr/>
          <p:nvPr/>
        </p:nvSpPr>
        <p:spPr>
          <a:xfrm>
            <a:off x="521208" y="4821733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5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987552" y="4833620"/>
            <a:ext cx="5425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Publish issue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87552" y="5107940"/>
            <a:ext cx="5425135" cy="216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story goes live the moment you click this.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66928" y="5484876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34" name="Text 31"/>
          <p:cNvSpPr/>
          <p:nvPr/>
        </p:nvSpPr>
        <p:spPr>
          <a:xfrm>
            <a:off x="521208" y="5459273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6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987552" y="5471160"/>
            <a:ext cx="5425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Published issues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987552" y="5745480"/>
            <a:ext cx="5425135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Everything already live, newest first. Click any title to read it as visitors do.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6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FORMATTING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66928" y="694944"/>
            <a:ext cx="1105783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44607" y="2468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500" kern="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44607" y="4572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spc="34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GROUP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 GROUP · THE NEWSLETTER STUDIO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Plain typing, plus two optional tricks.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66928" y="1517904"/>
            <a:ext cx="9509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There is no bold/italic toolbar. The site styles every story for you, so every story matches the house look.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2212848"/>
            <a:ext cx="3478682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ED1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2377440"/>
            <a:ext cx="303977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Paragraphs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Press Enter twice (one empty line) between paragraphs. Miss the empty line and they run together into one block.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56506" y="2212848"/>
            <a:ext cx="3478682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ED1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5962" y="2377440"/>
            <a:ext cx="303977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Section headings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Start a line with ## and a space: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## What happens next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…becomes a bold sub-heading.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46085" y="2212848"/>
            <a:ext cx="3478682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ED1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5541" y="2377440"/>
            <a:ext cx="303977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Bullet lists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Start each line with a dash and a space: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- Planning approved in May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Consecutive dash lines become one list.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6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PUBLISH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66928" y="694944"/>
            <a:ext cx="1105783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44607" y="2468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500" kern="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44607" y="4572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spc="34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GROUP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 GROUP · THE NEWSLETTER STUDIO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Publish, then check your work on the live page.</a:t>
            </a:r>
            <a:endParaRPr lang="en-US" sz="2500" dirty="0"/>
          </a:p>
        </p:txBody>
      </p:sp>
      <p:pic>
        <p:nvPicPr>
          <p:cNvPr id="9" name="Image 0" descr="/tmp/claude-0/-home-user-satis-group-website/ff8ab6f4-f9c2-556a-89f3-8bea05ba205c/build/assets/news-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5607" y="2364598"/>
            <a:ext cx="4709160" cy="311635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915607" y="2364598"/>
            <a:ext cx="4709160" cy="3116356"/>
          </a:xfrm>
          <a:prstGeom prst="rect">
            <a:avLst/>
          </a:prstGeom>
          <a:ln w="12700">
            <a:solidFill>
              <a:srgbClr val="CED1D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15607" y="5544962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 published story as visitors read it.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66928" y="1586484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13" name="Text 10"/>
          <p:cNvSpPr/>
          <p:nvPr/>
        </p:nvSpPr>
        <p:spPr>
          <a:xfrm>
            <a:off x="521208" y="1560881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87552" y="1572768"/>
            <a:ext cx="5425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Click Publish issue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87552" y="1847088"/>
            <a:ext cx="5425135" cy="415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Two confirmations: a message under the form (“Issue published.” with a link) and the story at the top of the Published issues list.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66928" y="2422398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17" name="Text 14"/>
          <p:cNvSpPr/>
          <p:nvPr/>
        </p:nvSpPr>
        <p:spPr>
          <a:xfrm>
            <a:off x="521208" y="2396795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2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987552" y="2408682"/>
            <a:ext cx="5425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Open the confirmation link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87552" y="2683002"/>
            <a:ext cx="5425135" cy="604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Read the live story. Check the headline, the date, and skim the text. Typos are far easier to spot on the finished page than in the typing box.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66928" y="3447669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21" name="Text 18"/>
          <p:cNvSpPr/>
          <p:nvPr/>
        </p:nvSpPr>
        <p:spPr>
          <a:xfrm>
            <a:off x="521208" y="3422066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3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987552" y="3433953"/>
            <a:ext cx="5425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Glance at the News page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87552" y="3708273"/>
            <a:ext cx="5425135" cy="225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Your story should be at the top of the archive list.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66928" y="4190238"/>
            <a:ext cx="5845759" cy="10515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5" name="Text 22"/>
          <p:cNvSpPr/>
          <p:nvPr/>
        </p:nvSpPr>
        <p:spPr>
          <a:xfrm>
            <a:off x="786384" y="4336542"/>
            <a:ext cx="540684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B9BDB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TAKE CARE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786384" y="4555998"/>
            <a:ext cx="540684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Publishing is immediate and public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B9BDB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There is no draft mode. Want a second pair of eyes? Agree the text in an email or document first, then paste it in and publish.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6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CORRECTIONS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66928" y="694944"/>
            <a:ext cx="1105783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44607" y="2468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500" kern="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44607" y="4572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spc="34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GROUP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 GROUP · THE NEWSLETTER STUDIO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Fixing a mistake in a published story.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66928" y="1517904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studio deliberately refuses to overwrite: publishing again with the same title and date says “An issue named … already exists.” That guard protects live stories, so corrections go through Claude instead.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2354580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11" name="Text 9"/>
          <p:cNvSpPr/>
          <p:nvPr/>
        </p:nvSpPr>
        <p:spPr>
          <a:xfrm>
            <a:off x="521208" y="2328977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87552" y="2340864"/>
            <a:ext cx="680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Small typo? Ask Claude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87552" y="2615184"/>
            <a:ext cx="6803136" cy="415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In a Claude session on the website repository: “In the news issue titled X, change … to …, then commit and push.” Done in minutes.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3190494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" y="3164891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87552" y="3176778"/>
            <a:ext cx="680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Replace a story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87552" y="3451098"/>
            <a:ext cx="6803136" cy="415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Ask Claude to remove the original file from content/newsletters/ first, then publish the corrected version with the same title and date.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4026408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19" name="Text 17"/>
          <p:cNvSpPr/>
          <p:nvPr/>
        </p:nvSpPr>
        <p:spPr>
          <a:xfrm>
            <a:off x="521208" y="4000805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87552" y="4012692"/>
            <a:ext cx="680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Wrong date or headline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87552" y="4287012"/>
            <a:ext cx="6803136" cy="225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Publish the corrected story fresh, then have the old one removed.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47888" y="1618488"/>
            <a:ext cx="3376879" cy="1920240"/>
          </a:xfrm>
          <a:prstGeom prst="rect">
            <a:avLst/>
          </a:prstGeom>
          <a:solidFill>
            <a:srgbClr val="ECEEEE"/>
          </a:solidFill>
          <a:ln/>
        </p:spPr>
      </p:sp>
      <p:sp>
        <p:nvSpPr>
          <p:cNvPr id="23" name="Text 21"/>
          <p:cNvSpPr/>
          <p:nvPr/>
        </p:nvSpPr>
        <p:spPr>
          <a:xfrm>
            <a:off x="8467344" y="1764792"/>
            <a:ext cx="29379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GOOD TO KNOW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467344" y="1984248"/>
            <a:ext cx="2937967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Claude in one sentence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Claude edits the website's master copy from plain-English requests. Webinar 01 covers it, and the written chapter is at /admin/guide → “Making changes with Claude”.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6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ON THE LIVE SITE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66928" y="694944"/>
            <a:ext cx="1105783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44607" y="2468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500" kern="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44607" y="4572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spc="34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GROUP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 GROUP · THE NEWSLETTER STUDIO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If Publish refuses on the live site.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66928" y="1517904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live hosting keeps its files read-only, a safety feature of the platform, not a fault. In a writable environment (a Claude session, or the site running locally) the same form saves instantly.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2116836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11" name="Text 9"/>
          <p:cNvSpPr/>
          <p:nvPr/>
        </p:nvSpPr>
        <p:spPr>
          <a:xfrm>
            <a:off x="521208" y="2091233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87552" y="2103120"/>
            <a:ext cx="7260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You may see “Could not write the newsletter file”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87552" y="2377440"/>
            <a:ext cx="7260336" cy="415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Nothing is broken and nothing was lost. The site is telling you this story needs to go through the master copy.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2952750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" y="2927147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87552" y="2939034"/>
            <a:ext cx="7260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Copy your text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87552" y="3213354"/>
            <a:ext cx="7260336" cy="225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Title, date, summary and body, into an email to yourself or a document.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3599307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19" name="Text 17"/>
          <p:cNvSpPr/>
          <p:nvPr/>
        </p:nvSpPr>
        <p:spPr>
          <a:xfrm>
            <a:off x="521208" y="3573704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87552" y="3585591"/>
            <a:ext cx="7260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Ask Claude to publish it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87552" y="3859911"/>
            <a:ext cx="7260336" cy="415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“Publish this news story: [paste your title, date, summary and text], then commit and push.” The story appears after the automatic republish, a few minutes later.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4558665"/>
            <a:ext cx="7680960" cy="960120"/>
          </a:xfrm>
          <a:prstGeom prst="rect">
            <a:avLst/>
          </a:prstGeom>
          <a:solidFill>
            <a:srgbClr val="ECEEEE"/>
          </a:solidFill>
          <a:ln/>
        </p:spPr>
      </p:sp>
      <p:sp>
        <p:nvSpPr>
          <p:cNvPr id="23" name="Text 21"/>
          <p:cNvSpPr/>
          <p:nvPr/>
        </p:nvSpPr>
        <p:spPr>
          <a:xfrm>
            <a:off x="786384" y="4704969"/>
            <a:ext cx="7242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GOOD TO KNOW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86384" y="4924425"/>
            <a:ext cx="7242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Why it works this way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Every change to the live site goes through the version-tracked master copy. That is what makes stories traceable and recoverable. Webinar 06 explains the machinery.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6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SIGNUPS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66928" y="694944"/>
            <a:ext cx="1105783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44607" y="2468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500" kern="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44607" y="4572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spc="34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GROUP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 GROUP · THE NEWSLETTER STUDIO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09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subscribe box, and the live subscriber list.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66928" y="1517904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News page carries a “Subscribe” box where visitors leave their email address to hear about new issues.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2116836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11" name="Text 9"/>
          <p:cNvSpPr/>
          <p:nvPr/>
        </p:nvSpPr>
        <p:spPr>
          <a:xfrm>
            <a:off x="521208" y="2091233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87552" y="2103120"/>
            <a:ext cx="7260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Visitors sign up on the News page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87552" y="2377440"/>
            <a:ext cx="7260336" cy="225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Name-free and instant: they enter an email address and get a confirmation message.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2763393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" y="2737790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87552" y="2749677"/>
            <a:ext cx="7260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admin gains a live subscriber list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87552" y="3023997"/>
            <a:ext cx="7260336" cy="415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 subscriber section on the admin newsletter page is being rolled out as this deck is written. It shows signups as a live list you can review and use for mailings.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3599307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19" name="Text 17"/>
          <p:cNvSpPr/>
          <p:nvPr/>
        </p:nvSpPr>
        <p:spPr>
          <a:xfrm>
            <a:off x="521208" y="3573704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87552" y="3585591"/>
            <a:ext cx="7260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Sending is still a manual step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87552" y="3859911"/>
            <a:ext cx="7260336" cy="415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Publishing a story does not email anyone automatically. When an issue should reach subscribers, send it from the team mailbox to the list, until a mailing provider is wired in.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4558665"/>
            <a:ext cx="7680960" cy="10515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786384" y="4704969"/>
            <a:ext cx="7242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B9BDB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TAKE CARE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86384" y="4924425"/>
            <a:ext cx="7242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Check the rollout before relying on it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B9BDB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Until the subscriber section is live in your admin, signups are not stored anywhere. Treat the box as decorative and collect addresses another way.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6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EXTRAS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66928" y="694944"/>
            <a:ext cx="1105783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44607" y="2468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500" kern="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44607" y="4572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spc="34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GROUP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 GROUP · THE NEWSLETTER STUDIO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Adding a picture to a story.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66928" y="1517904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composer keeps to the four boxes; a story image is a one-sentence Claude request afterwards.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2116836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11" name="Text 9"/>
          <p:cNvSpPr/>
          <p:nvPr/>
        </p:nvSpPr>
        <p:spPr>
          <a:xfrm>
            <a:off x="521208" y="2091233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87552" y="2103120"/>
            <a:ext cx="680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Publish the story as normal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87552" y="2377440"/>
            <a:ext cx="6803136" cy="415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Words first. The image is an addition, not a requirement; stories without images use the house thumbnails.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2952750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" y="2927147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87552" y="2939034"/>
            <a:ext cx="680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Ask Claude to attach the image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87552" y="3213354"/>
            <a:ext cx="6803136" cy="415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“Add the attached photo to the news issue titled X, with alt text ‘…’, then commit and push.” Claude stores the image and links it to the story.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3788664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19" name="Text 17"/>
          <p:cNvSpPr/>
          <p:nvPr/>
        </p:nvSpPr>
        <p:spPr>
          <a:xfrm>
            <a:off x="521208" y="3763061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87552" y="3774948"/>
            <a:ext cx="680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Check the story page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87552" y="4049268"/>
            <a:ext cx="6803136" cy="225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After the republish, the image appears on the story's own page.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47888" y="1618488"/>
            <a:ext cx="3376879" cy="1828800"/>
          </a:xfrm>
          <a:prstGeom prst="rect">
            <a:avLst/>
          </a:prstGeom>
          <a:solidFill>
            <a:srgbClr val="ECEEEE"/>
          </a:solidFill>
          <a:ln/>
        </p:spPr>
      </p:sp>
      <p:sp>
        <p:nvSpPr>
          <p:cNvPr id="23" name="Text 21"/>
          <p:cNvSpPr/>
          <p:nvPr/>
        </p:nvSpPr>
        <p:spPr>
          <a:xfrm>
            <a:off x="8467344" y="1764792"/>
            <a:ext cx="29379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GOOD TO KNOW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467344" y="1984248"/>
            <a:ext cx="2937967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Good alt text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One sentence describing the picture for someone who cannot see it, e.g. “Topping-out ceremony at The Courthouse, Macclesfield”. It helps accessibility and search alike.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60" kern="0" dirty="0">
                <a:solidFill>
                  <a:srgbClr val="B9BDB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RECAP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66928" y="694944"/>
            <a:ext cx="11057839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44607" y="2468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500" kern="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44607" y="4572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spc="340" kern="0" dirty="0">
                <a:solidFill>
                  <a:srgbClr val="B9BDB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GROUP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B9BDB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 GROUP · THE NEWSLETTER STUDIO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B9BDB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969264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What to remember.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12648" y="1783080"/>
            <a:ext cx="66751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Four boxes, one button, and the story is live on /news immediately.</a:t>
            </a:r>
            <a:endParaRPr lang="en-US" sz="1250" dirty="0"/>
          </a:p>
          <a:p>
            <a:pPr marL="177800" indent="-1778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Two formatting tricks: ## headings and dash bullets. Everything else is plain typing.</a:t>
            </a:r>
            <a:endParaRPr lang="en-US" sz="1250" dirty="0"/>
          </a:p>
          <a:p>
            <a:pPr marL="177800" indent="-1778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No draft mode: agree the words before they go in the box.</a:t>
            </a:r>
            <a:endParaRPr lang="en-US" sz="1250" dirty="0"/>
          </a:p>
          <a:p>
            <a:pPr marL="177800" indent="-1778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Corrections go through Claude; the studio refuses to overwrite live stories.</a:t>
            </a:r>
            <a:endParaRPr lang="en-US" sz="1250" dirty="0"/>
          </a:p>
          <a:p>
            <a:pPr marL="177800" indent="-1778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On the live site, publishing goes through the repository. “Could not write” means use the Claude route.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818120" y="1828800"/>
            <a:ext cx="0" cy="329184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3880" y="182880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40" kern="0" dirty="0">
                <a:solidFill>
                  <a:srgbClr val="B9BDB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WHERE TO GET HELP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183880" y="2194560"/>
            <a:ext cx="3429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B9BDB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Written walkthrough: /admin/guide → “Publishing a news story”.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B9BDB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Formatting reminders sit right under the Body box in the studio.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B9BDB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Story stuck or wrong? A Claude session fixes it in minutes.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0" y="58064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spc="1500" kern="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0" y="6236208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600" kern="0" dirty="0">
                <a:solidFill>
                  <a:srgbClr val="B9BDB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GROUP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Satis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newsletter studio.</dc:title>
  <dc:subject>PptxGenJS Presentation</dc:subject>
  <dc:creator>Satis Group</dc:creator>
  <cp:lastModifiedBy>Satis Group</cp:lastModifiedBy>
  <cp:revision>1</cp:revision>
  <dcterms:created xsi:type="dcterms:W3CDTF">2026-08-20T00:35:10Z</dcterms:created>
  <dcterms:modified xsi:type="dcterms:W3CDTF">2026-08-20T00:35:10Z</dcterms:modified>
</cp:coreProperties>
</file>