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session covers the newsletter studio end to end: writing a story, the two formatting tricks, publishing, checking your work, and fixing mistakes. It takes 10–15 minutes to publish a typical story once you've done it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expectations: publishing is genuinely a 10-minute job. The only rule that matters is at step 4 — publishing is immediate and public, so agree the text before it goes in the 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live /news page in the browser if presenting with a connection. Mention the story address format — the title becomes the web address, which is why short factual titles work best.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six numbered markers on the screenshot in order. All four boxes must be filled before Publish will work — the form tells you if one is missing.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 moment: type a heading and a two-item list in the body box, publish to a test story later or just show the hint text under the box. Reassure: everything else is just normal typing.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warning is the one thing to land on this slide. The workflow for review is deliberately outside the studio: agree the words first, then publish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audience hasn't seen webinar 01, spend a minute on what a Claude session is. The overwrite refusal surprises people — frame it as protection, not a bug.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guide's “Making changes stick on live hosting” routine applied to news. The error message is the site being honest, not failing — that reframe removes the panic.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straight with the room about the state of this feature at presentation time: open /admin/newsletter live and look for the subscriber section. If it is there, show it; if not, the warning panel applies. Update this slide once the rollout lands.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Underneath, Claude adds image and imageAlt lines to the story's file — the composer doesn't expose those fields, which is fine: this keeps the common path simple.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the takeaways, answer questions, and point everyone at the written guide.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atis-group-website/ff8ab6f4-f9c2-556a-89f3-8bea05ba205c/build/assets/cover-new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5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66928" y="566928"/>
            <a:ext cx="11057839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66928" y="71323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 GROUP — BACKEND WEBINAR SERIES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0" y="2304288"/>
            <a:ext cx="121916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spc="3000" kern="0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0" y="3090672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spc="1100" kern="0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GROUP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1371600" y="3913632"/>
            <a:ext cx="9448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newsletter studio.</a:t>
            </a:r>
            <a:endParaRPr lang="en-US" sz="2700" dirty="0"/>
          </a:p>
        </p:txBody>
      </p:sp>
      <p:sp>
        <p:nvSpPr>
          <p:cNvPr id="9" name="Text 6"/>
          <p:cNvSpPr/>
          <p:nvPr/>
        </p:nvSpPr>
        <p:spPr>
          <a:xfrm>
            <a:off x="2194560" y="4590288"/>
            <a:ext cx="78025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E8EAE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Writing and publishing news stories that appear on the public News page the moment you press Publish.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66928" y="632764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300" kern="0" dirty="0">
                <a:solidFill>
                  <a:srgbClr val="D8DADA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BACKEND WEBINAR 02 OF 07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97776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6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IN THIS WEBINAR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566928" y="694944"/>
            <a:ext cx="11057839" cy="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344607" y="24688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500" kern="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344607" y="457200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0" spc="34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GROUP</a:t>
            </a:r>
            <a:endParaRPr lang="en-US" sz="550" dirty="0"/>
          </a:p>
        </p:txBody>
      </p:sp>
      <p:sp>
        <p:nvSpPr>
          <p:cNvPr id="6" name="Text 4"/>
          <p:cNvSpPr/>
          <p:nvPr/>
        </p:nvSpPr>
        <p:spPr>
          <a:xfrm>
            <a:off x="566928" y="647395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00" kern="0" dirty="0">
                <a:solidFill>
                  <a:srgbClr val="9AA0A2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 GROUP — THE NEWSLETTER STUDIO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10710367" y="64739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AA0A2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02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What this session covers.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566928" y="1499616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Everything about news stories — the site calls them “issues”. You need to be signed in to the admin area, and a story to tell.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66928" y="22311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69848" y="2212848"/>
            <a:ext cx="47745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Where stories appear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069848" y="2487168"/>
            <a:ext cx="47745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public News page, and each story's own page.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66928" y="30723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69848" y="3054096"/>
            <a:ext cx="47745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studio tour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069848" y="3328416"/>
            <a:ext cx="47745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One form, four boxes, and the published-issues list.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66928" y="39136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69848" y="3895344"/>
            <a:ext cx="47745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Formatting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069848" y="4169664"/>
            <a:ext cx="47745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Plain typing, plus two optional tricks.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347308" y="22311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04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850228" y="2212848"/>
            <a:ext cx="47745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Publish and check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850228" y="2487168"/>
            <a:ext cx="47745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It goes live immediately — and how to verify.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347308" y="30723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05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850228" y="3054096"/>
            <a:ext cx="47745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Fixing mistakes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850228" y="3328416"/>
            <a:ext cx="47745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overwrite guard, and the three correction routes.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347308" y="39136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06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50228" y="3895344"/>
            <a:ext cx="47745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Signups &amp; the live list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850228" y="4169664"/>
            <a:ext cx="47745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subscribe box, and the new subscriber list in the admin.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97776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6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WHERE STORIES APPEAR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566928" y="694944"/>
            <a:ext cx="11057839" cy="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344607" y="24688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500" kern="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344607" y="457200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0" spc="34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GROUP</a:t>
            </a:r>
            <a:endParaRPr lang="en-US" sz="550" dirty="0"/>
          </a:p>
        </p:txBody>
      </p:sp>
      <p:sp>
        <p:nvSpPr>
          <p:cNvPr id="6" name="Text 4"/>
          <p:cNvSpPr/>
          <p:nvPr/>
        </p:nvSpPr>
        <p:spPr>
          <a:xfrm>
            <a:off x="566928" y="647395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00" kern="0" dirty="0">
                <a:solidFill>
                  <a:srgbClr val="9AA0A2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 GROUP — THE NEWSLETTER STUDIO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10710367" y="64739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AA0A2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03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Every story lands on the public News page.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566928" y="1618488"/>
            <a:ext cx="39319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Stories appear in the archive list on the News page the moment they are published — newest at the top — and each story gets its own page and web address, like /news/2026-08-19-your-headline.
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Stories are also picked up by search engines: regular, dated news is the simplest ranking signal the site can send.
</a:t>
            </a:r>
            <a:endParaRPr lang="en-US" sz="1100" dirty="0"/>
          </a:p>
        </p:txBody>
      </p:sp>
      <p:pic>
        <p:nvPicPr>
          <p:cNvPr id="10" name="Image 0" descr="/tmp/claude-0/-home-user-satis-group-website/ff8ab6f4-f9c2-556a-89f3-8bea05ba205c/build/assets/news-publ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2343" y="1572768"/>
            <a:ext cx="3210409" cy="45720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6662343" y="1572768"/>
            <a:ext cx="3210409" cy="4572000"/>
          </a:xfrm>
          <a:prstGeom prst="rect">
            <a:avLst/>
          </a:prstGeom>
          <a:ln w="12700">
            <a:solidFill>
              <a:srgbClr val="CED1D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662343" y="6208776"/>
            <a:ext cx="321040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“What we've been up to” list on /news — newest first, immediately after publishing.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566928" y="4892040"/>
            <a:ext cx="3931920" cy="1280160"/>
          </a:xfrm>
          <a:prstGeom prst="rect">
            <a:avLst/>
          </a:prstGeom>
          <a:solidFill>
            <a:srgbClr val="ECEEEE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5038344"/>
            <a:ext cx="3493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0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GOOD TO KNOW</a:t>
            </a:r>
            <a:endParaRPr lang="en-US" sz="750" dirty="0"/>
          </a:p>
        </p:txBody>
      </p:sp>
      <p:sp>
        <p:nvSpPr>
          <p:cNvPr id="15" name="Text 12"/>
          <p:cNvSpPr/>
          <p:nvPr/>
        </p:nvSpPr>
        <p:spPr>
          <a:xfrm>
            <a:off x="786384" y="5257800"/>
            <a:ext cx="34930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8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One list, two purposes
</a:t>
            </a:r>
            <a:pPr indent="0" marL="0">
              <a:lnSpc>
                <a:spcPts val="138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same page doubles as the public archive and your quickest way to re-read a live story exactly as visitors see it.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97776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6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STUDIO TOUR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566928" y="694944"/>
            <a:ext cx="11057839" cy="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344607" y="24688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500" kern="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344607" y="457200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0" spc="34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GROUP</a:t>
            </a:r>
            <a:endParaRPr lang="en-US" sz="550" dirty="0"/>
          </a:p>
        </p:txBody>
      </p:sp>
      <p:sp>
        <p:nvSpPr>
          <p:cNvPr id="6" name="Text 4"/>
          <p:cNvSpPr/>
          <p:nvPr/>
        </p:nvSpPr>
        <p:spPr>
          <a:xfrm>
            <a:off x="566928" y="647395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00" kern="0" dirty="0">
                <a:solidFill>
                  <a:srgbClr val="9AA0A2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 GROUP — THE NEWSLETTER STUDIO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10710367" y="64739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AA0A2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04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One form, four boxes, one button.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566928" y="1517904"/>
            <a:ext cx="10607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From the control room, click the Newsletter card. The numbers below match the numbers on the screen.</a:t>
            </a:r>
            <a:endParaRPr lang="en-US" sz="1150" dirty="0"/>
          </a:p>
        </p:txBody>
      </p:sp>
      <p:pic>
        <p:nvPicPr>
          <p:cNvPr id="10" name="Image 0" descr="/tmp/claude-0/-home-user-satis-group-website/ff8ab6f4-f9c2-556a-89f3-8bea05ba205c/build/assets/newsletter-stud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3829" y="2103120"/>
            <a:ext cx="3732717" cy="4169664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7403829" y="2103120"/>
            <a:ext cx="3732717" cy="4169664"/>
          </a:xfrm>
          <a:prstGeom prst="rect">
            <a:avLst/>
          </a:prstGeom>
          <a:ln w="12700">
            <a:solidFill>
              <a:srgbClr val="CED1D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403829" y="6336792"/>
            <a:ext cx="373271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newsletter studio at /admin/newsletter.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566928" y="2116836"/>
            <a:ext cx="246888" cy="246888"/>
          </a:xfrm>
          <a:prstGeom prst="ellipse">
            <a:avLst/>
          </a:prstGeom>
          <a:solidFill>
            <a:srgbClr val="B3400C"/>
          </a:solidFill>
          <a:ln/>
        </p:spPr>
      </p:sp>
      <p:sp>
        <p:nvSpPr>
          <p:cNvPr id="14" name="Text 11"/>
          <p:cNvSpPr/>
          <p:nvPr/>
        </p:nvSpPr>
        <p:spPr>
          <a:xfrm>
            <a:off x="521208" y="2091233"/>
            <a:ext cx="338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1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987552" y="2103120"/>
            <a:ext cx="5425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Title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987552" y="2377440"/>
            <a:ext cx="5425135" cy="2169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20"/>
              </a:lnSpc>
              <a:buNone/>
            </a:pPr>
            <a:r>
              <a:rPr lang="en-US" sz="100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headline — short and factual. It becomes the story's web address too.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66928" y="2754376"/>
            <a:ext cx="246888" cy="246888"/>
          </a:xfrm>
          <a:prstGeom prst="ellipse">
            <a:avLst/>
          </a:prstGeom>
          <a:solidFill>
            <a:srgbClr val="B3400C"/>
          </a:solidFill>
          <a:ln/>
        </p:spPr>
      </p:sp>
      <p:sp>
        <p:nvSpPr>
          <p:cNvPr id="18" name="Text 15"/>
          <p:cNvSpPr/>
          <p:nvPr/>
        </p:nvSpPr>
        <p:spPr>
          <a:xfrm>
            <a:off x="521208" y="2728773"/>
            <a:ext cx="338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2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987552" y="2740660"/>
            <a:ext cx="5425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Date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987552" y="3014980"/>
            <a:ext cx="5425135" cy="2169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20"/>
              </a:lnSpc>
              <a:buNone/>
            </a:pPr>
            <a:r>
              <a:rPr lang="en-US" sz="100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Today is pre-filled; click to pick another day if you are backdating.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66928" y="3391916"/>
            <a:ext cx="246888" cy="246888"/>
          </a:xfrm>
          <a:prstGeom prst="ellipse">
            <a:avLst/>
          </a:prstGeom>
          <a:solidFill>
            <a:srgbClr val="B3400C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3366313"/>
            <a:ext cx="338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3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987552" y="3378200"/>
            <a:ext cx="5425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Summary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987552" y="3652520"/>
            <a:ext cx="5425135" cy="397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20"/>
              </a:lnSpc>
              <a:buNone/>
            </a:pPr>
            <a:r>
              <a:rPr lang="en-US" sz="100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One plain sentence shown under the headline in the news list. The story in fifteen words.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566928" y="4209796"/>
            <a:ext cx="246888" cy="246888"/>
          </a:xfrm>
          <a:prstGeom prst="ellipse">
            <a:avLst/>
          </a:prstGeom>
          <a:solidFill>
            <a:srgbClr val="B3400C"/>
          </a:solidFill>
          <a:ln/>
        </p:spPr>
      </p:sp>
      <p:sp>
        <p:nvSpPr>
          <p:cNvPr id="26" name="Text 23"/>
          <p:cNvSpPr/>
          <p:nvPr/>
        </p:nvSpPr>
        <p:spPr>
          <a:xfrm>
            <a:off x="521208" y="4184193"/>
            <a:ext cx="338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4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987552" y="4196080"/>
            <a:ext cx="5425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Body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87552" y="4470400"/>
            <a:ext cx="5425135" cy="2169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20"/>
              </a:lnSpc>
              <a:buNone/>
            </a:pPr>
            <a:r>
              <a:rPr lang="en-US" sz="100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story itself, in normal paragraphs — press Enter twice between them.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566928" y="4847336"/>
            <a:ext cx="246888" cy="246888"/>
          </a:xfrm>
          <a:prstGeom prst="ellipse">
            <a:avLst/>
          </a:prstGeom>
          <a:solidFill>
            <a:srgbClr val="B3400C"/>
          </a:solidFill>
          <a:ln/>
        </p:spPr>
      </p:sp>
      <p:sp>
        <p:nvSpPr>
          <p:cNvPr id="30" name="Text 27"/>
          <p:cNvSpPr/>
          <p:nvPr/>
        </p:nvSpPr>
        <p:spPr>
          <a:xfrm>
            <a:off x="521208" y="4821733"/>
            <a:ext cx="338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5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987552" y="4833620"/>
            <a:ext cx="5425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Publish issue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987552" y="5107940"/>
            <a:ext cx="5425135" cy="2169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20"/>
              </a:lnSpc>
              <a:buNone/>
            </a:pPr>
            <a:r>
              <a:rPr lang="en-US" sz="100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story goes live the moment you click this.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66928" y="5484876"/>
            <a:ext cx="246888" cy="246888"/>
          </a:xfrm>
          <a:prstGeom prst="ellipse">
            <a:avLst/>
          </a:prstGeom>
          <a:solidFill>
            <a:srgbClr val="B3400C"/>
          </a:solidFill>
          <a:ln/>
        </p:spPr>
      </p:sp>
      <p:sp>
        <p:nvSpPr>
          <p:cNvPr id="34" name="Text 31"/>
          <p:cNvSpPr/>
          <p:nvPr/>
        </p:nvSpPr>
        <p:spPr>
          <a:xfrm>
            <a:off x="521208" y="5459273"/>
            <a:ext cx="338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6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987552" y="5471160"/>
            <a:ext cx="5425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Published issues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987552" y="5745480"/>
            <a:ext cx="5425135" cy="397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20"/>
              </a:lnSpc>
              <a:buNone/>
            </a:pPr>
            <a:r>
              <a:rPr lang="en-US" sz="100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Everything already live, newest first. Click any title to read it as visitors do.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97776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6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FORMATTING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566928" y="694944"/>
            <a:ext cx="11057839" cy="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344607" y="24688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500" kern="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344607" y="457200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0" spc="34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GROUP</a:t>
            </a:r>
            <a:endParaRPr lang="en-US" sz="550" dirty="0"/>
          </a:p>
        </p:txBody>
      </p:sp>
      <p:sp>
        <p:nvSpPr>
          <p:cNvPr id="6" name="Text 4"/>
          <p:cNvSpPr/>
          <p:nvPr/>
        </p:nvSpPr>
        <p:spPr>
          <a:xfrm>
            <a:off x="566928" y="647395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00" kern="0" dirty="0">
                <a:solidFill>
                  <a:srgbClr val="9AA0A2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 GROUP — THE NEWSLETTER STUDIO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10710367" y="64739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AA0A2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05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Plain typing, plus two optional tricks.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566928" y="1517904"/>
            <a:ext cx="9509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There is no bold/italic toolbar — the site styles every story for you, so every story matches the house look.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212848"/>
            <a:ext cx="3478682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ED1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2377440"/>
            <a:ext cx="303977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8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Paragraphs
</a:t>
            </a:r>
            <a:pPr indent="0" marL="0">
              <a:lnSpc>
                <a:spcPts val="138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Press Enter twice — one empty line — between paragraphs. Miss the empty line and they run together into one block.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56506" y="2212848"/>
            <a:ext cx="3478682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ED1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5962" y="2377440"/>
            <a:ext cx="303977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8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Section headings
</a:t>
            </a:r>
            <a:pPr indent="0" marL="0">
              <a:lnSpc>
                <a:spcPts val="138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Start a line with ## and a space:
</a:t>
            </a:r>
            <a:pPr indent="0" marL="0">
              <a:lnSpc>
                <a:spcPts val="138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## What happens next
</a:t>
            </a:r>
            <a:pPr indent="0" marL="0">
              <a:lnSpc>
                <a:spcPts val="138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…becomes a bold sub-heading.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46085" y="2212848"/>
            <a:ext cx="3478682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ED1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65541" y="2377440"/>
            <a:ext cx="303977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8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Bullet lists
</a:t>
            </a:r>
            <a:pPr indent="0" marL="0">
              <a:lnSpc>
                <a:spcPts val="138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Start each line with a dash and a space:
</a:t>
            </a:r>
            <a:pPr indent="0" marL="0">
              <a:lnSpc>
                <a:spcPts val="138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- Planning approved in May
</a:t>
            </a:r>
            <a:pPr indent="0" marL="0">
              <a:lnSpc>
                <a:spcPts val="138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Consecutive dash lines become one list.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97776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6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PUBLISH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566928" y="694944"/>
            <a:ext cx="11057839" cy="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344607" y="24688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500" kern="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344607" y="457200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0" spc="34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GROUP</a:t>
            </a:r>
            <a:endParaRPr lang="en-US" sz="550" dirty="0"/>
          </a:p>
        </p:txBody>
      </p:sp>
      <p:sp>
        <p:nvSpPr>
          <p:cNvPr id="6" name="Text 4"/>
          <p:cNvSpPr/>
          <p:nvPr/>
        </p:nvSpPr>
        <p:spPr>
          <a:xfrm>
            <a:off x="566928" y="647395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00" kern="0" dirty="0">
                <a:solidFill>
                  <a:srgbClr val="9AA0A2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 GROUP — THE NEWSLETTER STUDIO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10710367" y="64739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AA0A2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06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Publish, then check your work on the live page.</a:t>
            </a:r>
            <a:endParaRPr lang="en-US" sz="2500" dirty="0"/>
          </a:p>
        </p:txBody>
      </p:sp>
      <p:pic>
        <p:nvPicPr>
          <p:cNvPr id="9" name="Image 0" descr="/tmp/claude-0/-home-user-satis-group-website/ff8ab6f4-f9c2-556a-89f3-8bea05ba205c/build/assets/news-s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15607" y="2364598"/>
            <a:ext cx="4709160" cy="3116356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915607" y="2364598"/>
            <a:ext cx="4709160" cy="3116356"/>
          </a:xfrm>
          <a:prstGeom prst="rect">
            <a:avLst/>
          </a:prstGeom>
          <a:ln w="12700">
            <a:solidFill>
              <a:srgbClr val="CED1D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915607" y="5544962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 published story as visitors read it.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66928" y="1586484"/>
            <a:ext cx="246888" cy="246888"/>
          </a:xfrm>
          <a:prstGeom prst="ellipse">
            <a:avLst/>
          </a:prstGeom>
          <a:solidFill>
            <a:srgbClr val="B3400C"/>
          </a:solidFill>
          <a:ln/>
        </p:spPr>
      </p:sp>
      <p:sp>
        <p:nvSpPr>
          <p:cNvPr id="13" name="Text 10"/>
          <p:cNvSpPr/>
          <p:nvPr/>
        </p:nvSpPr>
        <p:spPr>
          <a:xfrm>
            <a:off x="521208" y="1560881"/>
            <a:ext cx="338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1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987552" y="1572768"/>
            <a:ext cx="5425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Click Publish issue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987552" y="1847088"/>
            <a:ext cx="5425135" cy="4152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Two confirmations: a message under the form — “Issue published.” with a link — and the story at the top of the Published issues list.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66928" y="2422398"/>
            <a:ext cx="246888" cy="246888"/>
          </a:xfrm>
          <a:prstGeom prst="ellipse">
            <a:avLst/>
          </a:prstGeom>
          <a:solidFill>
            <a:srgbClr val="B3400C"/>
          </a:solidFill>
          <a:ln/>
        </p:spPr>
      </p:sp>
      <p:sp>
        <p:nvSpPr>
          <p:cNvPr id="17" name="Text 14"/>
          <p:cNvSpPr/>
          <p:nvPr/>
        </p:nvSpPr>
        <p:spPr>
          <a:xfrm>
            <a:off x="521208" y="2396795"/>
            <a:ext cx="338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2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987552" y="2408682"/>
            <a:ext cx="5425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Open the confirmation link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87552" y="2683002"/>
            <a:ext cx="5425135" cy="6046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Read the live story. Check the headline, the date, and skim the text — typos are far easier to spot on the finished page than in the typing box.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66928" y="3447669"/>
            <a:ext cx="246888" cy="246888"/>
          </a:xfrm>
          <a:prstGeom prst="ellipse">
            <a:avLst/>
          </a:prstGeom>
          <a:solidFill>
            <a:srgbClr val="B3400C"/>
          </a:solidFill>
          <a:ln/>
        </p:spPr>
      </p:sp>
      <p:sp>
        <p:nvSpPr>
          <p:cNvPr id="21" name="Text 18"/>
          <p:cNvSpPr/>
          <p:nvPr/>
        </p:nvSpPr>
        <p:spPr>
          <a:xfrm>
            <a:off x="521208" y="3422066"/>
            <a:ext cx="338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3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87552" y="3433953"/>
            <a:ext cx="5425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Glance at the News page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987552" y="3708273"/>
            <a:ext cx="5425135" cy="225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Your story should be at the top of the archive list.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66928" y="4190238"/>
            <a:ext cx="5845759" cy="10515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336542"/>
            <a:ext cx="54068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00" kern="0" dirty="0">
                <a:solidFill>
                  <a:srgbClr val="B9BDB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TAKE CARE</a:t>
            </a:r>
            <a:endParaRPr lang="en-US" sz="750" dirty="0"/>
          </a:p>
        </p:txBody>
      </p:sp>
      <p:sp>
        <p:nvSpPr>
          <p:cNvPr id="26" name="Text 23"/>
          <p:cNvSpPr/>
          <p:nvPr/>
        </p:nvSpPr>
        <p:spPr>
          <a:xfrm>
            <a:off x="786384" y="4555998"/>
            <a:ext cx="540684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8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Publishing is immediate and public
</a:t>
            </a:r>
            <a:pPr indent="0" marL="0">
              <a:lnSpc>
                <a:spcPts val="138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B9BDB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There is no draft mode. Want a second pair of eyes? Agree the text in an email or document first, then paste it in and publish.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97776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6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CORRECTIONS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566928" y="694944"/>
            <a:ext cx="11057839" cy="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344607" y="24688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500" kern="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344607" y="457200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0" spc="34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GROUP</a:t>
            </a:r>
            <a:endParaRPr lang="en-US" sz="550" dirty="0"/>
          </a:p>
        </p:txBody>
      </p:sp>
      <p:sp>
        <p:nvSpPr>
          <p:cNvPr id="6" name="Text 4"/>
          <p:cNvSpPr/>
          <p:nvPr/>
        </p:nvSpPr>
        <p:spPr>
          <a:xfrm>
            <a:off x="566928" y="647395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00" kern="0" dirty="0">
                <a:solidFill>
                  <a:srgbClr val="9AA0A2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 GROUP — THE NEWSLETTER STUDIO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10710367" y="64739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AA0A2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07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Fixing a mistake in a published story.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566928" y="1517904"/>
            <a:ext cx="7040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studio deliberately refuses to overwrite: publishing again with the same title and date says “An issue named … already exists.” That guard protects live stories — corrections go through Claude instead.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354580"/>
            <a:ext cx="246888" cy="246888"/>
          </a:xfrm>
          <a:prstGeom prst="ellipse">
            <a:avLst/>
          </a:prstGeom>
          <a:solidFill>
            <a:srgbClr val="B3400C"/>
          </a:solidFill>
          <a:ln/>
        </p:spPr>
      </p:sp>
      <p:sp>
        <p:nvSpPr>
          <p:cNvPr id="11" name="Text 9"/>
          <p:cNvSpPr/>
          <p:nvPr/>
        </p:nvSpPr>
        <p:spPr>
          <a:xfrm>
            <a:off x="521208" y="2328977"/>
            <a:ext cx="338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1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87552" y="2340864"/>
            <a:ext cx="6803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Small typo — ask Claude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87552" y="2615184"/>
            <a:ext cx="6803136" cy="4152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In a Claude session on the website repository: “In the news issue titled X, change … to …, then commit and push.” Done in minutes.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3190494"/>
            <a:ext cx="246888" cy="246888"/>
          </a:xfrm>
          <a:prstGeom prst="ellipse">
            <a:avLst/>
          </a:prstGeom>
          <a:solidFill>
            <a:srgbClr val="B3400C"/>
          </a:solidFill>
          <a:ln/>
        </p:spPr>
      </p:sp>
      <p:sp>
        <p:nvSpPr>
          <p:cNvPr id="15" name="Text 13"/>
          <p:cNvSpPr/>
          <p:nvPr/>
        </p:nvSpPr>
        <p:spPr>
          <a:xfrm>
            <a:off x="521208" y="3164891"/>
            <a:ext cx="338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2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987552" y="3176778"/>
            <a:ext cx="6803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Replace a story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87552" y="3451098"/>
            <a:ext cx="6803136" cy="4152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Ask Claude to remove the original file from content/newsletters/ first, then publish the corrected version with the same title and date.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026408"/>
            <a:ext cx="246888" cy="246888"/>
          </a:xfrm>
          <a:prstGeom prst="ellipse">
            <a:avLst/>
          </a:prstGeom>
          <a:solidFill>
            <a:srgbClr val="B3400C"/>
          </a:solidFill>
          <a:ln/>
        </p:spPr>
      </p:sp>
      <p:sp>
        <p:nvSpPr>
          <p:cNvPr id="19" name="Text 17"/>
          <p:cNvSpPr/>
          <p:nvPr/>
        </p:nvSpPr>
        <p:spPr>
          <a:xfrm>
            <a:off x="521208" y="4000805"/>
            <a:ext cx="338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3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987552" y="4012692"/>
            <a:ext cx="6803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Wrong date or headline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87552" y="4287012"/>
            <a:ext cx="6803136" cy="225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Publish the corrected story fresh, then have the old one removed.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247888" y="1618488"/>
            <a:ext cx="3376879" cy="1920240"/>
          </a:xfrm>
          <a:prstGeom prst="rect">
            <a:avLst/>
          </a:prstGeom>
          <a:solidFill>
            <a:srgbClr val="ECEEEE"/>
          </a:solidFill>
          <a:ln/>
        </p:spPr>
      </p:sp>
      <p:sp>
        <p:nvSpPr>
          <p:cNvPr id="23" name="Text 21"/>
          <p:cNvSpPr/>
          <p:nvPr/>
        </p:nvSpPr>
        <p:spPr>
          <a:xfrm>
            <a:off x="8467344" y="1764792"/>
            <a:ext cx="293796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0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GOOD TO KNOW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8467344" y="1984248"/>
            <a:ext cx="2937967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8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Claude in one sentence
</a:t>
            </a:r>
            <a:pPr indent="0" marL="0">
              <a:lnSpc>
                <a:spcPts val="138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Claude edits the website's master copy from plain-English requests — webinar 01 covers it, and the written chapter is at /admin/guide → “Making changes with Claude”.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97776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6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ON THE LIVE SITE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566928" y="694944"/>
            <a:ext cx="11057839" cy="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344607" y="24688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500" kern="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344607" y="457200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0" spc="34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GROUP</a:t>
            </a:r>
            <a:endParaRPr lang="en-US" sz="550" dirty="0"/>
          </a:p>
        </p:txBody>
      </p:sp>
      <p:sp>
        <p:nvSpPr>
          <p:cNvPr id="6" name="Text 4"/>
          <p:cNvSpPr/>
          <p:nvPr/>
        </p:nvSpPr>
        <p:spPr>
          <a:xfrm>
            <a:off x="566928" y="647395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00" kern="0" dirty="0">
                <a:solidFill>
                  <a:srgbClr val="9AA0A2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 GROUP — THE NEWSLETTER STUDIO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10710367" y="64739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AA0A2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08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If Publish refuses on the live site.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566928" y="1517904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live hosting keeps its files read-only — a safety feature of the platform, not a fault. In a writable environment (a Claude session, or the site running locally) the same form saves instantly.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116836"/>
            <a:ext cx="246888" cy="246888"/>
          </a:xfrm>
          <a:prstGeom prst="ellipse">
            <a:avLst/>
          </a:prstGeom>
          <a:solidFill>
            <a:srgbClr val="B3400C"/>
          </a:solidFill>
          <a:ln/>
        </p:spPr>
      </p:sp>
      <p:sp>
        <p:nvSpPr>
          <p:cNvPr id="11" name="Text 9"/>
          <p:cNvSpPr/>
          <p:nvPr/>
        </p:nvSpPr>
        <p:spPr>
          <a:xfrm>
            <a:off x="521208" y="2091233"/>
            <a:ext cx="338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1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87552" y="2103120"/>
            <a:ext cx="7260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You may see “Could not write the newsletter file”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87552" y="2377440"/>
            <a:ext cx="7260336" cy="4152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Nothing is broken and nothing was lost — the site is telling you this story needs to go through the master copy.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2952750"/>
            <a:ext cx="246888" cy="246888"/>
          </a:xfrm>
          <a:prstGeom prst="ellipse">
            <a:avLst/>
          </a:prstGeom>
          <a:solidFill>
            <a:srgbClr val="B3400C"/>
          </a:solidFill>
          <a:ln/>
        </p:spPr>
      </p:sp>
      <p:sp>
        <p:nvSpPr>
          <p:cNvPr id="15" name="Text 13"/>
          <p:cNvSpPr/>
          <p:nvPr/>
        </p:nvSpPr>
        <p:spPr>
          <a:xfrm>
            <a:off x="521208" y="2927147"/>
            <a:ext cx="338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2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987552" y="2939034"/>
            <a:ext cx="7260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Copy your text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87552" y="3213354"/>
            <a:ext cx="7260336" cy="225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Title, date, summary and body — into an email to yourself or a document.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3599307"/>
            <a:ext cx="246888" cy="246888"/>
          </a:xfrm>
          <a:prstGeom prst="ellipse">
            <a:avLst/>
          </a:prstGeom>
          <a:solidFill>
            <a:srgbClr val="B3400C"/>
          </a:solidFill>
          <a:ln/>
        </p:spPr>
      </p:sp>
      <p:sp>
        <p:nvSpPr>
          <p:cNvPr id="19" name="Text 17"/>
          <p:cNvSpPr/>
          <p:nvPr/>
        </p:nvSpPr>
        <p:spPr>
          <a:xfrm>
            <a:off x="521208" y="3573704"/>
            <a:ext cx="338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3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987552" y="3585591"/>
            <a:ext cx="7260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Ask Claude to publish it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87552" y="3859911"/>
            <a:ext cx="7260336" cy="4152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“Publish this news story: [paste your title, date, summary and text], then commit and push.” The story appears after the automatic republish — a few minutes.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66928" y="4558665"/>
            <a:ext cx="7680960" cy="960120"/>
          </a:xfrm>
          <a:prstGeom prst="rect">
            <a:avLst/>
          </a:prstGeom>
          <a:solidFill>
            <a:srgbClr val="ECEEEE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4704969"/>
            <a:ext cx="7242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0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GOOD TO KNOW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786384" y="4924425"/>
            <a:ext cx="7242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8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Why it works this way
</a:t>
            </a:r>
            <a:pPr indent="0" marL="0">
              <a:lnSpc>
                <a:spcPts val="138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Every change to the live site goes through the version-tracked master copy — that is what makes stories traceable and recoverable. Webinar 06 explains the machinery.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97776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6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SIGNUPS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566928" y="694944"/>
            <a:ext cx="11057839" cy="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344607" y="24688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500" kern="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344607" y="457200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0" spc="34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GROUP</a:t>
            </a:r>
            <a:endParaRPr lang="en-US" sz="550" dirty="0"/>
          </a:p>
        </p:txBody>
      </p:sp>
      <p:sp>
        <p:nvSpPr>
          <p:cNvPr id="6" name="Text 4"/>
          <p:cNvSpPr/>
          <p:nvPr/>
        </p:nvSpPr>
        <p:spPr>
          <a:xfrm>
            <a:off x="566928" y="647395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00" kern="0" dirty="0">
                <a:solidFill>
                  <a:srgbClr val="9AA0A2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 GROUP — THE NEWSLETTER STUDIO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10710367" y="64739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AA0A2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09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subscribe box, and the live subscriber list.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566928" y="1517904"/>
            <a:ext cx="8961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News page carries a “Subscribe” box where visitors leave their email address to hear about new issues.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116836"/>
            <a:ext cx="246888" cy="246888"/>
          </a:xfrm>
          <a:prstGeom prst="ellipse">
            <a:avLst/>
          </a:prstGeom>
          <a:solidFill>
            <a:srgbClr val="B3400C"/>
          </a:solidFill>
          <a:ln/>
        </p:spPr>
      </p:sp>
      <p:sp>
        <p:nvSpPr>
          <p:cNvPr id="11" name="Text 9"/>
          <p:cNvSpPr/>
          <p:nvPr/>
        </p:nvSpPr>
        <p:spPr>
          <a:xfrm>
            <a:off x="521208" y="2091233"/>
            <a:ext cx="338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1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87552" y="2103120"/>
            <a:ext cx="7260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Visitors sign up on the News page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87552" y="2377440"/>
            <a:ext cx="7260336" cy="225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Name-free and instant: they enter an email address and get a confirmation message.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2763393"/>
            <a:ext cx="246888" cy="246888"/>
          </a:xfrm>
          <a:prstGeom prst="ellipse">
            <a:avLst/>
          </a:prstGeom>
          <a:solidFill>
            <a:srgbClr val="B3400C"/>
          </a:solidFill>
          <a:ln/>
        </p:spPr>
      </p:sp>
      <p:sp>
        <p:nvSpPr>
          <p:cNvPr id="15" name="Text 13"/>
          <p:cNvSpPr/>
          <p:nvPr/>
        </p:nvSpPr>
        <p:spPr>
          <a:xfrm>
            <a:off x="521208" y="2737790"/>
            <a:ext cx="338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2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987552" y="2749677"/>
            <a:ext cx="7260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admin gains a live subscriber list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87552" y="3023997"/>
            <a:ext cx="7260336" cy="4152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 subscriber section on the admin newsletter page is being rolled out as this deck is written — it shows signups as a live list you can review and use for mailings.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3599307"/>
            <a:ext cx="246888" cy="246888"/>
          </a:xfrm>
          <a:prstGeom prst="ellipse">
            <a:avLst/>
          </a:prstGeom>
          <a:solidFill>
            <a:srgbClr val="B3400C"/>
          </a:solidFill>
          <a:ln/>
        </p:spPr>
      </p:sp>
      <p:sp>
        <p:nvSpPr>
          <p:cNvPr id="19" name="Text 17"/>
          <p:cNvSpPr/>
          <p:nvPr/>
        </p:nvSpPr>
        <p:spPr>
          <a:xfrm>
            <a:off x="521208" y="3573704"/>
            <a:ext cx="338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3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987552" y="3585591"/>
            <a:ext cx="7260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Sending is still a manual step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87552" y="3859911"/>
            <a:ext cx="7260336" cy="4152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Publishing a story does not email anyone automatically. When an issue should reach subscribers, send it from the team mailbox to the list — until a mailing provider is wired in.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66928" y="4558665"/>
            <a:ext cx="7680960" cy="10515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4704969"/>
            <a:ext cx="7242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00" kern="0" dirty="0">
                <a:solidFill>
                  <a:srgbClr val="B9BDB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TAKE CARE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786384" y="4924425"/>
            <a:ext cx="7242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8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Check the rollout before relying on it
</a:t>
            </a:r>
            <a:pPr indent="0" marL="0">
              <a:lnSpc>
                <a:spcPts val="138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B9BDB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Until the subscriber section is live in your admin, signups are not stored anywhere — treat the box as decorative and collect addresses another way.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97776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6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EXTRAS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566928" y="694944"/>
            <a:ext cx="11057839" cy="0"/>
          </a:xfrm>
          <a:prstGeom prst="line">
            <a:avLst/>
          </a:prstGeom>
          <a:noFill/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344607" y="24688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500" kern="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344607" y="457200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0" spc="34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GROUP</a:t>
            </a:r>
            <a:endParaRPr lang="en-US" sz="550" dirty="0"/>
          </a:p>
        </p:txBody>
      </p:sp>
      <p:sp>
        <p:nvSpPr>
          <p:cNvPr id="6" name="Text 4"/>
          <p:cNvSpPr/>
          <p:nvPr/>
        </p:nvSpPr>
        <p:spPr>
          <a:xfrm>
            <a:off x="566928" y="647395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00" kern="0" dirty="0">
                <a:solidFill>
                  <a:srgbClr val="9AA0A2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 GROUP — THE NEWSLETTER STUDIO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10710367" y="64739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AA0A2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10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66928" y="93268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Adding a picture to a story.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566928" y="1517904"/>
            <a:ext cx="7040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The composer keeps to the four boxes; a story image is a one-sentence Claude request afterwards.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116836"/>
            <a:ext cx="246888" cy="246888"/>
          </a:xfrm>
          <a:prstGeom prst="ellipse">
            <a:avLst/>
          </a:prstGeom>
          <a:solidFill>
            <a:srgbClr val="B3400C"/>
          </a:solidFill>
          <a:ln/>
        </p:spPr>
      </p:sp>
      <p:sp>
        <p:nvSpPr>
          <p:cNvPr id="11" name="Text 9"/>
          <p:cNvSpPr/>
          <p:nvPr/>
        </p:nvSpPr>
        <p:spPr>
          <a:xfrm>
            <a:off x="521208" y="2091233"/>
            <a:ext cx="338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1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87552" y="2103120"/>
            <a:ext cx="6803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Publish the story as normal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87552" y="2377440"/>
            <a:ext cx="6803136" cy="4152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Words first — the image is an addition, not a requirement. Stories without images use the house thumbnails.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2952750"/>
            <a:ext cx="246888" cy="246888"/>
          </a:xfrm>
          <a:prstGeom prst="ellipse">
            <a:avLst/>
          </a:prstGeom>
          <a:solidFill>
            <a:srgbClr val="B3400C"/>
          </a:solidFill>
          <a:ln/>
        </p:spPr>
      </p:sp>
      <p:sp>
        <p:nvSpPr>
          <p:cNvPr id="15" name="Text 13"/>
          <p:cNvSpPr/>
          <p:nvPr/>
        </p:nvSpPr>
        <p:spPr>
          <a:xfrm>
            <a:off x="521208" y="2927147"/>
            <a:ext cx="338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2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987552" y="2939034"/>
            <a:ext cx="6803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Ask Claude to attach the image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87552" y="3213354"/>
            <a:ext cx="6803136" cy="4152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“Add the attached photo to the news issue titled X, with alt text ‘…’, then commit and push.” Claude stores the image and links it to the story.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3788664"/>
            <a:ext cx="246888" cy="246888"/>
          </a:xfrm>
          <a:prstGeom prst="ellipse">
            <a:avLst/>
          </a:prstGeom>
          <a:solidFill>
            <a:srgbClr val="B3400C"/>
          </a:solidFill>
          <a:ln/>
        </p:spPr>
      </p:sp>
      <p:sp>
        <p:nvSpPr>
          <p:cNvPr id="19" name="Text 17"/>
          <p:cNvSpPr/>
          <p:nvPr/>
        </p:nvSpPr>
        <p:spPr>
          <a:xfrm>
            <a:off x="521208" y="3763061"/>
            <a:ext cx="338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3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987552" y="3774948"/>
            <a:ext cx="6803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Check the story page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87552" y="4049268"/>
            <a:ext cx="6803136" cy="225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After the republish, the image appears on the story's own page.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247888" y="1618488"/>
            <a:ext cx="3376879" cy="1828800"/>
          </a:xfrm>
          <a:prstGeom prst="rect">
            <a:avLst/>
          </a:prstGeom>
          <a:solidFill>
            <a:srgbClr val="ECEEEE"/>
          </a:solidFill>
          <a:ln/>
        </p:spPr>
      </p:sp>
      <p:sp>
        <p:nvSpPr>
          <p:cNvPr id="23" name="Text 21"/>
          <p:cNvSpPr/>
          <p:nvPr/>
        </p:nvSpPr>
        <p:spPr>
          <a:xfrm>
            <a:off x="8467344" y="1764792"/>
            <a:ext cx="293796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00" kern="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GOOD TO KNOW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8467344" y="1984248"/>
            <a:ext cx="2937967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8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00000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Good alt text
</a:t>
            </a:r>
            <a:pPr indent="0" marL="0">
              <a:lnSpc>
                <a:spcPts val="138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5C6366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One sentence describing the picture for someone who cannot see it — “Topping-out ceremony at The Courthouse, Macclesfield” — helps accessibility and search alike.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97776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spc="260" kern="0" dirty="0">
                <a:solidFill>
                  <a:srgbClr val="B9BDB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RECAP</a:t>
            </a:r>
            <a:endParaRPr lang="en-US" sz="950" dirty="0"/>
          </a:p>
        </p:txBody>
      </p:sp>
      <p:sp>
        <p:nvSpPr>
          <p:cNvPr id="3" name="Shape 1"/>
          <p:cNvSpPr/>
          <p:nvPr/>
        </p:nvSpPr>
        <p:spPr>
          <a:xfrm>
            <a:off x="566928" y="694944"/>
            <a:ext cx="11057839" cy="0"/>
          </a:xfrm>
          <a:prstGeom prst="line">
            <a:avLst/>
          </a:prstGeom>
          <a:noFill/>
          <a:ln w="9525">
            <a:solidFill>
              <a:srgbClr val="3A3A3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344607" y="24688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500" kern="0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344607" y="457200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50" spc="340" kern="0" dirty="0">
                <a:solidFill>
                  <a:srgbClr val="B9BDB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GROUP</a:t>
            </a:r>
            <a:endParaRPr lang="en-US" sz="550" dirty="0"/>
          </a:p>
        </p:txBody>
      </p:sp>
      <p:sp>
        <p:nvSpPr>
          <p:cNvPr id="6" name="Text 4"/>
          <p:cNvSpPr/>
          <p:nvPr/>
        </p:nvSpPr>
        <p:spPr>
          <a:xfrm>
            <a:off x="566928" y="647395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200" kern="0" dirty="0">
                <a:solidFill>
                  <a:srgbClr val="B9BDB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 GROUP — THE NEWSLETTER STUDIO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10710367" y="64739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B9BDB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11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66928" y="969264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What to remember.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12648" y="1783080"/>
            <a:ext cx="66751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Four boxes, one button — and the story is live on /news immediately.</a:t>
            </a:r>
            <a:endParaRPr lang="en-US" sz="1250" dirty="0"/>
          </a:p>
          <a:p>
            <a:pPr marL="177800" indent="-1778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Two formatting tricks: ## headings and dash bullets. Everything else is plain typing.</a:t>
            </a:r>
            <a:endParaRPr lang="en-US" sz="1250" dirty="0"/>
          </a:p>
          <a:p>
            <a:pPr marL="177800" indent="-1778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No draft mode: agree the words before they go in the box.</a:t>
            </a:r>
            <a:endParaRPr lang="en-US" sz="1250" dirty="0"/>
          </a:p>
          <a:p>
            <a:pPr marL="177800" indent="-1778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Corrections go through Claude — the studio refuses to overwrite live stories.</a:t>
            </a:r>
            <a:endParaRPr lang="en-US" sz="1250" dirty="0"/>
          </a:p>
          <a:p>
            <a:pPr marL="177800" indent="-1778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On the live site, publishing goes through the repository — “Could not write” means use the Claude route.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818120" y="1828800"/>
            <a:ext cx="0" cy="3291840"/>
          </a:xfrm>
          <a:prstGeom prst="line">
            <a:avLst/>
          </a:prstGeom>
          <a:noFill/>
          <a:ln w="9525">
            <a:solidFill>
              <a:srgbClr val="3A3A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83880" y="182880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40" kern="0" dirty="0">
                <a:solidFill>
                  <a:srgbClr val="B9BDB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WHERE TO GET HELP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8183880" y="2194560"/>
            <a:ext cx="3429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spcAft>
                <a:spcPts val="1000"/>
              </a:spcAft>
              <a:buNone/>
            </a:pPr>
            <a:r>
              <a:rPr lang="en-US" sz="1050" dirty="0">
                <a:solidFill>
                  <a:srgbClr val="B9BDB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Written walkthrough: /admin/guide → “Publishing a news story”.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1000"/>
              </a:spcAft>
              <a:buNone/>
            </a:pPr>
            <a:r>
              <a:rPr lang="en-US" sz="1050" dirty="0">
                <a:solidFill>
                  <a:srgbClr val="B9BDB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Formatting reminders sit right under the Body box in the studio.</a:t>
            </a:r>
            <a:endParaRPr lang="en-US" sz="1050" dirty="0"/>
          </a:p>
          <a:p>
            <a:pPr indent="0" marL="0">
              <a:lnSpc>
                <a:spcPts val="1500"/>
              </a:lnSpc>
              <a:spcAft>
                <a:spcPts val="1000"/>
              </a:spcAft>
              <a:buNone/>
            </a:pPr>
            <a:r>
              <a:rPr lang="en-US" sz="1050" dirty="0">
                <a:solidFill>
                  <a:srgbClr val="B9BDB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Story stuck or wrong? A Claude session fixes it in minutes.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0" y="580644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spc="1500" kern="0" dirty="0">
                <a:solidFill>
                  <a:srgbClr val="FFFFFF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SATIS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0" y="6236208"/>
            <a:ext cx="121916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600" kern="0" dirty="0">
                <a:solidFill>
                  <a:srgbClr val="B9BDBE"/>
                </a:solidFill>
                <a:latin typeface="Work Sans" pitchFamily="34" charset="0"/>
                <a:ea typeface="Work Sans" pitchFamily="34" charset="-122"/>
                <a:cs typeface="Work Sans" pitchFamily="34" charset="-120"/>
              </a:rPr>
              <a:t>GROUP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Satis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newsletter studio.</dc:title>
  <dc:subject>PptxGenJS Presentation</dc:subject>
  <dc:creator>Satis Group</dc:creator>
  <cp:lastModifiedBy>Satis Group</cp:lastModifiedBy>
  <cp:revision>1</cp:revision>
  <dcterms:created xsi:type="dcterms:W3CDTF">2026-08-19T17:30:33Z</dcterms:created>
  <dcterms:modified xsi:type="dcterms:W3CDTF">2026-08-19T17:30:33Z</dcterms:modified>
</cp:coreProperties>
</file>