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explainer session: no routines to learn, just the mental model of the machine. GitHub holds the master copy, Vercel prints and serves it, 123 Reg owns the address and the mailboxes, and a handful of settings tie it together. By the end, 'is it the site, the hosting or the domain?' becomes an answerable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Pitch: this is the 'how it all hangs together' session people asked for. Keep it conversational — every slide here answers a 'but where does X actually live?'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Orient the room left to right: people describe changes, GitHub records them, Vercel rebuilds, the domain serves it. The three feeder boxes below: studio saves commit into GitHub; 123 Reg points the name at Vercel and hosts the mailboxes; the Land Registry feeds market data into the investor portal automatically.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no-separate-database point surprises technical guests. It is deliberate: one system of record, one backup story, one audit trail — and it makes the whole platform portable.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redeploy rule is the recurring gotcha across sessions: settings changes only apply to new deployments. The live site's files are read-only by design — the printed brochure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timeline is why saves 'take a minute to show' in the studio and why news stories appear after a short delay when published through Claude. Teams that internalise step 3 stop reporting false alarms.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practical: 123 Reg is logged into rarely and carefully — its two jobs are pointing the name at Vercel and hosting the mailboxes. The independence point matters during incidents: broken email is never caused by a website deploy.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Nobody needs to memorise these — the table exists so the names aren't scary when they appear in error messages or guides. The three that come up in practice: SATIS_ADMIN_USERS (webinar 03), SATIS_GITHUB_TOKEN (next slide), and SATIS_RESEND_API_KEY (webinar 07).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one piece of periodic maintenance the platform has. Symptoms of an expired token: studio warns on load, or Saves refuse. News stories are unaffected either way — they always go the Claude route on live hosting.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Aimed at giving the room confident answers to investor questions. The per-account assembly point is worth repeating: it isn't that other data is hidden — it is never sent.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three fail soft — the design habit across the site: an outside dependency going down degrades a detail, never a page, and never silently. Good answer material for 'what happens if X is down?'.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 of the table: route the panic. Content problems are Claude sessions; save problems are the token; sign-in problems are the playbooks; reachability is Vercel/123 Reg. Nothing on this list is fixed by editing the live site — there is no such lever.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Transparency slide — it prevents wrong assumptions downstream ('check the contact-form inbox' — there isn't one yet). Each gap has a clear, small path to close when the business wants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the takeaways, answer questions, and point everyone at the written guide.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atis-group-website/ff8ab6f4-f9c2-556a-89f3-8bea05ba205c/build/assets/cover-system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5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66928" y="566928"/>
            <a:ext cx="11057839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66928" y="71323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 GROUP — BACKEND WEBINAR SERIES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0" y="2304288"/>
            <a:ext cx="121916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spc="3000" kern="0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0" y="3090672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spc="1100" kern="0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GROUP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1371600" y="3913632"/>
            <a:ext cx="9448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systems behind the website.</a:t>
            </a:r>
            <a:endParaRPr lang="en-US" sz="2700" dirty="0"/>
          </a:p>
        </p:txBody>
      </p:sp>
      <p:sp>
        <p:nvSpPr>
          <p:cNvPr id="9" name="Text 6"/>
          <p:cNvSpPr/>
          <p:nvPr/>
        </p:nvSpPr>
        <p:spPr>
          <a:xfrm>
            <a:off x="2194560" y="4590288"/>
            <a:ext cx="78025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E8EAE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GitHub, Vercel, 123 Reg and the moving parts — what each one does, how a change travels, and what to check when something misbehaves.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66928" y="632764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300" kern="0" dirty="0">
                <a:solidFill>
                  <a:srgbClr val="D8DAD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BACKEND WEBINAR 06 OF 07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97776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6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IN THIS WEBINAR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566928" y="694944"/>
            <a:ext cx="11057839" cy="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344607" y="24688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500" kern="0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344607" y="457200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0" spc="34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GROUP</a:t>
            </a:r>
            <a:endParaRPr lang="en-US" sz="550" dirty="0"/>
          </a:p>
        </p:txBody>
      </p:sp>
      <p:sp>
        <p:nvSpPr>
          <p:cNvPr id="6" name="Text 4"/>
          <p:cNvSpPr/>
          <p:nvPr/>
        </p:nvSpPr>
        <p:spPr>
          <a:xfrm>
            <a:off x="566928" y="647395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00" kern="0" dirty="0">
                <a:solidFill>
                  <a:srgbClr val="9AA0A2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 GROUP — THE SYSTEMS BEHIND THE WEBSITE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10710367" y="64739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AA0A2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02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What this session covers.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566928" y="1499616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Nothing here needs doing day to day — this is the map that makes every other webinar make sense.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66928" y="22311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69848" y="2212848"/>
            <a:ext cx="47745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machine, on one slide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069848" y="2487168"/>
            <a:ext cx="47745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Five parts and the arrows between them.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66928" y="30723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69848" y="3054096"/>
            <a:ext cx="47745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GitHub — the master copy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069848" y="3328416"/>
            <a:ext cx="47745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Also the database, and the audit trail.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66928" y="39136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69848" y="3895344"/>
            <a:ext cx="47745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Vercel — the printing press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069848" y="4169664"/>
            <a:ext cx="47745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Builds, hosting, settings and domains.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347308" y="22311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04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850228" y="2212848"/>
            <a:ext cx="47745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123 Reg — the address book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850228" y="2487168"/>
            <a:ext cx="47745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domain name, DNS and the mailboxes.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347308" y="30723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05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850228" y="3054096"/>
            <a:ext cx="47745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settings that matter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850228" y="3328416"/>
            <a:ext cx="47745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Five values in Vercel and what each does.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347308" y="39136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06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50228" y="3895344"/>
            <a:ext cx="47745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When something misbehaves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850228" y="4169664"/>
            <a:ext cx="47745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Symptom → which system → first move.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97776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6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MAP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566928" y="694944"/>
            <a:ext cx="11057839" cy="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344607" y="24688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500" kern="0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344607" y="457200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0" spc="34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GROUP</a:t>
            </a:r>
            <a:endParaRPr lang="en-US" sz="550" dirty="0"/>
          </a:p>
        </p:txBody>
      </p:sp>
      <p:sp>
        <p:nvSpPr>
          <p:cNvPr id="6" name="Text 4"/>
          <p:cNvSpPr/>
          <p:nvPr/>
        </p:nvSpPr>
        <p:spPr>
          <a:xfrm>
            <a:off x="566928" y="647395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00" kern="0" dirty="0">
                <a:solidFill>
                  <a:srgbClr val="9AA0A2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 GROUP — THE SYSTEMS BEHIND THE WEBSITE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10710367" y="64739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AA0A2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03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Five parts, one direction of travel.</a:t>
            </a:r>
            <a:endParaRPr lang="en-US" sz="2500" dirty="0"/>
          </a:p>
        </p:txBody>
      </p:sp>
      <p:sp>
        <p:nvSpPr>
          <p:cNvPr id="9" name="Shape 7"/>
          <p:cNvSpPr/>
          <p:nvPr/>
        </p:nvSpPr>
        <p:spPr>
          <a:xfrm>
            <a:off x="566928" y="2331720"/>
            <a:ext cx="196596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331720"/>
            <a:ext cx="181965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You + Claude</a:t>
            </a:r>
            <a:pPr algn="ctr" indent="0" marL="0">
              <a:lnSpc>
                <a:spcPts val="1300"/>
              </a:lnSpc>
              <a:buNone/>
            </a:pPr>
            <a:endParaRPr lang="en-US" sz="11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plain-English changes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839212" y="2331720"/>
            <a:ext cx="1965960" cy="98755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12364" y="2331720"/>
            <a:ext cx="181965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GitHub</a:t>
            </a:r>
            <a:pPr algn="ctr" indent="0" marL="0">
              <a:lnSpc>
                <a:spcPts val="1300"/>
              </a:lnSpc>
              <a:buNone/>
            </a:pPr>
            <a:endParaRPr lang="en-US" sz="11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B9BDB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master copy — repository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111496" y="2331720"/>
            <a:ext cx="1965960" cy="98755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84648" y="2331720"/>
            <a:ext cx="181965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Vercel</a:t>
            </a:r>
            <a:pPr algn="ctr" indent="0" marL="0">
              <a:lnSpc>
                <a:spcPts val="1300"/>
              </a:lnSpc>
              <a:buNone/>
            </a:pPr>
            <a:endParaRPr lang="en-US" sz="11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B9BDB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builds &amp; hosts the site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83780" y="2331720"/>
            <a:ext cx="196596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56932" y="2331720"/>
            <a:ext cx="181965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satisgroup.co.uk</a:t>
            </a:r>
            <a:pPr algn="ctr" indent="0" marL="0">
              <a:lnSpc>
                <a:spcPts val="1300"/>
              </a:lnSpc>
              <a:buNone/>
            </a:pPr>
            <a:endParaRPr lang="en-US" sz="11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live site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656064" y="2331720"/>
            <a:ext cx="196596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729216" y="2331720"/>
            <a:ext cx="181965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Visitors &amp; investors</a:t>
            </a:r>
            <a:pPr algn="ctr" indent="0" marL="0">
              <a:lnSpc>
                <a:spcPts val="1300"/>
              </a:lnSpc>
              <a:buNone/>
            </a:pPr>
            <a:endParaRPr lang="en-US" sz="11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browsers, phones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532888" y="2825496"/>
            <a:ext cx="306324" cy="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805172" y="2825496"/>
            <a:ext cx="306324" cy="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077456" y="2825496"/>
            <a:ext cx="306324" cy="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349740" y="2825496"/>
            <a:ext cx="306324" cy="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2788920" y="4251960"/>
            <a:ext cx="2066544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862072" y="425196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Platform studio saves</a:t>
            </a:r>
            <a:pPr algn="ctr" indent="0" marL="0">
              <a:lnSpc>
                <a:spcPts val="1300"/>
              </a:lnSpc>
              <a:buNone/>
            </a:pPr>
            <a:endParaRPr lang="en-US" sz="11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commit straight into GitHub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822192" y="4251960"/>
            <a:ext cx="0" cy="-86868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5061204" y="4251960"/>
            <a:ext cx="2066544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34356" y="425196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HM Land Registry</a:t>
            </a:r>
            <a:pPr algn="ctr" indent="0" marL="0">
              <a:lnSpc>
                <a:spcPts val="1300"/>
              </a:lnSpc>
              <a:buNone/>
            </a:pPr>
            <a:endParaRPr lang="en-US" sz="11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live market data feed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094476" y="4251960"/>
            <a:ext cx="0" cy="-868680"/>
          </a:xfrm>
          <a:prstGeom prst="line">
            <a:avLst/>
          </a:prstGeom>
          <a:noFill/>
          <a:ln w="15240">
            <a:solidFill>
              <a:srgbClr val="000000"/>
            </a:solidFill>
            <a:prstDash val="dash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7333488" y="4251960"/>
            <a:ext cx="2066544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06640" y="425196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123 Reg</a:t>
            </a:r>
            <a:pPr algn="ctr" indent="0" marL="0">
              <a:lnSpc>
                <a:spcPts val="1300"/>
              </a:lnSpc>
              <a:buNone/>
            </a:pPr>
            <a:endParaRPr lang="en-US" sz="11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domain, DNS &amp; mailboxes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366760" y="4251960"/>
            <a:ext cx="0" cy="-86868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566928" y="5623560"/>
            <a:ext cx="110578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Changes only ever flow left to right: nothing edits the live site directly.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97776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6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GITHUB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566928" y="694944"/>
            <a:ext cx="11057839" cy="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344607" y="24688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500" kern="0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344607" y="457200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0" spc="34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GROUP</a:t>
            </a:r>
            <a:endParaRPr lang="en-US" sz="550" dirty="0"/>
          </a:p>
        </p:txBody>
      </p:sp>
      <p:sp>
        <p:nvSpPr>
          <p:cNvPr id="6" name="Text 4"/>
          <p:cNvSpPr/>
          <p:nvPr/>
        </p:nvSpPr>
        <p:spPr>
          <a:xfrm>
            <a:off x="566928" y="647395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00" kern="0" dirty="0">
                <a:solidFill>
                  <a:srgbClr val="9AA0A2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 GROUP — THE SYSTEMS BEHIND THE WEBSITE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10710367" y="64739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AA0A2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04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GitHub: the master copy — and the database.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566928" y="1517904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repository (satis-group-website, under the Satisgroup-1 GitHub account) is a shared, version-tracked folder holding every file the site is built from.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212848"/>
            <a:ext cx="3478682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CED1D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2377440"/>
            <a:ext cx="303977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8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master copy
</a:t>
            </a:r>
            <a:pPr indent="0" marL="0">
              <a:lnSpc>
                <a:spcPts val="138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Pages, design, photography, code — the brochure master. Claude sessions edit here; the live site reprints from here.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56506" y="2212848"/>
            <a:ext cx="3478682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CED1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5962" y="2377440"/>
            <a:ext cx="303977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8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Also the database
</a:t>
            </a:r>
            <a:pPr indent="0" marL="0">
              <a:lnSpc>
                <a:spcPts val="138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There is no separate database. News stories and every investor-platform dataset are files in the repository — which is why exports, backups and Claude edits all work the same way.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146085" y="2212848"/>
            <a:ext cx="3478682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CED1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65541" y="2377440"/>
            <a:ext cx="303977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8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Also the audit trail
</a:t>
            </a:r>
            <a:pPr indent="0" marL="0">
              <a:lnSpc>
                <a:spcPts val="138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Every change is a commit: dated, described, attributed, reversible. “What changed this month?” is a question Claude can answer from the history.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97776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6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VERCEL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566928" y="694944"/>
            <a:ext cx="11057839" cy="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344607" y="24688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500" kern="0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344607" y="457200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0" spc="34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GROUP</a:t>
            </a:r>
            <a:endParaRPr lang="en-US" sz="550" dirty="0"/>
          </a:p>
        </p:txBody>
      </p:sp>
      <p:sp>
        <p:nvSpPr>
          <p:cNvPr id="6" name="Text 4"/>
          <p:cNvSpPr/>
          <p:nvPr/>
        </p:nvSpPr>
        <p:spPr>
          <a:xfrm>
            <a:off x="566928" y="647395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00" kern="0" dirty="0">
                <a:solidFill>
                  <a:srgbClr val="9AA0A2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 GROUP — THE SYSTEMS BEHIND THE WEBSITE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10710367" y="64739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AA0A2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05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Vercel: the printing press.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566928" y="1517904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Vercel watches the repository and turns the master copy into the fast, public website — automatically.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212848"/>
            <a:ext cx="3478682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CED1D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2377440"/>
            <a:ext cx="303977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8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Builds &amp; hosting
</a:t>
            </a:r>
            <a:pPr indent="0" marL="0">
              <a:lnSpc>
                <a:spcPts val="138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Each merged commit triggers a rebuild — the “reprint”. A few minutes later the new version is what visitors get, worldwide.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56506" y="2212848"/>
            <a:ext cx="3478682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CED1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5962" y="2377440"/>
            <a:ext cx="303977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8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Environment settings
</a:t>
            </a:r>
            <a:pPr indent="0" marL="0">
              <a:lnSpc>
                <a:spcPts val="138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Vercel also holds the site's private settings — admin accounts, signing secrets, the repository token. Changing one requires a redeploy to take effect.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146085" y="2212848"/>
            <a:ext cx="3478682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CED1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65541" y="2377440"/>
            <a:ext cx="303977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8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Domains
</a:t>
            </a:r>
            <a:pPr indent="0" marL="0">
              <a:lnSpc>
                <a:spcPts val="138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satisgroup.co.uk and www.satisgroup.co.uk are attached to the project in Vercel's domain settings, which tell 123 Reg's DNS where to point.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97776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6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JOURNEY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566928" y="694944"/>
            <a:ext cx="11057839" cy="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344607" y="24688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500" kern="0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344607" y="457200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0" spc="34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GROUP</a:t>
            </a:r>
            <a:endParaRPr lang="en-US" sz="550" dirty="0"/>
          </a:p>
        </p:txBody>
      </p:sp>
      <p:sp>
        <p:nvSpPr>
          <p:cNvPr id="6" name="Text 4"/>
          <p:cNvSpPr/>
          <p:nvPr/>
        </p:nvSpPr>
        <p:spPr>
          <a:xfrm>
            <a:off x="566928" y="647395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00" kern="0" dirty="0">
                <a:solidFill>
                  <a:srgbClr val="9AA0A2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 GROUP — THE SYSTEMS BEHIND THE WEBSITE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10710367" y="64739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AA0A2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06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How a change travels — and how long it takes.</a:t>
            </a:r>
            <a:endParaRPr lang="en-US" sz="2500" dirty="0"/>
          </a:p>
        </p:txBody>
      </p:sp>
      <p:sp>
        <p:nvSpPr>
          <p:cNvPr id="9" name="Shape 7"/>
          <p:cNvSpPr/>
          <p:nvPr/>
        </p:nvSpPr>
        <p:spPr>
          <a:xfrm>
            <a:off x="704088" y="2880360"/>
            <a:ext cx="2395728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880360"/>
            <a:ext cx="2249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1 · Change is made</a:t>
            </a:r>
            <a:pPr algn="ctr" indent="0" marL="0">
              <a:lnSpc>
                <a:spcPts val="1300"/>
              </a:lnSpc>
              <a:buNone/>
            </a:pPr>
            <a:endParaRPr lang="en-US" sz="11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Claude session, or a studio Save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02736" y="2880360"/>
            <a:ext cx="2395728" cy="9601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75888" y="2880360"/>
            <a:ext cx="2249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2 · Commit lands in GitHub</a:t>
            </a:r>
            <a:pPr algn="ctr" indent="0" marL="0">
              <a:lnSpc>
                <a:spcPts val="1300"/>
              </a:lnSpc>
              <a:buNone/>
            </a:pPr>
            <a:endParaRPr lang="en-US" sz="11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B9BDB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recorded in the history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01384" y="2880360"/>
            <a:ext cx="2395728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74536" y="2880360"/>
            <a:ext cx="2249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3 · Vercel rebuilds</a:t>
            </a:r>
            <a:pPr algn="ctr" indent="0" marL="0">
              <a:lnSpc>
                <a:spcPts val="1300"/>
              </a:lnSpc>
              <a:buNone/>
            </a:pPr>
            <a:endParaRPr lang="en-US" sz="11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automatic — nothing to press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400032" y="2880360"/>
            <a:ext cx="2395728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473184" y="2880360"/>
            <a:ext cx="2249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4 · Live</a:t>
            </a:r>
            <a:pPr algn="ctr" indent="0" marL="0">
              <a:lnSpc>
                <a:spcPts val="1300"/>
              </a:lnSpc>
              <a:buNone/>
            </a:pPr>
            <a:endParaRPr lang="en-US" sz="11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verify on the page itself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099816" y="3360420"/>
            <a:ext cx="502920" cy="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998464" y="3360420"/>
            <a:ext cx="502920" cy="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8897112" y="3360420"/>
            <a:ext cx="502920" cy="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2916936" y="256032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SECONDS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5815584" y="256032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STARTS ITSELF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8714232" y="256032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 FEW MINUTES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66928" y="4709160"/>
            <a:ext cx="1032631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practical rule: 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give any change a minute or two, then refresh the page. Not there after ten minutes? Ask Claude whether the commit pushed and the deployment succeeded — it can check both.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97776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6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123 REG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566928" y="694944"/>
            <a:ext cx="11057839" cy="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344607" y="24688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500" kern="0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344607" y="457200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0" spc="34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GROUP</a:t>
            </a:r>
            <a:endParaRPr lang="en-US" sz="550" dirty="0"/>
          </a:p>
        </p:txBody>
      </p:sp>
      <p:sp>
        <p:nvSpPr>
          <p:cNvPr id="6" name="Text 4"/>
          <p:cNvSpPr/>
          <p:nvPr/>
        </p:nvSpPr>
        <p:spPr>
          <a:xfrm>
            <a:off x="566928" y="647395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00" kern="0" dirty="0">
                <a:solidFill>
                  <a:srgbClr val="9AA0A2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 GROUP — THE SYSTEMS BEHIND THE WEBSITE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10710367" y="64739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AA0A2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07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123 Reg: where the name and the mailboxes live.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566928" y="1517904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123 Reg is the domain registrar — the company the satisgroup.co.uk name is registered with. It plays two roles: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212848"/>
            <a:ext cx="5373472" cy="2514600"/>
          </a:xfrm>
          <a:prstGeom prst="rect">
            <a:avLst/>
          </a:prstGeom>
          <a:solidFill>
            <a:srgbClr val="FFFFFF"/>
          </a:solidFill>
          <a:ln w="9525">
            <a:solidFill>
              <a:srgbClr val="CED1D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2377440"/>
            <a:ext cx="4934560" cy="2185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8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address book (DNS)
</a:t>
            </a:r>
            <a:pPr indent="0" marL="0">
              <a:lnSpc>
                <a:spcPts val="138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DNS records at 123 Reg point satisgroup.co.uk (and www) at Vercel, so the name reaches the website.
</a:t>
            </a:r>
            <a:pPr indent="0" marL="0">
              <a:lnSpc>
                <a:spcPts val="138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Touched rarely — at go-live, or if hosting ever moves. Vercel's domain settings state exactly what the records must say.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51296" y="2212848"/>
            <a:ext cx="5373472" cy="2514600"/>
          </a:xfrm>
          <a:prstGeom prst="rect">
            <a:avLst/>
          </a:prstGeom>
          <a:solidFill>
            <a:srgbClr val="FFFFFF"/>
          </a:solidFill>
          <a:ln w="9525">
            <a:solidFill>
              <a:srgbClr val="CED1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70752" y="2377440"/>
            <a:ext cx="4934560" cy="2185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8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mailboxes
</a:t>
            </a:r>
            <a:pPr indent="0" marL="0">
              <a:lnSpc>
                <a:spcPts val="138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@satisgroup.co.uk email addresses are mailboxes managed alongside the domain — including the enquiries inbox the website's email links feed (webinar 07).
</a:t>
            </a:r>
            <a:pPr indent="0" marL="0">
              <a:lnSpc>
                <a:spcPts val="138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Website and mailboxes are independent: a site deploy can never break email, and vice versa.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97776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6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SETTINGS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566928" y="694944"/>
            <a:ext cx="11057839" cy="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344607" y="24688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500" kern="0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344607" y="457200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0" spc="34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GROUP</a:t>
            </a:r>
            <a:endParaRPr lang="en-US" sz="550" dirty="0"/>
          </a:p>
        </p:txBody>
      </p:sp>
      <p:sp>
        <p:nvSpPr>
          <p:cNvPr id="6" name="Text 4"/>
          <p:cNvSpPr/>
          <p:nvPr/>
        </p:nvSpPr>
        <p:spPr>
          <a:xfrm>
            <a:off x="566928" y="647395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00" kern="0" dirty="0">
                <a:solidFill>
                  <a:srgbClr val="9AA0A2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 GROUP — THE SYSTEMS BEHIND THE WEBSITE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10710367" y="64739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AA0A2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08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settings that matter.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566928" y="1517904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All live in Vercel → project → Settings → Environment Variables. Every change needs a redeploy to take effect.</a:t>
            </a:r>
            <a:endParaRPr lang="en-US" sz="11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40280"/>
          <a:ext cx="11057839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846320"/>
                <a:gridCol w="32918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spc="180" kern="0" dirty="0">
                          <a:solidFill>
                            <a:srgbClr val="5C6366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SETTING</a:t>
                      </a:r>
                      <a:endParaRPr lang="en-US" sz="85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36576" marR="36576" marT="54864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spc="180" kern="0" dirty="0">
                          <a:solidFill>
                            <a:srgbClr val="5C6366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WHAT IT DOES</a:t>
                      </a:r>
                      <a:endParaRPr lang="en-US" sz="85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36576" marR="36576" marT="54864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spc="180" kern="0" dirty="0">
                          <a:solidFill>
                            <a:srgbClr val="5C6366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WHEN YOU TOUCH IT</a:t>
                      </a:r>
                      <a:endParaRPr lang="en-US" sz="85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36576" marR="36576" marT="54864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SATIS_ADMIN_USERS</a:t>
                      </a:r>
                      <a:endParaRPr lang="en-US" sz="10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36576" marR="36576" marT="82296" marB="82296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ED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366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The list of admin accounts — who can sign in at /admin.</a:t>
                      </a:r>
                      <a:endParaRPr lang="en-US" sz="10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36576" marR="36576" marT="82296" marB="82296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ED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366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Adding, resetting or removing an admin (webinar 03).</a:t>
                      </a:r>
                      <a:endParaRPr lang="en-US" sz="10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36576" marR="36576" marT="82296" marB="82296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ED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SATIS_ADMIN_SECRET</a:t>
                      </a:r>
                      <a:endParaRPr lang="en-US" sz="10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36576" marR="36576" marT="82296" marB="82296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ED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366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Signs admin sessions so they cannot be forged.</a:t>
                      </a:r>
                      <a:endParaRPr lang="en-US" sz="10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36576" marR="36576" marT="82296" marB="82296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ED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366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Set once at setup; rotate if ever exposed.</a:t>
                      </a:r>
                      <a:endParaRPr lang="en-US" sz="10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36576" marR="36576" marT="82296" marB="82296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ED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SATIS_INVESTOR_SECRET</a:t>
                      </a:r>
                      <a:endParaRPr lang="en-US" sz="10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36576" marR="36576" marT="82296" marB="82296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ED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366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The same, for investor portal sessions.</a:t>
                      </a:r>
                      <a:endParaRPr lang="en-US" sz="10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36576" marR="36576" marT="82296" marB="82296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ED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366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Optional — falls back to the admin secret.</a:t>
                      </a:r>
                      <a:endParaRPr lang="en-US" sz="10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36576" marR="36576" marT="82296" marB="82296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ED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SATIS_GITHUB_TOKEN</a:t>
                      </a:r>
                      <a:endParaRPr lang="en-US" sz="10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36576" marR="36576" marT="82296" marB="82296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ED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366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Lets platform-studio saves commit to the repository from the live site.</a:t>
                      </a:r>
                      <a:endParaRPr lang="en-US" sz="10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36576" marR="36576" marT="82296" marB="82296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ED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366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Set once; renew when it expires — next slide.</a:t>
                      </a:r>
                      <a:endParaRPr lang="en-US" sz="10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36576" marR="36576" marT="82296" marB="82296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ED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SATIS_RESEND_API_KEY</a:t>
                      </a:r>
                      <a:endParaRPr lang="en-US" sz="10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36576" marR="36576" marT="82296" marB="82296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ED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366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Lets the contact and investor forms send enquiry email (via Resend).</a:t>
                      </a:r>
                      <a:endParaRPr lang="en-US" sz="10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36576" marR="36576" marT="82296" marB="82296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ED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366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Set once; check first if forms report send failures.</a:t>
                      </a:r>
                      <a:endParaRPr lang="en-US" sz="10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36576" marR="36576" marT="82296" marB="82296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ED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SATIS_ENQUIRY_TO</a:t>
                      </a:r>
                      <a:endParaRPr lang="en-US" sz="10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36576" marR="36576" marT="82296" marB="82296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ED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366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Where form enquiries land (SATIS_CONTACT_TO can split contact-form traffic).</a:t>
                      </a:r>
                      <a:endParaRPr lang="en-US" sz="10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36576" marR="36576" marT="82296" marB="82296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ED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366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Only to change the destination inbox.</a:t>
                      </a:r>
                      <a:endParaRPr lang="en-US" sz="10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36576" marR="36576" marT="82296" marB="82296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ED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NEXT_PUBLIC_SITE_URL</a:t>
                      </a:r>
                      <a:endParaRPr lang="en-US" sz="10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36576" marR="36576" marT="82296" marB="82296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ED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366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The site's official address for links and search engines.</a:t>
                      </a:r>
                      <a:endParaRPr lang="en-US" sz="10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36576" marR="36576" marT="82296" marB="82296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ED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366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Already https://www.satisgroup.co.uk — leave it.</a:t>
                      </a:r>
                      <a:endParaRPr lang="en-US" sz="10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36576" marR="36576" marT="82296" marB="82296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ED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97776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6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REPOSITORY TOKEN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566928" y="694944"/>
            <a:ext cx="11057839" cy="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344607" y="24688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500" kern="0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344607" y="457200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0" spc="34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GROUP</a:t>
            </a:r>
            <a:endParaRPr lang="en-US" sz="550" dirty="0"/>
          </a:p>
        </p:txBody>
      </p:sp>
      <p:sp>
        <p:nvSpPr>
          <p:cNvPr id="6" name="Text 4"/>
          <p:cNvSpPr/>
          <p:nvPr/>
        </p:nvSpPr>
        <p:spPr>
          <a:xfrm>
            <a:off x="566928" y="647395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00" kern="0" dirty="0">
                <a:solidFill>
                  <a:srgbClr val="9AA0A2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 GROUP — THE SYSTEMS BEHIND THE WEBSITE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10710367" y="64739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AA0A2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09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token that lets Saves stick on the live site.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566928" y="1517904"/>
            <a:ext cx="7040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On the live site, every platform-studio Save quietly becomes a commit to the repository — powered by one credential: SATIS_GITHUB_TOKEN. When it is missing or expired, the studio warns that changes will not save. Renewal: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354580"/>
            <a:ext cx="246888" cy="246888"/>
          </a:xfrm>
          <a:prstGeom prst="ellipse">
            <a:avLst/>
          </a:prstGeom>
          <a:solidFill>
            <a:srgbClr val="B3400C"/>
          </a:solidFill>
          <a:ln/>
        </p:spPr>
      </p:sp>
      <p:sp>
        <p:nvSpPr>
          <p:cNvPr id="11" name="Text 9"/>
          <p:cNvSpPr/>
          <p:nvPr/>
        </p:nvSpPr>
        <p:spPr>
          <a:xfrm>
            <a:off x="521208" y="2328977"/>
            <a:ext cx="338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1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987552" y="2340864"/>
            <a:ext cx="6803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Generate a fine-grained token in GitHub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87552" y="2615184"/>
            <a:ext cx="6803136" cy="4152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 Group GitHub account → Settings → Developer settings → Personal access tokens → Fine-grained tokens → Generate new token.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3190494"/>
            <a:ext cx="246888" cy="246888"/>
          </a:xfrm>
          <a:prstGeom prst="ellipse">
            <a:avLst/>
          </a:prstGeom>
          <a:solidFill>
            <a:srgbClr val="B3400C"/>
          </a:solidFill>
          <a:ln/>
        </p:spPr>
      </p:sp>
      <p:sp>
        <p:nvSpPr>
          <p:cNvPr id="15" name="Text 13"/>
          <p:cNvSpPr/>
          <p:nvPr/>
        </p:nvSpPr>
        <p:spPr>
          <a:xfrm>
            <a:off x="521208" y="3164891"/>
            <a:ext cx="338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2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987552" y="3176778"/>
            <a:ext cx="6803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Scope it tightly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87552" y="3451098"/>
            <a:ext cx="6803136" cy="4152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Access to only the satis-group-website repository, with “Contents: Read and write” permission — nothing more.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026408"/>
            <a:ext cx="246888" cy="246888"/>
          </a:xfrm>
          <a:prstGeom prst="ellipse">
            <a:avLst/>
          </a:prstGeom>
          <a:solidFill>
            <a:srgbClr val="B3400C"/>
          </a:solidFill>
          <a:ln/>
        </p:spPr>
      </p:sp>
      <p:sp>
        <p:nvSpPr>
          <p:cNvPr id="19" name="Text 17"/>
          <p:cNvSpPr/>
          <p:nvPr/>
        </p:nvSpPr>
        <p:spPr>
          <a:xfrm>
            <a:off x="521208" y="4000805"/>
            <a:ext cx="338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3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987552" y="4012692"/>
            <a:ext cx="6803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Store it in Vercel and redeploy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87552" y="4287012"/>
            <a:ext cx="6803136" cy="4152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Add it as the SATIS_GITHUB_TOKEN environment variable, redeploy, and the studio's warning disappears.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247888" y="1618488"/>
            <a:ext cx="3376879" cy="1965960"/>
          </a:xfrm>
          <a:prstGeom prst="rect">
            <a:avLst/>
          </a:prstGeom>
          <a:solidFill>
            <a:srgbClr val="ECEEEE"/>
          </a:solidFill>
          <a:ln/>
        </p:spPr>
      </p:sp>
      <p:sp>
        <p:nvSpPr>
          <p:cNvPr id="23" name="Text 21"/>
          <p:cNvSpPr/>
          <p:nvPr/>
        </p:nvSpPr>
        <p:spPr>
          <a:xfrm>
            <a:off x="8467344" y="1764792"/>
            <a:ext cx="293796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0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GOOD TO KNOW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8467344" y="1984248"/>
            <a:ext cx="2937967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8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Tokens expire on purpose
</a:t>
            </a:r>
            <a:pPr indent="0" marL="0">
              <a:lnSpc>
                <a:spcPts val="138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GitHub gives every token an expiry date. When the studio starts warning again, that is all it is — generate a new token and update the variable. Ask Claude to walk through it the first time.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97776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6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PROTECTIONS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566928" y="694944"/>
            <a:ext cx="11057839" cy="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344607" y="24688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500" kern="0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344607" y="457200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0" spc="34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GROUP</a:t>
            </a:r>
            <a:endParaRPr lang="en-US" sz="550" dirty="0"/>
          </a:p>
        </p:txBody>
      </p:sp>
      <p:sp>
        <p:nvSpPr>
          <p:cNvPr id="6" name="Text 4"/>
          <p:cNvSpPr/>
          <p:nvPr/>
        </p:nvSpPr>
        <p:spPr>
          <a:xfrm>
            <a:off x="566928" y="647395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00" kern="0" dirty="0">
                <a:solidFill>
                  <a:srgbClr val="9AA0A2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 GROUP — THE SYSTEMS BEHIND THE WEBSITE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10710367" y="64739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AA0A2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10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protections already in place.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566928" y="1517904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Plain-English versions of the security measures the site ships with: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212848"/>
            <a:ext cx="3478682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CED1D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2377440"/>
            <a:ext cx="303977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8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Getting in
</a:t>
            </a:r>
            <a:pPr indent="0" marL="0">
              <a:lnSpc>
                <a:spcPts val="138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Passwords stored one-way scrambled (never readable). Five wrong tries pauses a connection for 15 minutes. Sessions expire after 24 hours.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56506" y="2212848"/>
            <a:ext cx="3478682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CED1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5962" y="2377440"/>
            <a:ext cx="303977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8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private areas
</a:t>
            </a:r>
            <a:pPr indent="0" marL="0">
              <a:lnSpc>
                <a:spcPts val="138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/admin and the portal are hidden from search engines and linked from nowhere public. Investor data is assembled per account — one investor's browser never receives another's figures.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146085" y="2212848"/>
            <a:ext cx="3478682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CED1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65541" y="2377440"/>
            <a:ext cx="303977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8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transport
</a:t>
            </a:r>
            <a:pPr indent="0" marL="0">
              <a:lnSpc>
                <a:spcPts val="138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Everything is served over HTTPS with strict browser protections (no framing by other sites, no content-type games). The site sends security headers on every response.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97776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6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OUTSIDE FEEDS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566928" y="694944"/>
            <a:ext cx="11057839" cy="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344607" y="24688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500" kern="0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344607" y="457200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0" spc="34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GROUP</a:t>
            </a:r>
            <a:endParaRPr lang="en-US" sz="550" dirty="0"/>
          </a:p>
        </p:txBody>
      </p:sp>
      <p:sp>
        <p:nvSpPr>
          <p:cNvPr id="6" name="Text 4"/>
          <p:cNvSpPr/>
          <p:nvPr/>
        </p:nvSpPr>
        <p:spPr>
          <a:xfrm>
            <a:off x="566928" y="647395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00" kern="0" dirty="0">
                <a:solidFill>
                  <a:srgbClr val="9AA0A2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 GROUP — THE SYSTEMS BEHIND THE WEBSITE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10710367" y="64739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AA0A2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11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Where the site talks to the outside world.</a:t>
            </a:r>
            <a:endParaRPr lang="en-US" sz="2500" dirty="0"/>
          </a:p>
        </p:txBody>
      </p:sp>
      <p:sp>
        <p:nvSpPr>
          <p:cNvPr id="9" name="Shape 7"/>
          <p:cNvSpPr/>
          <p:nvPr/>
        </p:nvSpPr>
        <p:spPr>
          <a:xfrm>
            <a:off x="566928" y="1664208"/>
            <a:ext cx="3478682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ED1D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86384" y="1828800"/>
            <a:ext cx="303977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8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HM Land Registry — market data in
</a:t>
            </a:r>
            <a:pPr indent="0" marL="0">
              <a:lnSpc>
                <a:spcPts val="138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portal's Market intelligence section pulls the UK House Price Index for the local area, refreshed roughly twice a day.
</a:t>
            </a:r>
            <a:pPr indent="0" marL="0">
              <a:lnSpc>
                <a:spcPts val="138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If the feed is slow or down, the site quietly falls back to a stored snapshot — data either way, never an error.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56506" y="1664208"/>
            <a:ext cx="3478682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ED1D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5962" y="1828800"/>
            <a:ext cx="303977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8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GitHub releases — version lookup
</a:t>
            </a:r>
            <a:pPr indent="0" marL="0">
              <a:lnSpc>
                <a:spcPts val="138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appraisal download page asks GitHub which app version is newest, so the page names it without anyone editing.
</a:t>
            </a:r>
            <a:pPr indent="0" marL="0">
              <a:lnSpc>
                <a:spcPts val="138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If the lookup fails, the download buttons still work — only the version line hides.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46085" y="1664208"/>
            <a:ext cx="3478682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ED1D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65541" y="1828800"/>
            <a:ext cx="303977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8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Resend — enquiry email out
</a:t>
            </a:r>
            <a:pPr indent="0" marL="0">
              <a:lnSpc>
                <a:spcPts val="138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Form submissions are handed to Resend for delivery to the enquiries inbox.
</a:t>
            </a:r>
            <a:pPr indent="0" marL="0">
              <a:lnSpc>
                <a:spcPts val="138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If sending fails, the visitor is shown the team's address to write directly — an enquiry is never dropped silently.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97776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6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TROUBLESHOOTING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566928" y="694944"/>
            <a:ext cx="11057839" cy="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344607" y="24688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500" kern="0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344607" y="457200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0" spc="34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GROUP</a:t>
            </a:r>
            <a:endParaRPr lang="en-US" sz="550" dirty="0"/>
          </a:p>
        </p:txBody>
      </p:sp>
      <p:sp>
        <p:nvSpPr>
          <p:cNvPr id="6" name="Text 4"/>
          <p:cNvSpPr/>
          <p:nvPr/>
        </p:nvSpPr>
        <p:spPr>
          <a:xfrm>
            <a:off x="566928" y="647395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00" kern="0" dirty="0">
                <a:solidFill>
                  <a:srgbClr val="9AA0A2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 GROUP — THE SYSTEMS BEHIND THE WEBSITE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10710367" y="64739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AA0A2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12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When something misbehaves: symptom → first move.</a:t>
            </a:r>
            <a:endParaRPr lang="en-US" sz="2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18488"/>
          <a:ext cx="11057839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749040"/>
                <a:gridCol w="3657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spc="180" kern="0" dirty="0">
                          <a:solidFill>
                            <a:srgbClr val="5C6366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SYMPTOM</a:t>
                      </a:r>
                      <a:endParaRPr lang="en-US" sz="85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36576" marR="36576" marT="54864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spc="180" kern="0" dirty="0">
                          <a:solidFill>
                            <a:srgbClr val="5C6366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WHAT IT USUALLY IS</a:t>
                      </a:r>
                      <a:endParaRPr lang="en-US" sz="85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36576" marR="36576" marT="54864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spc="180" kern="0" dirty="0">
                          <a:solidFill>
                            <a:srgbClr val="5C6366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FIRST MOVE</a:t>
                      </a:r>
                      <a:endParaRPr lang="en-US" sz="85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36576" marR="36576" marT="54864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A change isn't showing on the live site</a:t>
                      </a:r>
                      <a:endParaRPr lang="en-US" sz="10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36576" marR="36576" marT="82296" marB="82296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ED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366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The rebuild hasn't finished — or the commit never pushed</a:t>
                      </a:r>
                      <a:endParaRPr lang="en-US" sz="10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36576" marR="36576" marT="82296" marB="82296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ED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366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Wait two minutes and refresh; then ask Claude to check commit and deployment</a:t>
                      </a:r>
                      <a:endParaRPr lang="en-US" sz="10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36576" marR="36576" marT="82296" marB="82296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ED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Studio warns “changes will not save”</a:t>
                      </a:r>
                      <a:endParaRPr lang="en-US" sz="10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36576" marR="36576" marT="82296" marB="82296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ED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366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The repository token is missing or expired</a:t>
                      </a:r>
                      <a:endParaRPr lang="en-US" sz="10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36576" marR="36576" marT="82296" marB="82296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ED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366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Renew SATIS_GITHUB_TOKEN (this session), redeploy</a:t>
                      </a:r>
                      <a:endParaRPr lang="en-US" sz="10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36576" marR="36576" marT="82296" marB="82296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ED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“Could not write the newsletter file”</a:t>
                      </a:r>
                      <a:endParaRPr lang="en-US" sz="10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36576" marR="36576" marT="82296" marB="82296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ED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366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Normal on live hosting — stories go through the repository</a:t>
                      </a:r>
                      <a:endParaRPr lang="en-US" sz="10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36576" marR="36576" marT="82296" marB="82296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ED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366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Publish via a Claude session (webinar 02)</a:t>
                      </a:r>
                      <a:endParaRPr lang="en-US" sz="10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36576" marR="36576" marT="82296" marB="82296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ED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Admin or investor can't sign in</a:t>
                      </a:r>
                      <a:endParaRPr lang="en-US" sz="10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36576" marR="36576" marT="82296" marB="82296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ED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366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Wrong door, throttle, or expired session</a:t>
                      </a:r>
                      <a:endParaRPr lang="en-US" sz="10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36576" marR="36576" marT="82296" marB="82296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ED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366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Webinars 03 / 04 playbooks — which door first</a:t>
                      </a:r>
                      <a:endParaRPr lang="en-US" sz="10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36576" marR="36576" marT="82296" marB="82296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ED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A form says “We could not send that just now”</a:t>
                      </a:r>
                      <a:endParaRPr lang="en-US" sz="10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36576" marR="36576" marT="82296" marB="82296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ED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366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The email key (SATIS_RESEND_API_KEY) is missing or invalid</a:t>
                      </a:r>
                      <a:endParaRPr lang="en-US" sz="10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36576" marR="36576" marT="82296" marB="82296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ED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366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Check the key in Vercel, redeploy — the visitor was shown the direct address meanwhile</a:t>
                      </a:r>
                      <a:endParaRPr lang="en-US" sz="10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36576" marR="36576" marT="82296" marB="82296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ED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Whole site unreachable</a:t>
                      </a:r>
                      <a:endParaRPr lang="en-US" sz="10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36576" marR="36576" marT="82296" marB="82296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ED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366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Hosting or DNS — not content</a:t>
                      </a:r>
                      <a:endParaRPr lang="en-US" sz="10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36576" marR="36576" marT="82296" marB="82296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ED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366"/>
                          </a:solidFill>
                          <a:latin typeface="Work Sans" pitchFamily="34" charset="0"/>
                          <a:ea typeface="Work Sans" pitchFamily="34" charset="-122"/>
                          <a:cs typeface="Work Sans" pitchFamily="34" charset="-120"/>
                        </a:rPr>
                        <a:t>Check Vercel status; then the domain's DNS at 123 Reg; call the development team</a:t>
                      </a:r>
                      <a:endParaRPr lang="en-US" sz="1000" dirty="0">
                        <a:latin typeface="Work Sans" charset="0"/>
                        <a:ea typeface="Work Sans" charset="0"/>
                        <a:cs typeface="Work Sans" charset="0"/>
                      </a:endParaRPr>
                    </a:p>
                  </a:txBody>
                  <a:tcPr marL="36576" marR="36576" marT="82296" marB="82296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ED1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97776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6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HONEST STATE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566928" y="694944"/>
            <a:ext cx="11057839" cy="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344607" y="24688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500" kern="0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344607" y="457200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0" spc="34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GROUP</a:t>
            </a:r>
            <a:endParaRPr lang="en-US" sz="550" dirty="0"/>
          </a:p>
        </p:txBody>
      </p:sp>
      <p:sp>
        <p:nvSpPr>
          <p:cNvPr id="6" name="Text 4"/>
          <p:cNvSpPr/>
          <p:nvPr/>
        </p:nvSpPr>
        <p:spPr>
          <a:xfrm>
            <a:off x="566928" y="647395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00" kern="0" dirty="0">
                <a:solidFill>
                  <a:srgbClr val="9AA0A2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 GROUP — THE SYSTEMS BEHIND THE WEBSITE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10710367" y="64739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AA0A2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13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What the machine deliberately doesn't have (yet).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566928" y="1517904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Worth knowing so nothing on this map is assumed: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212848"/>
            <a:ext cx="3478682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ED1D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2377440"/>
            <a:ext cx="303977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8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No separate database
</a:t>
            </a:r>
            <a:pPr indent="0" marL="0">
              <a:lnSpc>
                <a:spcPts val="138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By design — the repository is the system of record. Everything in webinars 02 and 04 relies on exactly this.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56506" y="2212848"/>
            <a:ext cx="3478682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ED1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5962" y="2377440"/>
            <a:ext cx="303977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8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No newsletter mailing yet
</a:t>
            </a:r>
            <a:pPr indent="0" marL="0">
              <a:lnSpc>
                <a:spcPts val="138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Publishing a story emails nobody automatically, and the subscriber list is mid-rollout. The sending rail (Resend) is in place — connecting the two is a small job once the list lands.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146085" y="2212848"/>
            <a:ext cx="3478682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ED1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65541" y="2377440"/>
            <a:ext cx="303977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8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No visitor analytics yet
</a:t>
            </a:r>
            <a:pPr indent="0" marL="0">
              <a:lnSpc>
                <a:spcPts val="138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No tracking scripts run on the site today. If usage numbers become a need, adding a privacy-friendly analytics tool is a small, one-session job.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97776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60" kern="0" dirty="0">
                <a:solidFill>
                  <a:srgbClr val="B9BDB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RECAP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566928" y="694944"/>
            <a:ext cx="11057839" cy="0"/>
          </a:xfrm>
          <a:prstGeom prst="line">
            <a:avLst/>
          </a:prstGeom>
          <a:noFill/>
          <a:ln w="9525">
            <a:solidFill>
              <a:srgbClr val="3A3A3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344607" y="24688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500" kern="0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344607" y="457200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0" spc="340" kern="0" dirty="0">
                <a:solidFill>
                  <a:srgbClr val="B9BDB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GROUP</a:t>
            </a:r>
            <a:endParaRPr lang="en-US" sz="550" dirty="0"/>
          </a:p>
        </p:txBody>
      </p:sp>
      <p:sp>
        <p:nvSpPr>
          <p:cNvPr id="6" name="Text 4"/>
          <p:cNvSpPr/>
          <p:nvPr/>
        </p:nvSpPr>
        <p:spPr>
          <a:xfrm>
            <a:off x="566928" y="647395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00" kern="0" dirty="0">
                <a:solidFill>
                  <a:srgbClr val="B9BDB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 GROUP — THE SYSTEMS BEHIND THE WEBSITE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10710367" y="64739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B9BDB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14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66928" y="969264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What to remember.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12648" y="1783080"/>
            <a:ext cx="66751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One direction of travel: you → GitHub (master copy) → Vercel (rebuild) → the live site.</a:t>
            </a:r>
            <a:endParaRPr lang="en-US" sz="1250" dirty="0"/>
          </a:p>
          <a:p>
            <a:pPr marL="177800" indent="-1778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GitHub is also the database and the audit trail — there is no separate database.</a:t>
            </a:r>
            <a:endParaRPr lang="en-US" sz="1250" dirty="0"/>
          </a:p>
          <a:p>
            <a:pPr marL="177800" indent="-1778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Vercel holds the settings; every settings change needs a redeploy.</a:t>
            </a:r>
            <a:endParaRPr lang="en-US" sz="1250" dirty="0"/>
          </a:p>
          <a:p>
            <a:pPr marL="177800" indent="-1778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123 Reg owns the name and the mailboxes; website and email are independent.</a:t>
            </a:r>
            <a:endParaRPr lang="en-US" sz="1250" dirty="0"/>
          </a:p>
          <a:p>
            <a:pPr marL="177800" indent="-1778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One periodic job: renew SATIS_GITHUB_TOKEN when the studio starts warning.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818120" y="1828800"/>
            <a:ext cx="0" cy="3291840"/>
          </a:xfrm>
          <a:prstGeom prst="line">
            <a:avLst/>
          </a:prstGeom>
          <a:noFill/>
          <a:ln w="9525">
            <a:solidFill>
              <a:srgbClr val="3A3A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83880" y="182880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40" kern="0" dirty="0">
                <a:solidFill>
                  <a:srgbClr val="B9BDB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WHERE TO GET HELP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8183880" y="2194560"/>
            <a:ext cx="3429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spcAft>
                <a:spcPts val="1000"/>
              </a:spcAft>
              <a:buNone/>
            </a:pPr>
            <a:r>
              <a:rPr lang="en-US" sz="1050" dirty="0">
                <a:solidFill>
                  <a:srgbClr val="B9BDB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Written chapters: /admin/guide → “Making changes stick on live hosting” and the glossary.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1000"/>
              </a:spcAft>
              <a:buNone/>
            </a:pPr>
            <a:r>
              <a:rPr lang="en-US" sz="1050" dirty="0">
                <a:solidFill>
                  <a:srgbClr val="B9BDB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Deployment questions: ask Claude — it can check commits and deploys.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1000"/>
              </a:spcAft>
              <a:buNone/>
            </a:pPr>
            <a:r>
              <a:rPr lang="en-US" sz="1050" dirty="0">
                <a:solidFill>
                  <a:srgbClr val="B9BDB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Vercel or 123 Reg access: the development team holds the keys.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0" y="580644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spc="1500" kern="0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0" y="6236208"/>
            <a:ext cx="12191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600" kern="0" dirty="0">
                <a:solidFill>
                  <a:srgbClr val="B9BDB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GROUP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Satis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systems behind the website.</dc:title>
  <dc:subject>PptxGenJS Presentation</dc:subject>
  <dc:creator>Satis Group</dc:creator>
  <cp:lastModifiedBy>Satis Group</cp:lastModifiedBy>
  <cp:revision>1</cp:revision>
  <dcterms:created xsi:type="dcterms:W3CDTF">2026-08-19T17:56:13Z</dcterms:created>
  <dcterms:modified xsi:type="dcterms:W3CDTF">2026-08-19T17:56:13Z</dcterms:modified>
</cp:coreProperties>
</file>